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9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9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26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E8AAF-94BD-444C-8583-0840028503DA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AC728-D21E-4C38-B7BB-B0AA978065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6489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4AC728-D21E-4C38-B7BB-B0AA9780650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4411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7" name="Conector recto de flecha 1146">
            <a:extLst>
              <a:ext uri="{FF2B5EF4-FFF2-40B4-BE49-F238E27FC236}">
                <a16:creationId xmlns:a16="http://schemas.microsoft.com/office/drawing/2014/main" id="{C19FD53B-0741-C7BB-4601-6E0E4E66B709}"/>
              </a:ext>
            </a:extLst>
          </p:cNvPr>
          <p:cNvCxnSpPr>
            <a:cxnSpLocks/>
            <a:stCxn id="66" idx="2"/>
          </p:cNvCxnSpPr>
          <p:nvPr/>
        </p:nvCxnSpPr>
        <p:spPr>
          <a:xfrm>
            <a:off x="4197027" y="5528007"/>
            <a:ext cx="0" cy="89729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5" name="Conector recto 1124">
            <a:extLst>
              <a:ext uri="{FF2B5EF4-FFF2-40B4-BE49-F238E27FC236}">
                <a16:creationId xmlns:a16="http://schemas.microsoft.com/office/drawing/2014/main" id="{4502DD95-2F92-E7D0-B2C7-5F6D302A2B50}"/>
              </a:ext>
            </a:extLst>
          </p:cNvPr>
          <p:cNvCxnSpPr>
            <a:cxnSpLocks/>
          </p:cNvCxnSpPr>
          <p:nvPr/>
        </p:nvCxnSpPr>
        <p:spPr>
          <a:xfrm>
            <a:off x="1701240" y="6205894"/>
            <a:ext cx="0" cy="2329968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2" name="Conector recto 1031">
            <a:extLst>
              <a:ext uri="{FF2B5EF4-FFF2-40B4-BE49-F238E27FC236}">
                <a16:creationId xmlns:a16="http://schemas.microsoft.com/office/drawing/2014/main" id="{87EC39A4-1F7D-AE4A-7B2C-0FD4A2E9530F}"/>
              </a:ext>
            </a:extLst>
          </p:cNvPr>
          <p:cNvCxnSpPr>
            <a:cxnSpLocks/>
          </p:cNvCxnSpPr>
          <p:nvPr/>
        </p:nvCxnSpPr>
        <p:spPr>
          <a:xfrm>
            <a:off x="1797442" y="312465"/>
            <a:ext cx="0" cy="2056197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Conector recto 154">
            <a:extLst>
              <a:ext uri="{FF2B5EF4-FFF2-40B4-BE49-F238E27FC236}">
                <a16:creationId xmlns:a16="http://schemas.microsoft.com/office/drawing/2014/main" id="{30BD6ED6-4026-0EC7-84A2-8A66455CB7C4}"/>
              </a:ext>
            </a:extLst>
          </p:cNvPr>
          <p:cNvCxnSpPr>
            <a:stCxn id="4" idx="0"/>
            <a:endCxn id="4" idx="4"/>
          </p:cNvCxnSpPr>
          <p:nvPr/>
        </p:nvCxnSpPr>
        <p:spPr>
          <a:xfrm>
            <a:off x="3802871" y="2372243"/>
            <a:ext cx="0" cy="4097661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Imagen 2" descr="Forma&#10;&#10;El contenido generado por IA puede ser incorrecto.">
            <a:extLst>
              <a:ext uri="{FF2B5EF4-FFF2-40B4-BE49-F238E27FC236}">
                <a16:creationId xmlns:a16="http://schemas.microsoft.com/office/drawing/2014/main" id="{7CA329BE-8071-29CB-7944-B058E7F600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877" t="27824" r="17215" b="27345"/>
          <a:stretch>
            <a:fillRect/>
          </a:stretch>
        </p:blipFill>
        <p:spPr>
          <a:xfrm>
            <a:off x="2238271" y="3126262"/>
            <a:ext cx="3222171" cy="2225484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DFFFB3E5-3546-2415-CD48-E625A8B95042}"/>
              </a:ext>
            </a:extLst>
          </p:cNvPr>
          <p:cNvSpPr/>
          <p:nvPr/>
        </p:nvSpPr>
        <p:spPr>
          <a:xfrm>
            <a:off x="930112" y="2372243"/>
            <a:ext cx="5745517" cy="40976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79C76EE-793E-E73B-0822-EB0CC13C228F}"/>
              </a:ext>
            </a:extLst>
          </p:cNvPr>
          <p:cNvSpPr txBox="1"/>
          <p:nvPr/>
        </p:nvSpPr>
        <p:spPr>
          <a:xfrm>
            <a:off x="2350391" y="4337508"/>
            <a:ext cx="960519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 6-P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9A96D4B-BF7B-BEE0-082A-937EAFDF9C00}"/>
              </a:ext>
            </a:extLst>
          </p:cNvPr>
          <p:cNvSpPr txBox="1"/>
          <p:nvPr/>
        </p:nvSpPr>
        <p:spPr>
          <a:xfrm>
            <a:off x="1954487" y="5315494"/>
            <a:ext cx="702436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E92016F-F163-CF42-971B-66F7C6D19043}"/>
              </a:ext>
            </a:extLst>
          </p:cNvPr>
          <p:cNvCxnSpPr>
            <a:cxnSpLocks/>
            <a:stCxn id="93" idx="2"/>
            <a:endCxn id="94" idx="0"/>
          </p:cNvCxnSpPr>
          <p:nvPr/>
        </p:nvCxnSpPr>
        <p:spPr>
          <a:xfrm flipH="1">
            <a:off x="3369098" y="3897429"/>
            <a:ext cx="1" cy="1637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597DC3D9-A424-7B31-8B62-A41CFA408649}"/>
              </a:ext>
            </a:extLst>
          </p:cNvPr>
          <p:cNvSpPr txBox="1"/>
          <p:nvPr/>
        </p:nvSpPr>
        <p:spPr>
          <a:xfrm>
            <a:off x="1988701" y="4573890"/>
            <a:ext cx="79111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s-ES" sz="9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Glucosa-6-fosfatasa</a:t>
            </a:r>
          </a:p>
        </p:txBody>
      </p:sp>
      <p:cxnSp>
        <p:nvCxnSpPr>
          <p:cNvPr id="12" name="Conector: curvado 11">
            <a:extLst>
              <a:ext uri="{FF2B5EF4-FFF2-40B4-BE49-F238E27FC236}">
                <a16:creationId xmlns:a16="http://schemas.microsoft.com/office/drawing/2014/main" id="{EBEDB791-88EF-7F4A-7C5B-B21BEE889CCD}"/>
              </a:ext>
            </a:extLst>
          </p:cNvPr>
          <p:cNvCxnSpPr>
            <a:cxnSpLocks/>
            <a:stCxn id="6" idx="2"/>
          </p:cNvCxnSpPr>
          <p:nvPr/>
        </p:nvCxnSpPr>
        <p:spPr>
          <a:xfrm rot="5400000">
            <a:off x="2012752" y="5858055"/>
            <a:ext cx="573905" cy="1200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7" name="Group 2122">
            <a:extLst>
              <a:ext uri="{FF2B5EF4-FFF2-40B4-BE49-F238E27FC236}">
                <a16:creationId xmlns:a16="http://schemas.microsoft.com/office/drawing/2014/main" id="{3B511007-2118-192F-507A-0F0710B81123}"/>
              </a:ext>
            </a:extLst>
          </p:cNvPr>
          <p:cNvGrpSpPr>
            <a:grpSpLocks/>
          </p:cNvGrpSpPr>
          <p:nvPr/>
        </p:nvGrpSpPr>
        <p:grpSpPr bwMode="auto">
          <a:xfrm>
            <a:off x="4197755" y="3186112"/>
            <a:ext cx="217354" cy="177269"/>
            <a:chOff x="1931" y="2992"/>
            <a:chExt cx="614" cy="738"/>
          </a:xfrm>
        </p:grpSpPr>
        <p:sp>
          <p:nvSpPr>
            <p:cNvPr id="38" name="Freeform 2123">
              <a:extLst>
                <a:ext uri="{FF2B5EF4-FFF2-40B4-BE49-F238E27FC236}">
                  <a16:creationId xmlns:a16="http://schemas.microsoft.com/office/drawing/2014/main" id="{B2815C94-D369-6216-09D2-A0F4DD73E4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2124">
              <a:extLst>
                <a:ext uri="{FF2B5EF4-FFF2-40B4-BE49-F238E27FC236}">
                  <a16:creationId xmlns:a16="http://schemas.microsoft.com/office/drawing/2014/main" id="{6FBE1906-8448-C4D0-5325-2CF4EC406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2125">
              <a:extLst>
                <a:ext uri="{FF2B5EF4-FFF2-40B4-BE49-F238E27FC236}">
                  <a16:creationId xmlns:a16="http://schemas.microsoft.com/office/drawing/2014/main" id="{39F04500-6C8D-BA2A-E90C-314F608C2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2126">
              <a:extLst>
                <a:ext uri="{FF2B5EF4-FFF2-40B4-BE49-F238E27FC236}">
                  <a16:creationId xmlns:a16="http://schemas.microsoft.com/office/drawing/2014/main" id="{F6879BD7-609A-C4CE-F564-56FE15290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2127">
              <a:extLst>
                <a:ext uri="{FF2B5EF4-FFF2-40B4-BE49-F238E27FC236}">
                  <a16:creationId xmlns:a16="http://schemas.microsoft.com/office/drawing/2014/main" id="{C65B5DC0-D138-8DB9-3AA5-3E5620099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2128">
              <a:extLst>
                <a:ext uri="{FF2B5EF4-FFF2-40B4-BE49-F238E27FC236}">
                  <a16:creationId xmlns:a16="http://schemas.microsoft.com/office/drawing/2014/main" id="{A5D4D7B0-D75B-B6AA-DC56-3B81ABD61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25"/>
              <a:ext cx="213" cy="699"/>
            </a:xfrm>
            <a:custGeom>
              <a:avLst/>
              <a:gdLst>
                <a:gd name="T0" fmla="*/ 784 w 109"/>
                <a:gd name="T1" fmla="*/ 3000 h 336"/>
                <a:gd name="T2" fmla="*/ 717 w 109"/>
                <a:gd name="T3" fmla="*/ 2467 h 336"/>
                <a:gd name="T4" fmla="*/ 389 w 109"/>
                <a:gd name="T5" fmla="*/ 917 h 336"/>
                <a:gd name="T6" fmla="*/ 381 w 109"/>
                <a:gd name="T7" fmla="*/ 17 h 336"/>
                <a:gd name="T8" fmla="*/ 217 w 109"/>
                <a:gd name="T9" fmla="*/ 73 h 336"/>
                <a:gd name="T10" fmla="*/ 260 w 109"/>
                <a:gd name="T11" fmla="*/ 926 h 336"/>
                <a:gd name="T12" fmla="*/ 657 w 109"/>
                <a:gd name="T13" fmla="*/ 2501 h 336"/>
                <a:gd name="T14" fmla="*/ 784 w 109"/>
                <a:gd name="T15" fmla="*/ 3000 h 336"/>
                <a:gd name="T16" fmla="*/ 784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105" y="333"/>
                  </a:moveTo>
                  <a:cubicBezTo>
                    <a:pt x="94" y="326"/>
                    <a:pt x="99" y="306"/>
                    <a:pt x="96" y="274"/>
                  </a:cubicBezTo>
                  <a:cubicBezTo>
                    <a:pt x="91" y="222"/>
                    <a:pt x="77" y="140"/>
                    <a:pt x="52" y="102"/>
                  </a:cubicBezTo>
                  <a:cubicBezTo>
                    <a:pt x="27" y="64"/>
                    <a:pt x="13" y="10"/>
                    <a:pt x="51" y="2"/>
                  </a:cubicBezTo>
                  <a:cubicBezTo>
                    <a:pt x="46" y="0"/>
                    <a:pt x="35" y="3"/>
                    <a:pt x="29" y="8"/>
                  </a:cubicBezTo>
                  <a:cubicBezTo>
                    <a:pt x="0" y="29"/>
                    <a:pt x="10" y="65"/>
                    <a:pt x="35" y="103"/>
                  </a:cubicBezTo>
                  <a:cubicBezTo>
                    <a:pt x="60" y="141"/>
                    <a:pt x="83" y="226"/>
                    <a:pt x="88" y="278"/>
                  </a:cubicBezTo>
                  <a:cubicBezTo>
                    <a:pt x="92" y="318"/>
                    <a:pt x="93" y="330"/>
                    <a:pt x="105" y="333"/>
                  </a:cubicBezTo>
                  <a:cubicBezTo>
                    <a:pt x="108" y="334"/>
                    <a:pt x="109" y="336"/>
                    <a:pt x="105" y="333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2129">
              <a:extLst>
                <a:ext uri="{FF2B5EF4-FFF2-40B4-BE49-F238E27FC236}">
                  <a16:creationId xmlns:a16="http://schemas.microsoft.com/office/drawing/2014/main" id="{8A854D20-3E24-D375-0330-AADF9D1F2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3031"/>
              <a:ext cx="168" cy="686"/>
            </a:xfrm>
            <a:custGeom>
              <a:avLst/>
              <a:gdLst>
                <a:gd name="T0" fmla="*/ 580 w 86"/>
                <a:gd name="T1" fmla="*/ 1715 h 330"/>
                <a:gd name="T2" fmla="*/ 416 w 86"/>
                <a:gd name="T3" fmla="*/ 1418 h 330"/>
                <a:gd name="T4" fmla="*/ 492 w 86"/>
                <a:gd name="T5" fmla="*/ 1206 h 330"/>
                <a:gd name="T6" fmla="*/ 531 w 86"/>
                <a:gd name="T7" fmla="*/ 1089 h 330"/>
                <a:gd name="T8" fmla="*/ 289 w 86"/>
                <a:gd name="T9" fmla="*/ 333 h 330"/>
                <a:gd name="T10" fmla="*/ 0 w 86"/>
                <a:gd name="T11" fmla="*/ 0 h 330"/>
                <a:gd name="T12" fmla="*/ 203 w 86"/>
                <a:gd name="T13" fmla="*/ 268 h 330"/>
                <a:gd name="T14" fmla="*/ 381 w 86"/>
                <a:gd name="T15" fmla="*/ 890 h 330"/>
                <a:gd name="T16" fmla="*/ 408 w 86"/>
                <a:gd name="T17" fmla="*/ 1193 h 330"/>
                <a:gd name="T18" fmla="*/ 352 w 86"/>
                <a:gd name="T19" fmla="*/ 1418 h 330"/>
                <a:gd name="T20" fmla="*/ 477 w 86"/>
                <a:gd name="T21" fmla="*/ 1771 h 330"/>
                <a:gd name="T22" fmla="*/ 565 w 86"/>
                <a:gd name="T23" fmla="*/ 2039 h 330"/>
                <a:gd name="T24" fmla="*/ 596 w 86"/>
                <a:gd name="T25" fmla="*/ 2532 h 330"/>
                <a:gd name="T26" fmla="*/ 477 w 86"/>
                <a:gd name="T27" fmla="*/ 2964 h 330"/>
                <a:gd name="T28" fmla="*/ 641 w 86"/>
                <a:gd name="T29" fmla="*/ 2540 h 330"/>
                <a:gd name="T30" fmla="*/ 633 w 86"/>
                <a:gd name="T31" fmla="*/ 1806 h 330"/>
                <a:gd name="T32" fmla="*/ 580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78" y="191"/>
                  </a:moveTo>
                  <a:cubicBezTo>
                    <a:pt x="65" y="187"/>
                    <a:pt x="56" y="172"/>
                    <a:pt x="56" y="158"/>
                  </a:cubicBezTo>
                  <a:cubicBezTo>
                    <a:pt x="56" y="148"/>
                    <a:pt x="60" y="140"/>
                    <a:pt x="66" y="134"/>
                  </a:cubicBezTo>
                  <a:cubicBezTo>
                    <a:pt x="70" y="130"/>
                    <a:pt x="72" y="127"/>
                    <a:pt x="71" y="121"/>
                  </a:cubicBezTo>
                  <a:cubicBezTo>
                    <a:pt x="58" y="81"/>
                    <a:pt x="49" y="56"/>
                    <a:pt x="39" y="37"/>
                  </a:cubicBezTo>
                  <a:cubicBezTo>
                    <a:pt x="29" y="19"/>
                    <a:pt x="15" y="6"/>
                    <a:pt x="0" y="0"/>
                  </a:cubicBezTo>
                  <a:cubicBezTo>
                    <a:pt x="9" y="6"/>
                    <a:pt x="17" y="11"/>
                    <a:pt x="27" y="30"/>
                  </a:cubicBezTo>
                  <a:cubicBezTo>
                    <a:pt x="36" y="47"/>
                    <a:pt x="40" y="63"/>
                    <a:pt x="51" y="99"/>
                  </a:cubicBezTo>
                  <a:cubicBezTo>
                    <a:pt x="55" y="110"/>
                    <a:pt x="61" y="122"/>
                    <a:pt x="55" y="133"/>
                  </a:cubicBezTo>
                  <a:cubicBezTo>
                    <a:pt x="51" y="139"/>
                    <a:pt x="47" y="145"/>
                    <a:pt x="47" y="158"/>
                  </a:cubicBezTo>
                  <a:cubicBezTo>
                    <a:pt x="47" y="180"/>
                    <a:pt x="55" y="191"/>
                    <a:pt x="64" y="197"/>
                  </a:cubicBezTo>
                  <a:cubicBezTo>
                    <a:pt x="73" y="203"/>
                    <a:pt x="75" y="216"/>
                    <a:pt x="76" y="227"/>
                  </a:cubicBezTo>
                  <a:cubicBezTo>
                    <a:pt x="76" y="256"/>
                    <a:pt x="80" y="282"/>
                    <a:pt x="80" y="282"/>
                  </a:cubicBezTo>
                  <a:cubicBezTo>
                    <a:pt x="80" y="302"/>
                    <a:pt x="78" y="320"/>
                    <a:pt x="64" y="330"/>
                  </a:cubicBezTo>
                  <a:cubicBezTo>
                    <a:pt x="79" y="323"/>
                    <a:pt x="86" y="306"/>
                    <a:pt x="86" y="283"/>
                  </a:cubicBezTo>
                  <a:cubicBezTo>
                    <a:pt x="86" y="283"/>
                    <a:pt x="85" y="207"/>
                    <a:pt x="85" y="201"/>
                  </a:cubicBezTo>
                  <a:cubicBezTo>
                    <a:pt x="85" y="195"/>
                    <a:pt x="83" y="193"/>
                    <a:pt x="78" y="191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2130">
              <a:extLst>
                <a:ext uri="{FF2B5EF4-FFF2-40B4-BE49-F238E27FC236}">
                  <a16:creationId xmlns:a16="http://schemas.microsoft.com/office/drawing/2014/main" id="{9BA2E120-8A11-2FFB-8D11-52CA0CDD9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42"/>
              <a:ext cx="137" cy="378"/>
            </a:xfrm>
            <a:custGeom>
              <a:avLst/>
              <a:gdLst>
                <a:gd name="T0" fmla="*/ 525 w 70"/>
                <a:gd name="T1" fmla="*/ 1630 h 182"/>
                <a:gd name="T2" fmla="*/ 264 w 70"/>
                <a:gd name="T3" fmla="*/ 849 h 182"/>
                <a:gd name="T4" fmla="*/ 219 w 70"/>
                <a:gd name="T5" fmla="*/ 0 h 182"/>
                <a:gd name="T6" fmla="*/ 196 w 70"/>
                <a:gd name="T7" fmla="*/ 609 h 182"/>
                <a:gd name="T8" fmla="*/ 525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70" y="182"/>
                  </a:moveTo>
                  <a:cubicBezTo>
                    <a:pt x="61" y="148"/>
                    <a:pt x="48" y="115"/>
                    <a:pt x="35" y="95"/>
                  </a:cubicBezTo>
                  <a:cubicBezTo>
                    <a:pt x="10" y="57"/>
                    <a:pt x="0" y="21"/>
                    <a:pt x="29" y="0"/>
                  </a:cubicBezTo>
                  <a:cubicBezTo>
                    <a:pt x="19" y="8"/>
                    <a:pt x="12" y="40"/>
                    <a:pt x="26" y="68"/>
                  </a:cubicBezTo>
                  <a:cubicBezTo>
                    <a:pt x="39" y="96"/>
                    <a:pt x="56" y="125"/>
                    <a:pt x="70" y="1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131">
              <a:extLst>
                <a:ext uri="{FF2B5EF4-FFF2-40B4-BE49-F238E27FC236}">
                  <a16:creationId xmlns:a16="http://schemas.microsoft.com/office/drawing/2014/main" id="{EF3A62F7-843B-756C-036E-42E1B0B8B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5" y="3025"/>
              <a:ext cx="213" cy="699"/>
            </a:xfrm>
            <a:custGeom>
              <a:avLst/>
              <a:gdLst>
                <a:gd name="T0" fmla="*/ 31 w 109"/>
                <a:gd name="T1" fmla="*/ 3000 h 336"/>
                <a:gd name="T2" fmla="*/ 96 w 109"/>
                <a:gd name="T3" fmla="*/ 2467 h 336"/>
                <a:gd name="T4" fmla="*/ 424 w 109"/>
                <a:gd name="T5" fmla="*/ 917 h 336"/>
                <a:gd name="T6" fmla="*/ 432 w 109"/>
                <a:gd name="T7" fmla="*/ 17 h 336"/>
                <a:gd name="T8" fmla="*/ 596 w 109"/>
                <a:gd name="T9" fmla="*/ 73 h 336"/>
                <a:gd name="T10" fmla="*/ 553 w 109"/>
                <a:gd name="T11" fmla="*/ 926 h 336"/>
                <a:gd name="T12" fmla="*/ 156 w 109"/>
                <a:gd name="T13" fmla="*/ 2501 h 336"/>
                <a:gd name="T14" fmla="*/ 31 w 109"/>
                <a:gd name="T15" fmla="*/ 3000 h 336"/>
                <a:gd name="T16" fmla="*/ 31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4" y="333"/>
                  </a:moveTo>
                  <a:cubicBezTo>
                    <a:pt x="15" y="326"/>
                    <a:pt x="10" y="306"/>
                    <a:pt x="13" y="274"/>
                  </a:cubicBezTo>
                  <a:cubicBezTo>
                    <a:pt x="18" y="222"/>
                    <a:pt x="32" y="140"/>
                    <a:pt x="57" y="102"/>
                  </a:cubicBezTo>
                  <a:cubicBezTo>
                    <a:pt x="82" y="64"/>
                    <a:pt x="96" y="10"/>
                    <a:pt x="58" y="2"/>
                  </a:cubicBezTo>
                  <a:cubicBezTo>
                    <a:pt x="63" y="0"/>
                    <a:pt x="74" y="3"/>
                    <a:pt x="80" y="8"/>
                  </a:cubicBezTo>
                  <a:cubicBezTo>
                    <a:pt x="109" y="29"/>
                    <a:pt x="99" y="65"/>
                    <a:pt x="74" y="103"/>
                  </a:cubicBezTo>
                  <a:cubicBezTo>
                    <a:pt x="49" y="141"/>
                    <a:pt x="26" y="226"/>
                    <a:pt x="21" y="278"/>
                  </a:cubicBezTo>
                  <a:cubicBezTo>
                    <a:pt x="17" y="318"/>
                    <a:pt x="16" y="330"/>
                    <a:pt x="4" y="333"/>
                  </a:cubicBezTo>
                  <a:cubicBezTo>
                    <a:pt x="1" y="334"/>
                    <a:pt x="0" y="336"/>
                    <a:pt x="4" y="333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2132">
              <a:extLst>
                <a:ext uri="{FF2B5EF4-FFF2-40B4-BE49-F238E27FC236}">
                  <a16:creationId xmlns:a16="http://schemas.microsoft.com/office/drawing/2014/main" id="{0138CDDC-CB74-E8D9-EA0F-E307CDD788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031"/>
              <a:ext cx="168" cy="686"/>
            </a:xfrm>
            <a:custGeom>
              <a:avLst/>
              <a:gdLst>
                <a:gd name="T0" fmla="*/ 61 w 86"/>
                <a:gd name="T1" fmla="*/ 1715 h 330"/>
                <a:gd name="T2" fmla="*/ 225 w 86"/>
                <a:gd name="T3" fmla="*/ 1418 h 330"/>
                <a:gd name="T4" fmla="*/ 148 w 86"/>
                <a:gd name="T5" fmla="*/ 1206 h 330"/>
                <a:gd name="T6" fmla="*/ 111 w 86"/>
                <a:gd name="T7" fmla="*/ 1089 h 330"/>
                <a:gd name="T8" fmla="*/ 352 w 86"/>
                <a:gd name="T9" fmla="*/ 333 h 330"/>
                <a:gd name="T10" fmla="*/ 641 w 86"/>
                <a:gd name="T11" fmla="*/ 0 h 330"/>
                <a:gd name="T12" fmla="*/ 440 w 86"/>
                <a:gd name="T13" fmla="*/ 268 h 330"/>
                <a:gd name="T14" fmla="*/ 260 w 86"/>
                <a:gd name="T15" fmla="*/ 890 h 330"/>
                <a:gd name="T16" fmla="*/ 232 w 86"/>
                <a:gd name="T17" fmla="*/ 1193 h 330"/>
                <a:gd name="T18" fmla="*/ 289 w 86"/>
                <a:gd name="T19" fmla="*/ 1418 h 330"/>
                <a:gd name="T20" fmla="*/ 164 w 86"/>
                <a:gd name="T21" fmla="*/ 1771 h 330"/>
                <a:gd name="T22" fmla="*/ 80 w 86"/>
                <a:gd name="T23" fmla="*/ 2039 h 330"/>
                <a:gd name="T24" fmla="*/ 45 w 86"/>
                <a:gd name="T25" fmla="*/ 2532 h 330"/>
                <a:gd name="T26" fmla="*/ 164 w 86"/>
                <a:gd name="T27" fmla="*/ 2964 h 330"/>
                <a:gd name="T28" fmla="*/ 0 w 86"/>
                <a:gd name="T29" fmla="*/ 2540 h 330"/>
                <a:gd name="T30" fmla="*/ 8 w 86"/>
                <a:gd name="T31" fmla="*/ 1806 h 330"/>
                <a:gd name="T32" fmla="*/ 61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8" y="191"/>
                  </a:moveTo>
                  <a:cubicBezTo>
                    <a:pt x="21" y="187"/>
                    <a:pt x="30" y="172"/>
                    <a:pt x="30" y="158"/>
                  </a:cubicBezTo>
                  <a:cubicBezTo>
                    <a:pt x="30" y="148"/>
                    <a:pt x="26" y="140"/>
                    <a:pt x="20" y="134"/>
                  </a:cubicBezTo>
                  <a:cubicBezTo>
                    <a:pt x="16" y="130"/>
                    <a:pt x="14" y="127"/>
                    <a:pt x="15" y="121"/>
                  </a:cubicBezTo>
                  <a:cubicBezTo>
                    <a:pt x="28" y="81"/>
                    <a:pt x="37" y="56"/>
                    <a:pt x="47" y="37"/>
                  </a:cubicBezTo>
                  <a:cubicBezTo>
                    <a:pt x="57" y="19"/>
                    <a:pt x="71" y="6"/>
                    <a:pt x="86" y="0"/>
                  </a:cubicBezTo>
                  <a:cubicBezTo>
                    <a:pt x="77" y="6"/>
                    <a:pt x="69" y="11"/>
                    <a:pt x="59" y="30"/>
                  </a:cubicBezTo>
                  <a:cubicBezTo>
                    <a:pt x="50" y="47"/>
                    <a:pt x="47" y="63"/>
                    <a:pt x="35" y="99"/>
                  </a:cubicBezTo>
                  <a:cubicBezTo>
                    <a:pt x="31" y="110"/>
                    <a:pt x="25" y="122"/>
                    <a:pt x="31" y="133"/>
                  </a:cubicBezTo>
                  <a:cubicBezTo>
                    <a:pt x="35" y="139"/>
                    <a:pt x="39" y="145"/>
                    <a:pt x="39" y="158"/>
                  </a:cubicBezTo>
                  <a:cubicBezTo>
                    <a:pt x="39" y="180"/>
                    <a:pt x="31" y="191"/>
                    <a:pt x="22" y="197"/>
                  </a:cubicBezTo>
                  <a:cubicBezTo>
                    <a:pt x="13" y="203"/>
                    <a:pt x="11" y="216"/>
                    <a:pt x="11" y="227"/>
                  </a:cubicBezTo>
                  <a:cubicBezTo>
                    <a:pt x="10" y="256"/>
                    <a:pt x="6" y="282"/>
                    <a:pt x="6" y="282"/>
                  </a:cubicBezTo>
                  <a:cubicBezTo>
                    <a:pt x="6" y="302"/>
                    <a:pt x="8" y="320"/>
                    <a:pt x="22" y="330"/>
                  </a:cubicBezTo>
                  <a:cubicBezTo>
                    <a:pt x="7" y="323"/>
                    <a:pt x="0" y="306"/>
                    <a:pt x="0" y="283"/>
                  </a:cubicBezTo>
                  <a:cubicBezTo>
                    <a:pt x="0" y="283"/>
                    <a:pt x="1" y="207"/>
                    <a:pt x="1" y="201"/>
                  </a:cubicBezTo>
                  <a:cubicBezTo>
                    <a:pt x="1" y="195"/>
                    <a:pt x="3" y="193"/>
                    <a:pt x="8" y="191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2133">
              <a:extLst>
                <a:ext uri="{FF2B5EF4-FFF2-40B4-BE49-F238E27FC236}">
                  <a16:creationId xmlns:a16="http://schemas.microsoft.com/office/drawing/2014/main" id="{9D0C218E-8007-6C06-8237-13967A57B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1" y="3042"/>
              <a:ext cx="137" cy="378"/>
            </a:xfrm>
            <a:custGeom>
              <a:avLst/>
              <a:gdLst>
                <a:gd name="T0" fmla="*/ 0 w 70"/>
                <a:gd name="T1" fmla="*/ 1630 h 182"/>
                <a:gd name="T2" fmla="*/ 264 w 70"/>
                <a:gd name="T3" fmla="*/ 849 h 182"/>
                <a:gd name="T4" fmla="*/ 307 w 70"/>
                <a:gd name="T5" fmla="*/ 0 h 182"/>
                <a:gd name="T6" fmla="*/ 329 w 70"/>
                <a:gd name="T7" fmla="*/ 609 h 182"/>
                <a:gd name="T8" fmla="*/ 0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0" y="182"/>
                  </a:moveTo>
                  <a:cubicBezTo>
                    <a:pt x="9" y="148"/>
                    <a:pt x="22" y="115"/>
                    <a:pt x="35" y="95"/>
                  </a:cubicBezTo>
                  <a:cubicBezTo>
                    <a:pt x="60" y="57"/>
                    <a:pt x="70" y="21"/>
                    <a:pt x="41" y="0"/>
                  </a:cubicBezTo>
                  <a:cubicBezTo>
                    <a:pt x="51" y="8"/>
                    <a:pt x="58" y="40"/>
                    <a:pt x="44" y="68"/>
                  </a:cubicBezTo>
                  <a:cubicBezTo>
                    <a:pt x="31" y="96"/>
                    <a:pt x="14" y="125"/>
                    <a:pt x="0" y="18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2134">
              <a:extLst>
                <a:ext uri="{FF2B5EF4-FFF2-40B4-BE49-F238E27FC236}">
                  <a16:creationId xmlns:a16="http://schemas.microsoft.com/office/drawing/2014/main" id="{4E531481-DA7E-9E48-D2F8-864386282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3283"/>
              <a:ext cx="66" cy="337"/>
            </a:xfrm>
            <a:custGeom>
              <a:avLst/>
              <a:gdLst>
                <a:gd name="T0" fmla="*/ 248 w 34"/>
                <a:gd name="T1" fmla="*/ 1458 h 162"/>
                <a:gd name="T2" fmla="*/ 241 w 34"/>
                <a:gd name="T3" fmla="*/ 718 h 162"/>
                <a:gd name="T4" fmla="*/ 188 w 34"/>
                <a:gd name="T5" fmla="*/ 632 h 162"/>
                <a:gd name="T6" fmla="*/ 31 w 34"/>
                <a:gd name="T7" fmla="*/ 333 h 162"/>
                <a:gd name="T8" fmla="*/ 101 w 34"/>
                <a:gd name="T9" fmla="*/ 116 h 162"/>
                <a:gd name="T10" fmla="*/ 140 w 34"/>
                <a:gd name="T11" fmla="*/ 0 h 162"/>
                <a:gd name="T12" fmla="*/ 80 w 34"/>
                <a:gd name="T13" fmla="*/ 125 h 162"/>
                <a:gd name="T14" fmla="*/ 0 w 34"/>
                <a:gd name="T15" fmla="*/ 341 h 162"/>
                <a:gd name="T16" fmla="*/ 124 w 34"/>
                <a:gd name="T17" fmla="*/ 632 h 162"/>
                <a:gd name="T18" fmla="*/ 225 w 34"/>
                <a:gd name="T19" fmla="*/ 774 h 162"/>
                <a:gd name="T20" fmla="*/ 248 w 34"/>
                <a:gd name="T21" fmla="*/ 1458 h 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" h="162">
                  <a:moveTo>
                    <a:pt x="34" y="162"/>
                  </a:moveTo>
                  <a:cubicBezTo>
                    <a:pt x="34" y="162"/>
                    <a:pt x="33" y="86"/>
                    <a:pt x="33" y="80"/>
                  </a:cubicBezTo>
                  <a:cubicBezTo>
                    <a:pt x="33" y="74"/>
                    <a:pt x="31" y="72"/>
                    <a:pt x="26" y="70"/>
                  </a:cubicBezTo>
                  <a:cubicBezTo>
                    <a:pt x="13" y="66"/>
                    <a:pt x="4" y="51"/>
                    <a:pt x="4" y="37"/>
                  </a:cubicBezTo>
                  <a:cubicBezTo>
                    <a:pt x="4" y="27"/>
                    <a:pt x="8" y="19"/>
                    <a:pt x="14" y="13"/>
                  </a:cubicBezTo>
                  <a:cubicBezTo>
                    <a:pt x="18" y="9"/>
                    <a:pt x="20" y="6"/>
                    <a:pt x="19" y="0"/>
                  </a:cubicBezTo>
                  <a:cubicBezTo>
                    <a:pt x="19" y="3"/>
                    <a:pt x="17" y="7"/>
                    <a:pt x="11" y="14"/>
                  </a:cubicBezTo>
                  <a:cubicBezTo>
                    <a:pt x="4" y="20"/>
                    <a:pt x="0" y="27"/>
                    <a:pt x="0" y="38"/>
                  </a:cubicBezTo>
                  <a:cubicBezTo>
                    <a:pt x="0" y="49"/>
                    <a:pt x="7" y="65"/>
                    <a:pt x="17" y="70"/>
                  </a:cubicBezTo>
                  <a:cubicBezTo>
                    <a:pt x="27" y="75"/>
                    <a:pt x="31" y="78"/>
                    <a:pt x="31" y="86"/>
                  </a:cubicBezTo>
                  <a:cubicBezTo>
                    <a:pt x="32" y="94"/>
                    <a:pt x="34" y="162"/>
                    <a:pt x="34" y="16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2135">
              <a:extLst>
                <a:ext uri="{FF2B5EF4-FFF2-40B4-BE49-F238E27FC236}">
                  <a16:creationId xmlns:a16="http://schemas.microsoft.com/office/drawing/2014/main" id="{FA1336A0-A643-1939-51B1-1CC612EE9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310"/>
              <a:ext cx="72" cy="310"/>
            </a:xfrm>
            <a:custGeom>
              <a:avLst/>
              <a:gdLst>
                <a:gd name="T0" fmla="*/ 0 w 37"/>
                <a:gd name="T1" fmla="*/ 1342 h 149"/>
                <a:gd name="T2" fmla="*/ 8 w 37"/>
                <a:gd name="T3" fmla="*/ 601 h 149"/>
                <a:gd name="T4" fmla="*/ 60 w 37"/>
                <a:gd name="T5" fmla="*/ 516 h 149"/>
                <a:gd name="T6" fmla="*/ 220 w 37"/>
                <a:gd name="T7" fmla="*/ 216 h 149"/>
                <a:gd name="T8" fmla="*/ 148 w 37"/>
                <a:gd name="T9" fmla="*/ 0 h 149"/>
                <a:gd name="T10" fmla="*/ 220 w 37"/>
                <a:gd name="T11" fmla="*/ 416 h 149"/>
                <a:gd name="T12" fmla="*/ 60 w 37"/>
                <a:gd name="T13" fmla="*/ 568 h 149"/>
                <a:gd name="T14" fmla="*/ 23 w 37"/>
                <a:gd name="T15" fmla="*/ 766 h 149"/>
                <a:gd name="T16" fmla="*/ 0 w 37"/>
                <a:gd name="T17" fmla="*/ 1342 h 1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149">
                  <a:moveTo>
                    <a:pt x="0" y="149"/>
                  </a:moveTo>
                  <a:cubicBezTo>
                    <a:pt x="0" y="149"/>
                    <a:pt x="1" y="73"/>
                    <a:pt x="1" y="67"/>
                  </a:cubicBezTo>
                  <a:cubicBezTo>
                    <a:pt x="1" y="61"/>
                    <a:pt x="3" y="59"/>
                    <a:pt x="8" y="57"/>
                  </a:cubicBezTo>
                  <a:cubicBezTo>
                    <a:pt x="21" y="53"/>
                    <a:pt x="30" y="38"/>
                    <a:pt x="30" y="24"/>
                  </a:cubicBezTo>
                  <a:cubicBezTo>
                    <a:pt x="30" y="14"/>
                    <a:pt x="26" y="6"/>
                    <a:pt x="20" y="0"/>
                  </a:cubicBezTo>
                  <a:cubicBezTo>
                    <a:pt x="33" y="12"/>
                    <a:pt x="37" y="33"/>
                    <a:pt x="30" y="46"/>
                  </a:cubicBezTo>
                  <a:cubicBezTo>
                    <a:pt x="22" y="59"/>
                    <a:pt x="13" y="60"/>
                    <a:pt x="8" y="63"/>
                  </a:cubicBezTo>
                  <a:cubicBezTo>
                    <a:pt x="4" y="65"/>
                    <a:pt x="4" y="73"/>
                    <a:pt x="3" y="85"/>
                  </a:cubicBezTo>
                  <a:cubicBezTo>
                    <a:pt x="3" y="97"/>
                    <a:pt x="0" y="149"/>
                    <a:pt x="0" y="1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2136">
              <a:extLst>
                <a:ext uri="{FF2B5EF4-FFF2-40B4-BE49-F238E27FC236}">
                  <a16:creationId xmlns:a16="http://schemas.microsoft.com/office/drawing/2014/main" id="{9CA667B5-3740-162B-207C-D162DBCD46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3042"/>
              <a:ext cx="97" cy="174"/>
            </a:xfrm>
            <a:custGeom>
              <a:avLst/>
              <a:gdLst>
                <a:gd name="T0" fmla="*/ 365 w 50"/>
                <a:gd name="T1" fmla="*/ 0 h 84"/>
                <a:gd name="T2" fmla="*/ 0 w 50"/>
                <a:gd name="T3" fmla="*/ 746 h 84"/>
                <a:gd name="T4" fmla="*/ 365 w 50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84">
                  <a:moveTo>
                    <a:pt x="50" y="0"/>
                  </a:moveTo>
                  <a:cubicBezTo>
                    <a:pt x="38" y="7"/>
                    <a:pt x="21" y="24"/>
                    <a:pt x="0" y="84"/>
                  </a:cubicBezTo>
                  <a:cubicBezTo>
                    <a:pt x="10" y="60"/>
                    <a:pt x="33" y="13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137">
              <a:extLst>
                <a:ext uri="{FF2B5EF4-FFF2-40B4-BE49-F238E27FC236}">
                  <a16:creationId xmlns:a16="http://schemas.microsoft.com/office/drawing/2014/main" id="{A8AD8ED8-F25B-7C87-449A-22DE9F39D6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81" y="3034"/>
              <a:ext cx="279" cy="409"/>
            </a:xfrm>
            <a:custGeom>
              <a:avLst/>
              <a:gdLst>
                <a:gd name="T0" fmla="*/ 499 w 143"/>
                <a:gd name="T1" fmla="*/ 866 h 197"/>
                <a:gd name="T2" fmla="*/ 8 w 143"/>
                <a:gd name="T3" fmla="*/ 0 h 197"/>
                <a:gd name="T4" fmla="*/ 0 w 143"/>
                <a:gd name="T5" fmla="*/ 0 h 197"/>
                <a:gd name="T6" fmla="*/ 236 w 143"/>
                <a:gd name="T7" fmla="*/ 324 h 197"/>
                <a:gd name="T8" fmla="*/ 484 w 143"/>
                <a:gd name="T9" fmla="*/ 1073 h 197"/>
                <a:gd name="T10" fmla="*/ 453 w 143"/>
                <a:gd name="T11" fmla="*/ 1190 h 197"/>
                <a:gd name="T12" fmla="*/ 373 w 143"/>
                <a:gd name="T13" fmla="*/ 1406 h 197"/>
                <a:gd name="T14" fmla="*/ 540 w 143"/>
                <a:gd name="T15" fmla="*/ 1673 h 197"/>
                <a:gd name="T16" fmla="*/ 593 w 143"/>
                <a:gd name="T17" fmla="*/ 1763 h 197"/>
                <a:gd name="T18" fmla="*/ 593 w 143"/>
                <a:gd name="T19" fmla="*/ 1109 h 197"/>
                <a:gd name="T20" fmla="*/ 499 w 143"/>
                <a:gd name="T21" fmla="*/ 866 h 197"/>
                <a:gd name="T22" fmla="*/ 960 w 143"/>
                <a:gd name="T23" fmla="*/ 324 h 197"/>
                <a:gd name="T24" fmla="*/ 1061 w 143"/>
                <a:gd name="T25" fmla="*/ 143 h 197"/>
                <a:gd name="T26" fmla="*/ 1048 w 143"/>
                <a:gd name="T27" fmla="*/ 152 h 197"/>
                <a:gd name="T28" fmla="*/ 704 w 143"/>
                <a:gd name="T29" fmla="*/ 905 h 197"/>
                <a:gd name="T30" fmla="*/ 609 w 143"/>
                <a:gd name="T31" fmla="*/ 1121 h 197"/>
                <a:gd name="T32" fmla="*/ 609 w 143"/>
                <a:gd name="T33" fmla="*/ 1215 h 197"/>
                <a:gd name="T34" fmla="*/ 609 w 143"/>
                <a:gd name="T35" fmla="*/ 1763 h 197"/>
                <a:gd name="T36" fmla="*/ 661 w 143"/>
                <a:gd name="T37" fmla="*/ 1673 h 197"/>
                <a:gd name="T38" fmla="*/ 825 w 143"/>
                <a:gd name="T39" fmla="*/ 1406 h 197"/>
                <a:gd name="T40" fmla="*/ 749 w 143"/>
                <a:gd name="T41" fmla="*/ 1190 h 197"/>
                <a:gd name="T42" fmla="*/ 720 w 143"/>
                <a:gd name="T43" fmla="*/ 1146 h 197"/>
                <a:gd name="T44" fmla="*/ 712 w 143"/>
                <a:gd name="T45" fmla="*/ 1146 h 197"/>
                <a:gd name="T46" fmla="*/ 704 w 143"/>
                <a:gd name="T47" fmla="*/ 1146 h 197"/>
                <a:gd name="T48" fmla="*/ 712 w 143"/>
                <a:gd name="T49" fmla="*/ 1138 h 197"/>
                <a:gd name="T50" fmla="*/ 712 w 143"/>
                <a:gd name="T51" fmla="*/ 1073 h 197"/>
                <a:gd name="T52" fmla="*/ 960 w 143"/>
                <a:gd name="T53" fmla="*/ 324 h 19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43" h="197">
                  <a:moveTo>
                    <a:pt x="67" y="97"/>
                  </a:moveTo>
                  <a:cubicBezTo>
                    <a:pt x="61" y="67"/>
                    <a:pt x="30" y="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8"/>
                    <a:pt x="24" y="21"/>
                    <a:pt x="32" y="36"/>
                  </a:cubicBezTo>
                  <a:cubicBezTo>
                    <a:pt x="43" y="55"/>
                    <a:pt x="53" y="80"/>
                    <a:pt x="65" y="120"/>
                  </a:cubicBezTo>
                  <a:cubicBezTo>
                    <a:pt x="67" y="126"/>
                    <a:pt x="65" y="129"/>
                    <a:pt x="61" y="133"/>
                  </a:cubicBezTo>
                  <a:cubicBezTo>
                    <a:pt x="54" y="139"/>
                    <a:pt x="50" y="147"/>
                    <a:pt x="50" y="157"/>
                  </a:cubicBezTo>
                  <a:cubicBezTo>
                    <a:pt x="50" y="171"/>
                    <a:pt x="60" y="183"/>
                    <a:pt x="73" y="187"/>
                  </a:cubicBezTo>
                  <a:cubicBezTo>
                    <a:pt x="78" y="189"/>
                    <a:pt x="80" y="191"/>
                    <a:pt x="80" y="197"/>
                  </a:cubicBezTo>
                  <a:cubicBezTo>
                    <a:pt x="80" y="124"/>
                    <a:pt x="80" y="124"/>
                    <a:pt x="80" y="124"/>
                  </a:cubicBezTo>
                  <a:cubicBezTo>
                    <a:pt x="69" y="117"/>
                    <a:pt x="69" y="107"/>
                    <a:pt x="67" y="97"/>
                  </a:cubicBezTo>
                  <a:close/>
                  <a:moveTo>
                    <a:pt x="129" y="36"/>
                  </a:moveTo>
                  <a:cubicBezTo>
                    <a:pt x="133" y="29"/>
                    <a:pt x="138" y="22"/>
                    <a:pt x="143" y="16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28" y="27"/>
                    <a:pt x="110" y="52"/>
                    <a:pt x="95" y="101"/>
                  </a:cubicBezTo>
                  <a:cubicBezTo>
                    <a:pt x="86" y="128"/>
                    <a:pt x="82" y="125"/>
                    <a:pt x="82" y="125"/>
                  </a:cubicBezTo>
                  <a:cubicBezTo>
                    <a:pt x="82" y="132"/>
                    <a:pt x="82" y="136"/>
                    <a:pt x="82" y="136"/>
                  </a:cubicBezTo>
                  <a:cubicBezTo>
                    <a:pt x="82" y="197"/>
                    <a:pt x="82" y="197"/>
                    <a:pt x="82" y="197"/>
                  </a:cubicBezTo>
                  <a:cubicBezTo>
                    <a:pt x="82" y="191"/>
                    <a:pt x="84" y="189"/>
                    <a:pt x="89" y="187"/>
                  </a:cubicBezTo>
                  <a:cubicBezTo>
                    <a:pt x="102" y="183"/>
                    <a:pt x="111" y="171"/>
                    <a:pt x="111" y="157"/>
                  </a:cubicBezTo>
                  <a:cubicBezTo>
                    <a:pt x="111" y="147"/>
                    <a:pt x="107" y="139"/>
                    <a:pt x="101" y="133"/>
                  </a:cubicBezTo>
                  <a:cubicBezTo>
                    <a:pt x="99" y="132"/>
                    <a:pt x="98" y="130"/>
                    <a:pt x="97" y="128"/>
                  </a:cubicBezTo>
                  <a:cubicBezTo>
                    <a:pt x="97" y="128"/>
                    <a:pt x="96" y="128"/>
                    <a:pt x="96" y="128"/>
                  </a:cubicBezTo>
                  <a:cubicBezTo>
                    <a:pt x="96" y="128"/>
                    <a:pt x="96" y="128"/>
                    <a:pt x="95" y="128"/>
                  </a:cubicBezTo>
                  <a:cubicBezTo>
                    <a:pt x="96" y="127"/>
                    <a:pt x="96" y="127"/>
                    <a:pt x="96" y="127"/>
                  </a:cubicBezTo>
                  <a:cubicBezTo>
                    <a:pt x="95" y="125"/>
                    <a:pt x="95" y="122"/>
                    <a:pt x="96" y="120"/>
                  </a:cubicBezTo>
                  <a:cubicBezTo>
                    <a:pt x="109" y="80"/>
                    <a:pt x="119" y="55"/>
                    <a:pt x="129" y="36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2138">
              <a:extLst>
                <a:ext uri="{FF2B5EF4-FFF2-40B4-BE49-F238E27FC236}">
                  <a16:creationId xmlns:a16="http://schemas.microsoft.com/office/drawing/2014/main" id="{9B9729F5-898C-5105-DEE1-D017E1A47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3042"/>
              <a:ext cx="101" cy="208"/>
            </a:xfrm>
            <a:custGeom>
              <a:avLst/>
              <a:gdLst>
                <a:gd name="T0" fmla="*/ 381 w 52"/>
                <a:gd name="T1" fmla="*/ 0 h 100"/>
                <a:gd name="T2" fmla="*/ 16 w 52"/>
                <a:gd name="T3" fmla="*/ 476 h 100"/>
                <a:gd name="T4" fmla="*/ 8 w 52"/>
                <a:gd name="T5" fmla="*/ 901 h 100"/>
                <a:gd name="T6" fmla="*/ 95 w 52"/>
                <a:gd name="T7" fmla="*/ 376 h 100"/>
                <a:gd name="T8" fmla="*/ 381 w 52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100">
                  <a:moveTo>
                    <a:pt x="52" y="0"/>
                  </a:moveTo>
                  <a:cubicBezTo>
                    <a:pt x="36" y="6"/>
                    <a:pt x="7" y="31"/>
                    <a:pt x="2" y="53"/>
                  </a:cubicBezTo>
                  <a:cubicBezTo>
                    <a:pt x="0" y="60"/>
                    <a:pt x="1" y="77"/>
                    <a:pt x="1" y="100"/>
                  </a:cubicBezTo>
                  <a:cubicBezTo>
                    <a:pt x="2" y="85"/>
                    <a:pt x="2" y="63"/>
                    <a:pt x="13" y="42"/>
                  </a:cubicBezTo>
                  <a:cubicBezTo>
                    <a:pt x="25" y="20"/>
                    <a:pt x="52" y="0"/>
                    <a:pt x="52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139">
              <a:extLst>
                <a:ext uri="{FF2B5EF4-FFF2-40B4-BE49-F238E27FC236}">
                  <a16:creationId xmlns:a16="http://schemas.microsoft.com/office/drawing/2014/main" id="{8F3CD9BB-73BD-DE24-65B3-31FE4FC46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140">
              <a:extLst>
                <a:ext uri="{FF2B5EF4-FFF2-40B4-BE49-F238E27FC236}">
                  <a16:creationId xmlns:a16="http://schemas.microsoft.com/office/drawing/2014/main" id="{CC9A81CF-874A-DB05-B470-21F67A6E1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2141">
              <a:extLst>
                <a:ext uri="{FF2B5EF4-FFF2-40B4-BE49-F238E27FC236}">
                  <a16:creationId xmlns:a16="http://schemas.microsoft.com/office/drawing/2014/main" id="{84125E99-500E-BB76-BAAD-4CECEEF8F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2142">
              <a:extLst>
                <a:ext uri="{FF2B5EF4-FFF2-40B4-BE49-F238E27FC236}">
                  <a16:creationId xmlns:a16="http://schemas.microsoft.com/office/drawing/2014/main" id="{647AFDC5-67C9-B2FF-8493-5537B54623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2143">
              <a:extLst>
                <a:ext uri="{FF2B5EF4-FFF2-40B4-BE49-F238E27FC236}">
                  <a16:creationId xmlns:a16="http://schemas.microsoft.com/office/drawing/2014/main" id="{E7F2594B-E35B-A167-0961-B89D8B211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9" name="CuadroTexto 58">
            <a:extLst>
              <a:ext uri="{FF2B5EF4-FFF2-40B4-BE49-F238E27FC236}">
                <a16:creationId xmlns:a16="http://schemas.microsoft.com/office/drawing/2014/main" id="{860EFA51-C396-32C0-887A-ABC4C4AC95F4}"/>
              </a:ext>
            </a:extLst>
          </p:cNvPr>
          <p:cNvSpPr txBox="1"/>
          <p:nvPr/>
        </p:nvSpPr>
        <p:spPr>
          <a:xfrm>
            <a:off x="3913402" y="2782305"/>
            <a:ext cx="7729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↑Glucosa</a:t>
            </a:r>
          </a:p>
        </p:txBody>
      </p:sp>
      <p:cxnSp>
        <p:nvCxnSpPr>
          <p:cNvPr id="60" name="Conector: curvado 59">
            <a:extLst>
              <a:ext uri="{FF2B5EF4-FFF2-40B4-BE49-F238E27FC236}">
                <a16:creationId xmlns:a16="http://schemas.microsoft.com/office/drawing/2014/main" id="{3257D649-9EB0-C3EF-4F67-5A1693A846CB}"/>
              </a:ext>
            </a:extLst>
          </p:cNvPr>
          <p:cNvCxnSpPr>
            <a:cxnSpLocks/>
            <a:endCxn id="59" idx="0"/>
          </p:cNvCxnSpPr>
          <p:nvPr/>
        </p:nvCxnSpPr>
        <p:spPr>
          <a:xfrm rot="10800000" flipV="1">
            <a:off x="4299887" y="2549385"/>
            <a:ext cx="637658" cy="23292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CuadroTexto 62">
            <a:extLst>
              <a:ext uri="{FF2B5EF4-FFF2-40B4-BE49-F238E27FC236}">
                <a16:creationId xmlns:a16="http://schemas.microsoft.com/office/drawing/2014/main" id="{B778F0A0-F679-0811-C83C-17A6059763D4}"/>
              </a:ext>
            </a:extLst>
          </p:cNvPr>
          <p:cNvSpPr txBox="1"/>
          <p:nvPr/>
        </p:nvSpPr>
        <p:spPr>
          <a:xfrm>
            <a:off x="4240786" y="2990201"/>
            <a:ext cx="19780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GLUT2 (</a:t>
            </a:r>
            <a:r>
              <a:rPr lang="es-ES" sz="900" dirty="0" err="1">
                <a:latin typeface="Arial" panose="020B0604020202020204" pitchFamily="34" charset="0"/>
                <a:cs typeface="Arial" panose="020B0604020202020204" pitchFamily="34" charset="0"/>
              </a:rPr>
              <a:t>insulino</a:t>
            </a:r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-independiente)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873CB4DA-80EE-A641-B87D-768B1E38D974}"/>
              </a:ext>
            </a:extLst>
          </p:cNvPr>
          <p:cNvSpPr txBox="1"/>
          <p:nvPr/>
        </p:nvSpPr>
        <p:spPr>
          <a:xfrm>
            <a:off x="3869099" y="4486229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Glucógeno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69DFEF62-49E8-25C7-749D-180384905A54}"/>
              </a:ext>
            </a:extLst>
          </p:cNvPr>
          <p:cNvSpPr txBox="1"/>
          <p:nvPr/>
        </p:nvSpPr>
        <p:spPr>
          <a:xfrm>
            <a:off x="5393532" y="4486229"/>
            <a:ext cx="8531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EC9FEA69-B76B-137B-6B5D-4AE91CA446B3}"/>
              </a:ext>
            </a:extLst>
          </p:cNvPr>
          <p:cNvSpPr txBox="1"/>
          <p:nvPr/>
        </p:nvSpPr>
        <p:spPr>
          <a:xfrm>
            <a:off x="3661463" y="5097120"/>
            <a:ext cx="10711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Ácidos grasos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(AG)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3D315AAB-9507-3B53-E9E7-A33A50B2F3B5}"/>
              </a:ext>
            </a:extLst>
          </p:cNvPr>
          <p:cNvSpPr txBox="1"/>
          <p:nvPr/>
        </p:nvSpPr>
        <p:spPr>
          <a:xfrm>
            <a:off x="4947651" y="5097120"/>
            <a:ext cx="5389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VLDL</a:t>
            </a:r>
          </a:p>
        </p:txBody>
      </p:sp>
      <p:cxnSp>
        <p:nvCxnSpPr>
          <p:cNvPr id="68" name="Conector: curvado 67">
            <a:extLst>
              <a:ext uri="{FF2B5EF4-FFF2-40B4-BE49-F238E27FC236}">
                <a16:creationId xmlns:a16="http://schemas.microsoft.com/office/drawing/2014/main" id="{845A6817-B75F-C3D0-3B1D-9837FE806B8F}"/>
              </a:ext>
            </a:extLst>
          </p:cNvPr>
          <p:cNvCxnSpPr>
            <a:cxnSpLocks/>
            <a:stCxn id="59" idx="2"/>
          </p:cNvCxnSpPr>
          <p:nvPr/>
        </p:nvCxnSpPr>
        <p:spPr>
          <a:xfrm rot="16200000" flipH="1">
            <a:off x="3934097" y="3409705"/>
            <a:ext cx="741687" cy="1010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D87DF4EC-A1C3-D092-648C-201EFD4B7227}"/>
              </a:ext>
            </a:extLst>
          </p:cNvPr>
          <p:cNvCxnSpPr>
            <a:cxnSpLocks/>
            <a:endCxn id="64" idx="0"/>
          </p:cNvCxnSpPr>
          <p:nvPr/>
        </p:nvCxnSpPr>
        <p:spPr>
          <a:xfrm flipH="1">
            <a:off x="4302872" y="4016434"/>
            <a:ext cx="7121" cy="469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CuadroTexto 91">
            <a:extLst>
              <a:ext uri="{FF2B5EF4-FFF2-40B4-BE49-F238E27FC236}">
                <a16:creationId xmlns:a16="http://schemas.microsoft.com/office/drawing/2014/main" id="{C97BD948-6A9A-3AE3-5DB2-DFF9EF298E3B}"/>
              </a:ext>
            </a:extLst>
          </p:cNvPr>
          <p:cNvSpPr txBox="1"/>
          <p:nvPr/>
        </p:nvSpPr>
        <p:spPr>
          <a:xfrm>
            <a:off x="2857644" y="2782158"/>
            <a:ext cx="7729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↓Glucosa</a:t>
            </a:r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B76C6A41-F83F-80CA-FDA5-1F3E4D3AB0FD}"/>
              </a:ext>
            </a:extLst>
          </p:cNvPr>
          <p:cNvSpPr txBox="1"/>
          <p:nvPr/>
        </p:nvSpPr>
        <p:spPr>
          <a:xfrm>
            <a:off x="2935326" y="3635819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Glucógeno</a:t>
            </a: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C1C24D49-78C9-4251-D0DB-F080CF37DD33}"/>
              </a:ext>
            </a:extLst>
          </p:cNvPr>
          <p:cNvSpPr txBox="1"/>
          <p:nvPr/>
        </p:nvSpPr>
        <p:spPr>
          <a:xfrm>
            <a:off x="2888838" y="4061228"/>
            <a:ext cx="9605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 1-P</a:t>
            </a:r>
          </a:p>
        </p:txBody>
      </p:sp>
      <p:cxnSp>
        <p:nvCxnSpPr>
          <p:cNvPr id="98" name="Conector: curvado 97">
            <a:extLst>
              <a:ext uri="{FF2B5EF4-FFF2-40B4-BE49-F238E27FC236}">
                <a16:creationId xmlns:a16="http://schemas.microsoft.com/office/drawing/2014/main" id="{72393560-0BC8-17C4-5FE6-7BFA07541128}"/>
              </a:ext>
            </a:extLst>
          </p:cNvPr>
          <p:cNvCxnSpPr>
            <a:cxnSpLocks/>
            <a:stCxn id="94" idx="2"/>
            <a:endCxn id="5" idx="3"/>
          </p:cNvCxnSpPr>
          <p:nvPr/>
        </p:nvCxnSpPr>
        <p:spPr>
          <a:xfrm rot="5400000">
            <a:off x="3267267" y="4366481"/>
            <a:ext cx="145475" cy="5818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Conector: curvado 101">
            <a:extLst>
              <a:ext uri="{FF2B5EF4-FFF2-40B4-BE49-F238E27FC236}">
                <a16:creationId xmlns:a16="http://schemas.microsoft.com/office/drawing/2014/main" id="{6CB2B60D-EF65-FC01-A200-018931B87608}"/>
              </a:ext>
            </a:extLst>
          </p:cNvPr>
          <p:cNvCxnSpPr>
            <a:cxnSpLocks/>
            <a:stCxn id="5" idx="2"/>
            <a:endCxn id="6" idx="3"/>
          </p:cNvCxnSpPr>
          <p:nvPr/>
        </p:nvCxnSpPr>
        <p:spPr>
          <a:xfrm rot="5400000">
            <a:off x="2320197" y="4935844"/>
            <a:ext cx="847181" cy="17372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A26D9CAC-EFFA-1FC8-DBA9-588AA10D3D87}"/>
              </a:ext>
            </a:extLst>
          </p:cNvPr>
          <p:cNvSpPr txBox="1"/>
          <p:nvPr/>
        </p:nvSpPr>
        <p:spPr>
          <a:xfrm>
            <a:off x="2454087" y="3868088"/>
            <a:ext cx="9401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Glucogenólisis</a:t>
            </a:r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BB239ED9-5610-E2CF-1621-67FA5D987C1F}"/>
              </a:ext>
            </a:extLst>
          </p:cNvPr>
          <p:cNvSpPr txBox="1"/>
          <p:nvPr/>
        </p:nvSpPr>
        <p:spPr>
          <a:xfrm>
            <a:off x="4212175" y="4215409"/>
            <a:ext cx="11813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Glucogenogénesis</a:t>
            </a:r>
            <a:endParaRPr lang="es-ES" sz="9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9E4900FA-B439-603C-8360-2542C2B3E032}"/>
              </a:ext>
            </a:extLst>
          </p:cNvPr>
          <p:cNvSpPr txBox="1"/>
          <p:nvPr/>
        </p:nvSpPr>
        <p:spPr>
          <a:xfrm>
            <a:off x="4332608" y="4764687"/>
            <a:ext cx="8241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Lipogénesis</a:t>
            </a:r>
          </a:p>
        </p:txBody>
      </p:sp>
      <p:cxnSp>
        <p:nvCxnSpPr>
          <p:cNvPr id="115" name="Conector: angular 114">
            <a:extLst>
              <a:ext uri="{FF2B5EF4-FFF2-40B4-BE49-F238E27FC236}">
                <a16:creationId xmlns:a16="http://schemas.microsoft.com/office/drawing/2014/main" id="{E132D5BC-9DE3-1869-535B-DD1299A71E80}"/>
              </a:ext>
            </a:extLst>
          </p:cNvPr>
          <p:cNvCxnSpPr>
            <a:cxnSpLocks/>
            <a:endCxn id="65" idx="0"/>
          </p:cNvCxnSpPr>
          <p:nvPr/>
        </p:nvCxnSpPr>
        <p:spPr>
          <a:xfrm rot="16200000" flipH="1">
            <a:off x="4830145" y="3496281"/>
            <a:ext cx="469795" cy="1510099"/>
          </a:xfrm>
          <a:prstGeom prst="bentConnector3">
            <a:avLst>
              <a:gd name="adj1" fmla="val 5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ector: angular 120">
            <a:extLst>
              <a:ext uri="{FF2B5EF4-FFF2-40B4-BE49-F238E27FC236}">
                <a16:creationId xmlns:a16="http://schemas.microsoft.com/office/drawing/2014/main" id="{930B9E7F-80D3-4337-6AA4-11DD96280EDE}"/>
              </a:ext>
            </a:extLst>
          </p:cNvPr>
          <p:cNvCxnSpPr>
            <a:cxnSpLocks/>
            <a:stCxn id="65" idx="2"/>
            <a:endCxn id="66" idx="0"/>
          </p:cNvCxnSpPr>
          <p:nvPr/>
        </p:nvCxnSpPr>
        <p:spPr>
          <a:xfrm rot="5400000">
            <a:off x="4833920" y="4110947"/>
            <a:ext cx="349281" cy="1623065"/>
          </a:xfrm>
          <a:prstGeom prst="bentConnector3">
            <a:avLst>
              <a:gd name="adj1" fmla="val 15623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ector: angular 123">
            <a:extLst>
              <a:ext uri="{FF2B5EF4-FFF2-40B4-BE49-F238E27FC236}">
                <a16:creationId xmlns:a16="http://schemas.microsoft.com/office/drawing/2014/main" id="{13EE2BF7-0737-16B7-EDF9-297F21EA5283}"/>
              </a:ext>
            </a:extLst>
          </p:cNvPr>
          <p:cNvCxnSpPr>
            <a:cxnSpLocks/>
            <a:stCxn id="65" idx="2"/>
            <a:endCxn id="67" idx="0"/>
          </p:cNvCxnSpPr>
          <p:nvPr/>
        </p:nvCxnSpPr>
        <p:spPr>
          <a:xfrm rot="5400000">
            <a:off x="5343964" y="4620991"/>
            <a:ext cx="349281" cy="602976"/>
          </a:xfrm>
          <a:prstGeom prst="bentConnector3">
            <a:avLst>
              <a:gd name="adj1" fmla="val 16285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E9B02BE6-6CB3-DA23-14E6-6F50AAAB9914}"/>
              </a:ext>
            </a:extLst>
          </p:cNvPr>
          <p:cNvSpPr txBox="1"/>
          <p:nvPr/>
        </p:nvSpPr>
        <p:spPr>
          <a:xfrm>
            <a:off x="2551079" y="3359539"/>
            <a:ext cx="1438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Lactato, glicerol, AA</a:t>
            </a:r>
          </a:p>
        </p:txBody>
      </p:sp>
      <p:cxnSp>
        <p:nvCxnSpPr>
          <p:cNvPr id="130" name="Conector: curvado 129">
            <a:extLst>
              <a:ext uri="{FF2B5EF4-FFF2-40B4-BE49-F238E27FC236}">
                <a16:creationId xmlns:a16="http://schemas.microsoft.com/office/drawing/2014/main" id="{F1BB9210-32D0-A212-D276-66947B6519AE}"/>
              </a:ext>
            </a:extLst>
          </p:cNvPr>
          <p:cNvCxnSpPr>
            <a:cxnSpLocks/>
            <a:stCxn id="129" idx="1"/>
            <a:endCxn id="6" idx="1"/>
          </p:cNvCxnSpPr>
          <p:nvPr/>
        </p:nvCxnSpPr>
        <p:spPr>
          <a:xfrm rot="10800000" flipV="1">
            <a:off x="1954487" y="3490343"/>
            <a:ext cx="596592" cy="1955955"/>
          </a:xfrm>
          <a:prstGeom prst="curvedConnector3">
            <a:avLst>
              <a:gd name="adj1" fmla="val 13831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0" name="CuadroTexto 139">
            <a:extLst>
              <a:ext uri="{FF2B5EF4-FFF2-40B4-BE49-F238E27FC236}">
                <a16:creationId xmlns:a16="http://schemas.microsoft.com/office/drawing/2014/main" id="{25B183A0-66DA-7636-5B34-898846F7EB68}"/>
              </a:ext>
            </a:extLst>
          </p:cNvPr>
          <p:cNvSpPr txBox="1"/>
          <p:nvPr/>
        </p:nvSpPr>
        <p:spPr>
          <a:xfrm>
            <a:off x="1339397" y="3355860"/>
            <a:ext cx="10899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Gluconeogénesis</a:t>
            </a:r>
          </a:p>
        </p:txBody>
      </p:sp>
      <p:sp>
        <p:nvSpPr>
          <p:cNvPr id="144" name="CuadroTexto 143">
            <a:extLst>
              <a:ext uri="{FF2B5EF4-FFF2-40B4-BE49-F238E27FC236}">
                <a16:creationId xmlns:a16="http://schemas.microsoft.com/office/drawing/2014/main" id="{19678CBF-1582-9D1C-0293-25BAFF4BACD5}"/>
              </a:ext>
            </a:extLst>
          </p:cNvPr>
          <p:cNvSpPr txBox="1"/>
          <p:nvPr/>
        </p:nvSpPr>
        <p:spPr>
          <a:xfrm>
            <a:off x="2777494" y="5419905"/>
            <a:ext cx="8531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5" name="Conector: angular 144">
            <a:extLst>
              <a:ext uri="{FF2B5EF4-FFF2-40B4-BE49-F238E27FC236}">
                <a16:creationId xmlns:a16="http://schemas.microsoft.com/office/drawing/2014/main" id="{A8CBAC32-E730-7FFF-5C36-6C132D5003EA}"/>
              </a:ext>
            </a:extLst>
          </p:cNvPr>
          <p:cNvCxnSpPr>
            <a:cxnSpLocks/>
            <a:stCxn id="66" idx="1"/>
            <a:endCxn id="144" idx="0"/>
          </p:cNvCxnSpPr>
          <p:nvPr/>
        </p:nvCxnSpPr>
        <p:spPr>
          <a:xfrm rot="10800000" flipV="1">
            <a:off x="3204055" y="5312563"/>
            <a:ext cx="457409" cy="107341"/>
          </a:xfrm>
          <a:prstGeom prst="bent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B208899A-266B-C364-AE85-85473ACD60C7}"/>
              </a:ext>
            </a:extLst>
          </p:cNvPr>
          <p:cNvSpPr txBox="1"/>
          <p:nvPr/>
        </p:nvSpPr>
        <p:spPr>
          <a:xfrm>
            <a:off x="2909193" y="5098683"/>
            <a:ext cx="9401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9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9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-oxidación</a:t>
            </a:r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449D03D3-4C7B-C4AE-89CA-64C58DC1535A}"/>
              </a:ext>
            </a:extLst>
          </p:cNvPr>
          <p:cNvSpPr txBox="1"/>
          <p:nvPr/>
        </p:nvSpPr>
        <p:spPr>
          <a:xfrm>
            <a:off x="2527425" y="5944284"/>
            <a:ext cx="13532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Cuerpos cetónicos</a:t>
            </a:r>
          </a:p>
        </p:txBody>
      </p:sp>
      <p:cxnSp>
        <p:nvCxnSpPr>
          <p:cNvPr id="152" name="Conector recto de flecha 151">
            <a:extLst>
              <a:ext uri="{FF2B5EF4-FFF2-40B4-BE49-F238E27FC236}">
                <a16:creationId xmlns:a16="http://schemas.microsoft.com/office/drawing/2014/main" id="{E0CFAF9B-1D91-62FF-F58E-8B1DE826E021}"/>
              </a:ext>
            </a:extLst>
          </p:cNvPr>
          <p:cNvCxnSpPr>
            <a:stCxn id="144" idx="2"/>
            <a:endCxn id="149" idx="0"/>
          </p:cNvCxnSpPr>
          <p:nvPr/>
        </p:nvCxnSpPr>
        <p:spPr>
          <a:xfrm flipH="1">
            <a:off x="3204053" y="5681515"/>
            <a:ext cx="1" cy="26276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Elipse 161">
            <a:extLst>
              <a:ext uri="{FF2B5EF4-FFF2-40B4-BE49-F238E27FC236}">
                <a16:creationId xmlns:a16="http://schemas.microsoft.com/office/drawing/2014/main" id="{45532159-55B7-FBC5-2B78-C481DA95D3C6}"/>
              </a:ext>
            </a:extLst>
          </p:cNvPr>
          <p:cNvSpPr/>
          <p:nvPr/>
        </p:nvSpPr>
        <p:spPr>
          <a:xfrm>
            <a:off x="4395252" y="5385885"/>
            <a:ext cx="966184" cy="7471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Ciclo de la urea</a:t>
            </a:r>
          </a:p>
        </p:txBody>
      </p:sp>
      <p:pic>
        <p:nvPicPr>
          <p:cNvPr id="1026" name="Picture 2" descr="technical anatomical line-art drawing of an isolated human fusiform skeletal muscle (like biceps), clean black contour lines only, no shading, no color, no gradients, pure white background, schematic and professional for a medical textbook">
            <a:extLst>
              <a:ext uri="{FF2B5EF4-FFF2-40B4-BE49-F238E27FC236}">
                <a16:creationId xmlns:a16="http://schemas.microsoft.com/office/drawing/2014/main" id="{3EAC6809-ED89-F291-A6F6-EF05C52106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80" r="30460"/>
          <a:stretch>
            <a:fillRect/>
          </a:stretch>
        </p:blipFill>
        <p:spPr bwMode="auto">
          <a:xfrm rot="5400000">
            <a:off x="1045230" y="-177672"/>
            <a:ext cx="1094720" cy="3033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" name="CuadroTexto 162">
            <a:extLst>
              <a:ext uri="{FF2B5EF4-FFF2-40B4-BE49-F238E27FC236}">
                <a16:creationId xmlns:a16="http://schemas.microsoft.com/office/drawing/2014/main" id="{93AB4F40-7081-54FD-C3F0-8888945E87DC}"/>
              </a:ext>
            </a:extLst>
          </p:cNvPr>
          <p:cNvSpPr txBox="1"/>
          <p:nvPr/>
        </p:nvSpPr>
        <p:spPr>
          <a:xfrm>
            <a:off x="1383658" y="1005046"/>
            <a:ext cx="922047" cy="26161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Glucógeno</a:t>
            </a:r>
          </a:p>
        </p:txBody>
      </p:sp>
      <p:grpSp>
        <p:nvGrpSpPr>
          <p:cNvPr id="164" name="Group 2122">
            <a:extLst>
              <a:ext uri="{FF2B5EF4-FFF2-40B4-BE49-F238E27FC236}">
                <a16:creationId xmlns:a16="http://schemas.microsoft.com/office/drawing/2014/main" id="{4DB2681F-C8CF-BDFF-0A6B-70046766E699}"/>
              </a:ext>
            </a:extLst>
          </p:cNvPr>
          <p:cNvGrpSpPr>
            <a:grpSpLocks/>
          </p:cNvGrpSpPr>
          <p:nvPr/>
        </p:nvGrpSpPr>
        <p:grpSpPr bwMode="auto">
          <a:xfrm rot="8773371">
            <a:off x="2168708" y="1561753"/>
            <a:ext cx="217354" cy="177269"/>
            <a:chOff x="1931" y="2992"/>
            <a:chExt cx="614" cy="738"/>
          </a:xfrm>
        </p:grpSpPr>
        <p:sp>
          <p:nvSpPr>
            <p:cNvPr id="165" name="Freeform 2123">
              <a:extLst>
                <a:ext uri="{FF2B5EF4-FFF2-40B4-BE49-F238E27FC236}">
                  <a16:creationId xmlns:a16="http://schemas.microsoft.com/office/drawing/2014/main" id="{15963B4E-48F6-04F9-60B2-5ACB488F6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Freeform 2124">
              <a:extLst>
                <a:ext uri="{FF2B5EF4-FFF2-40B4-BE49-F238E27FC236}">
                  <a16:creationId xmlns:a16="http://schemas.microsoft.com/office/drawing/2014/main" id="{47D86331-A6EC-C0A2-DC30-E26263B249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Freeform 2125">
              <a:extLst>
                <a:ext uri="{FF2B5EF4-FFF2-40B4-BE49-F238E27FC236}">
                  <a16:creationId xmlns:a16="http://schemas.microsoft.com/office/drawing/2014/main" id="{99CE559C-6391-19F2-BEC7-5D28DD91C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Freeform 2126">
              <a:extLst>
                <a:ext uri="{FF2B5EF4-FFF2-40B4-BE49-F238E27FC236}">
                  <a16:creationId xmlns:a16="http://schemas.microsoft.com/office/drawing/2014/main" id="{851ADE6D-E44D-D115-9AD2-B141411DA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Freeform 2127">
              <a:extLst>
                <a:ext uri="{FF2B5EF4-FFF2-40B4-BE49-F238E27FC236}">
                  <a16:creationId xmlns:a16="http://schemas.microsoft.com/office/drawing/2014/main" id="{109B35AB-7E3B-2897-3B69-D40164D8ED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2128">
              <a:extLst>
                <a:ext uri="{FF2B5EF4-FFF2-40B4-BE49-F238E27FC236}">
                  <a16:creationId xmlns:a16="http://schemas.microsoft.com/office/drawing/2014/main" id="{BFB1F654-97FF-F2D5-5FEF-EF507DB48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25"/>
              <a:ext cx="213" cy="699"/>
            </a:xfrm>
            <a:custGeom>
              <a:avLst/>
              <a:gdLst>
                <a:gd name="T0" fmla="*/ 784 w 109"/>
                <a:gd name="T1" fmla="*/ 3000 h 336"/>
                <a:gd name="T2" fmla="*/ 717 w 109"/>
                <a:gd name="T3" fmla="*/ 2467 h 336"/>
                <a:gd name="T4" fmla="*/ 389 w 109"/>
                <a:gd name="T5" fmla="*/ 917 h 336"/>
                <a:gd name="T6" fmla="*/ 381 w 109"/>
                <a:gd name="T7" fmla="*/ 17 h 336"/>
                <a:gd name="T8" fmla="*/ 217 w 109"/>
                <a:gd name="T9" fmla="*/ 73 h 336"/>
                <a:gd name="T10" fmla="*/ 260 w 109"/>
                <a:gd name="T11" fmla="*/ 926 h 336"/>
                <a:gd name="T12" fmla="*/ 657 w 109"/>
                <a:gd name="T13" fmla="*/ 2501 h 336"/>
                <a:gd name="T14" fmla="*/ 784 w 109"/>
                <a:gd name="T15" fmla="*/ 3000 h 336"/>
                <a:gd name="T16" fmla="*/ 784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105" y="333"/>
                  </a:moveTo>
                  <a:cubicBezTo>
                    <a:pt x="94" y="326"/>
                    <a:pt x="99" y="306"/>
                    <a:pt x="96" y="274"/>
                  </a:cubicBezTo>
                  <a:cubicBezTo>
                    <a:pt x="91" y="222"/>
                    <a:pt x="77" y="140"/>
                    <a:pt x="52" y="102"/>
                  </a:cubicBezTo>
                  <a:cubicBezTo>
                    <a:pt x="27" y="64"/>
                    <a:pt x="13" y="10"/>
                    <a:pt x="51" y="2"/>
                  </a:cubicBezTo>
                  <a:cubicBezTo>
                    <a:pt x="46" y="0"/>
                    <a:pt x="35" y="3"/>
                    <a:pt x="29" y="8"/>
                  </a:cubicBezTo>
                  <a:cubicBezTo>
                    <a:pt x="0" y="29"/>
                    <a:pt x="10" y="65"/>
                    <a:pt x="35" y="103"/>
                  </a:cubicBezTo>
                  <a:cubicBezTo>
                    <a:pt x="60" y="141"/>
                    <a:pt x="83" y="226"/>
                    <a:pt x="88" y="278"/>
                  </a:cubicBezTo>
                  <a:cubicBezTo>
                    <a:pt x="92" y="318"/>
                    <a:pt x="93" y="330"/>
                    <a:pt x="105" y="333"/>
                  </a:cubicBezTo>
                  <a:cubicBezTo>
                    <a:pt x="108" y="334"/>
                    <a:pt x="109" y="336"/>
                    <a:pt x="105" y="333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Freeform 2129">
              <a:extLst>
                <a:ext uri="{FF2B5EF4-FFF2-40B4-BE49-F238E27FC236}">
                  <a16:creationId xmlns:a16="http://schemas.microsoft.com/office/drawing/2014/main" id="{8EA3192A-B73D-6C87-E088-A2E5ABE4E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3031"/>
              <a:ext cx="168" cy="686"/>
            </a:xfrm>
            <a:custGeom>
              <a:avLst/>
              <a:gdLst>
                <a:gd name="T0" fmla="*/ 580 w 86"/>
                <a:gd name="T1" fmla="*/ 1715 h 330"/>
                <a:gd name="T2" fmla="*/ 416 w 86"/>
                <a:gd name="T3" fmla="*/ 1418 h 330"/>
                <a:gd name="T4" fmla="*/ 492 w 86"/>
                <a:gd name="T5" fmla="*/ 1206 h 330"/>
                <a:gd name="T6" fmla="*/ 531 w 86"/>
                <a:gd name="T7" fmla="*/ 1089 h 330"/>
                <a:gd name="T8" fmla="*/ 289 w 86"/>
                <a:gd name="T9" fmla="*/ 333 h 330"/>
                <a:gd name="T10" fmla="*/ 0 w 86"/>
                <a:gd name="T11" fmla="*/ 0 h 330"/>
                <a:gd name="T12" fmla="*/ 203 w 86"/>
                <a:gd name="T13" fmla="*/ 268 h 330"/>
                <a:gd name="T14" fmla="*/ 381 w 86"/>
                <a:gd name="T15" fmla="*/ 890 h 330"/>
                <a:gd name="T16" fmla="*/ 408 w 86"/>
                <a:gd name="T17" fmla="*/ 1193 h 330"/>
                <a:gd name="T18" fmla="*/ 352 w 86"/>
                <a:gd name="T19" fmla="*/ 1418 h 330"/>
                <a:gd name="T20" fmla="*/ 477 w 86"/>
                <a:gd name="T21" fmla="*/ 1771 h 330"/>
                <a:gd name="T22" fmla="*/ 565 w 86"/>
                <a:gd name="T23" fmla="*/ 2039 h 330"/>
                <a:gd name="T24" fmla="*/ 596 w 86"/>
                <a:gd name="T25" fmla="*/ 2532 h 330"/>
                <a:gd name="T26" fmla="*/ 477 w 86"/>
                <a:gd name="T27" fmla="*/ 2964 h 330"/>
                <a:gd name="T28" fmla="*/ 641 w 86"/>
                <a:gd name="T29" fmla="*/ 2540 h 330"/>
                <a:gd name="T30" fmla="*/ 633 w 86"/>
                <a:gd name="T31" fmla="*/ 1806 h 330"/>
                <a:gd name="T32" fmla="*/ 580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78" y="191"/>
                  </a:moveTo>
                  <a:cubicBezTo>
                    <a:pt x="65" y="187"/>
                    <a:pt x="56" y="172"/>
                    <a:pt x="56" y="158"/>
                  </a:cubicBezTo>
                  <a:cubicBezTo>
                    <a:pt x="56" y="148"/>
                    <a:pt x="60" y="140"/>
                    <a:pt x="66" y="134"/>
                  </a:cubicBezTo>
                  <a:cubicBezTo>
                    <a:pt x="70" y="130"/>
                    <a:pt x="72" y="127"/>
                    <a:pt x="71" y="121"/>
                  </a:cubicBezTo>
                  <a:cubicBezTo>
                    <a:pt x="58" y="81"/>
                    <a:pt x="49" y="56"/>
                    <a:pt x="39" y="37"/>
                  </a:cubicBezTo>
                  <a:cubicBezTo>
                    <a:pt x="29" y="19"/>
                    <a:pt x="15" y="6"/>
                    <a:pt x="0" y="0"/>
                  </a:cubicBezTo>
                  <a:cubicBezTo>
                    <a:pt x="9" y="6"/>
                    <a:pt x="17" y="11"/>
                    <a:pt x="27" y="30"/>
                  </a:cubicBezTo>
                  <a:cubicBezTo>
                    <a:pt x="36" y="47"/>
                    <a:pt x="40" y="63"/>
                    <a:pt x="51" y="99"/>
                  </a:cubicBezTo>
                  <a:cubicBezTo>
                    <a:pt x="55" y="110"/>
                    <a:pt x="61" y="122"/>
                    <a:pt x="55" y="133"/>
                  </a:cubicBezTo>
                  <a:cubicBezTo>
                    <a:pt x="51" y="139"/>
                    <a:pt x="47" y="145"/>
                    <a:pt x="47" y="158"/>
                  </a:cubicBezTo>
                  <a:cubicBezTo>
                    <a:pt x="47" y="180"/>
                    <a:pt x="55" y="191"/>
                    <a:pt x="64" y="197"/>
                  </a:cubicBezTo>
                  <a:cubicBezTo>
                    <a:pt x="73" y="203"/>
                    <a:pt x="75" y="216"/>
                    <a:pt x="76" y="227"/>
                  </a:cubicBezTo>
                  <a:cubicBezTo>
                    <a:pt x="76" y="256"/>
                    <a:pt x="80" y="282"/>
                    <a:pt x="80" y="282"/>
                  </a:cubicBezTo>
                  <a:cubicBezTo>
                    <a:pt x="80" y="302"/>
                    <a:pt x="78" y="320"/>
                    <a:pt x="64" y="330"/>
                  </a:cubicBezTo>
                  <a:cubicBezTo>
                    <a:pt x="79" y="323"/>
                    <a:pt x="86" y="306"/>
                    <a:pt x="86" y="283"/>
                  </a:cubicBezTo>
                  <a:cubicBezTo>
                    <a:pt x="86" y="283"/>
                    <a:pt x="85" y="207"/>
                    <a:pt x="85" y="201"/>
                  </a:cubicBezTo>
                  <a:cubicBezTo>
                    <a:pt x="85" y="195"/>
                    <a:pt x="83" y="193"/>
                    <a:pt x="78" y="191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Freeform 2130">
              <a:extLst>
                <a:ext uri="{FF2B5EF4-FFF2-40B4-BE49-F238E27FC236}">
                  <a16:creationId xmlns:a16="http://schemas.microsoft.com/office/drawing/2014/main" id="{30F8534D-306C-1CD0-A156-06D2B4F94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42"/>
              <a:ext cx="137" cy="378"/>
            </a:xfrm>
            <a:custGeom>
              <a:avLst/>
              <a:gdLst>
                <a:gd name="T0" fmla="*/ 525 w 70"/>
                <a:gd name="T1" fmla="*/ 1630 h 182"/>
                <a:gd name="T2" fmla="*/ 264 w 70"/>
                <a:gd name="T3" fmla="*/ 849 h 182"/>
                <a:gd name="T4" fmla="*/ 219 w 70"/>
                <a:gd name="T5" fmla="*/ 0 h 182"/>
                <a:gd name="T6" fmla="*/ 196 w 70"/>
                <a:gd name="T7" fmla="*/ 609 h 182"/>
                <a:gd name="T8" fmla="*/ 525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70" y="182"/>
                  </a:moveTo>
                  <a:cubicBezTo>
                    <a:pt x="61" y="148"/>
                    <a:pt x="48" y="115"/>
                    <a:pt x="35" y="95"/>
                  </a:cubicBezTo>
                  <a:cubicBezTo>
                    <a:pt x="10" y="57"/>
                    <a:pt x="0" y="21"/>
                    <a:pt x="29" y="0"/>
                  </a:cubicBezTo>
                  <a:cubicBezTo>
                    <a:pt x="19" y="8"/>
                    <a:pt x="12" y="40"/>
                    <a:pt x="26" y="68"/>
                  </a:cubicBezTo>
                  <a:cubicBezTo>
                    <a:pt x="39" y="96"/>
                    <a:pt x="56" y="125"/>
                    <a:pt x="70" y="1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Freeform 2131">
              <a:extLst>
                <a:ext uri="{FF2B5EF4-FFF2-40B4-BE49-F238E27FC236}">
                  <a16:creationId xmlns:a16="http://schemas.microsoft.com/office/drawing/2014/main" id="{FE4A1241-16DB-2A19-FA91-14E7A4787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5" y="3025"/>
              <a:ext cx="213" cy="699"/>
            </a:xfrm>
            <a:custGeom>
              <a:avLst/>
              <a:gdLst>
                <a:gd name="T0" fmla="*/ 31 w 109"/>
                <a:gd name="T1" fmla="*/ 3000 h 336"/>
                <a:gd name="T2" fmla="*/ 96 w 109"/>
                <a:gd name="T3" fmla="*/ 2467 h 336"/>
                <a:gd name="T4" fmla="*/ 424 w 109"/>
                <a:gd name="T5" fmla="*/ 917 h 336"/>
                <a:gd name="T6" fmla="*/ 432 w 109"/>
                <a:gd name="T7" fmla="*/ 17 h 336"/>
                <a:gd name="T8" fmla="*/ 596 w 109"/>
                <a:gd name="T9" fmla="*/ 73 h 336"/>
                <a:gd name="T10" fmla="*/ 553 w 109"/>
                <a:gd name="T11" fmla="*/ 926 h 336"/>
                <a:gd name="T12" fmla="*/ 156 w 109"/>
                <a:gd name="T13" fmla="*/ 2501 h 336"/>
                <a:gd name="T14" fmla="*/ 31 w 109"/>
                <a:gd name="T15" fmla="*/ 3000 h 336"/>
                <a:gd name="T16" fmla="*/ 31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4" y="333"/>
                  </a:moveTo>
                  <a:cubicBezTo>
                    <a:pt x="15" y="326"/>
                    <a:pt x="10" y="306"/>
                    <a:pt x="13" y="274"/>
                  </a:cubicBezTo>
                  <a:cubicBezTo>
                    <a:pt x="18" y="222"/>
                    <a:pt x="32" y="140"/>
                    <a:pt x="57" y="102"/>
                  </a:cubicBezTo>
                  <a:cubicBezTo>
                    <a:pt x="82" y="64"/>
                    <a:pt x="96" y="10"/>
                    <a:pt x="58" y="2"/>
                  </a:cubicBezTo>
                  <a:cubicBezTo>
                    <a:pt x="63" y="0"/>
                    <a:pt x="74" y="3"/>
                    <a:pt x="80" y="8"/>
                  </a:cubicBezTo>
                  <a:cubicBezTo>
                    <a:pt x="109" y="29"/>
                    <a:pt x="99" y="65"/>
                    <a:pt x="74" y="103"/>
                  </a:cubicBezTo>
                  <a:cubicBezTo>
                    <a:pt x="49" y="141"/>
                    <a:pt x="26" y="226"/>
                    <a:pt x="21" y="278"/>
                  </a:cubicBezTo>
                  <a:cubicBezTo>
                    <a:pt x="17" y="318"/>
                    <a:pt x="16" y="330"/>
                    <a:pt x="4" y="333"/>
                  </a:cubicBezTo>
                  <a:cubicBezTo>
                    <a:pt x="1" y="334"/>
                    <a:pt x="0" y="336"/>
                    <a:pt x="4" y="333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Freeform 2132">
              <a:extLst>
                <a:ext uri="{FF2B5EF4-FFF2-40B4-BE49-F238E27FC236}">
                  <a16:creationId xmlns:a16="http://schemas.microsoft.com/office/drawing/2014/main" id="{A1646884-EFF3-B8FC-A00A-3495DC598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031"/>
              <a:ext cx="168" cy="686"/>
            </a:xfrm>
            <a:custGeom>
              <a:avLst/>
              <a:gdLst>
                <a:gd name="T0" fmla="*/ 61 w 86"/>
                <a:gd name="T1" fmla="*/ 1715 h 330"/>
                <a:gd name="T2" fmla="*/ 225 w 86"/>
                <a:gd name="T3" fmla="*/ 1418 h 330"/>
                <a:gd name="T4" fmla="*/ 148 w 86"/>
                <a:gd name="T5" fmla="*/ 1206 h 330"/>
                <a:gd name="T6" fmla="*/ 111 w 86"/>
                <a:gd name="T7" fmla="*/ 1089 h 330"/>
                <a:gd name="T8" fmla="*/ 352 w 86"/>
                <a:gd name="T9" fmla="*/ 333 h 330"/>
                <a:gd name="T10" fmla="*/ 641 w 86"/>
                <a:gd name="T11" fmla="*/ 0 h 330"/>
                <a:gd name="T12" fmla="*/ 440 w 86"/>
                <a:gd name="T13" fmla="*/ 268 h 330"/>
                <a:gd name="T14" fmla="*/ 260 w 86"/>
                <a:gd name="T15" fmla="*/ 890 h 330"/>
                <a:gd name="T16" fmla="*/ 232 w 86"/>
                <a:gd name="T17" fmla="*/ 1193 h 330"/>
                <a:gd name="T18" fmla="*/ 289 w 86"/>
                <a:gd name="T19" fmla="*/ 1418 h 330"/>
                <a:gd name="T20" fmla="*/ 164 w 86"/>
                <a:gd name="T21" fmla="*/ 1771 h 330"/>
                <a:gd name="T22" fmla="*/ 80 w 86"/>
                <a:gd name="T23" fmla="*/ 2039 h 330"/>
                <a:gd name="T24" fmla="*/ 45 w 86"/>
                <a:gd name="T25" fmla="*/ 2532 h 330"/>
                <a:gd name="T26" fmla="*/ 164 w 86"/>
                <a:gd name="T27" fmla="*/ 2964 h 330"/>
                <a:gd name="T28" fmla="*/ 0 w 86"/>
                <a:gd name="T29" fmla="*/ 2540 h 330"/>
                <a:gd name="T30" fmla="*/ 8 w 86"/>
                <a:gd name="T31" fmla="*/ 1806 h 330"/>
                <a:gd name="T32" fmla="*/ 61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8" y="191"/>
                  </a:moveTo>
                  <a:cubicBezTo>
                    <a:pt x="21" y="187"/>
                    <a:pt x="30" y="172"/>
                    <a:pt x="30" y="158"/>
                  </a:cubicBezTo>
                  <a:cubicBezTo>
                    <a:pt x="30" y="148"/>
                    <a:pt x="26" y="140"/>
                    <a:pt x="20" y="134"/>
                  </a:cubicBezTo>
                  <a:cubicBezTo>
                    <a:pt x="16" y="130"/>
                    <a:pt x="14" y="127"/>
                    <a:pt x="15" y="121"/>
                  </a:cubicBezTo>
                  <a:cubicBezTo>
                    <a:pt x="28" y="81"/>
                    <a:pt x="37" y="56"/>
                    <a:pt x="47" y="37"/>
                  </a:cubicBezTo>
                  <a:cubicBezTo>
                    <a:pt x="57" y="19"/>
                    <a:pt x="71" y="6"/>
                    <a:pt x="86" y="0"/>
                  </a:cubicBezTo>
                  <a:cubicBezTo>
                    <a:pt x="77" y="6"/>
                    <a:pt x="69" y="11"/>
                    <a:pt x="59" y="30"/>
                  </a:cubicBezTo>
                  <a:cubicBezTo>
                    <a:pt x="50" y="47"/>
                    <a:pt x="47" y="63"/>
                    <a:pt x="35" y="99"/>
                  </a:cubicBezTo>
                  <a:cubicBezTo>
                    <a:pt x="31" y="110"/>
                    <a:pt x="25" y="122"/>
                    <a:pt x="31" y="133"/>
                  </a:cubicBezTo>
                  <a:cubicBezTo>
                    <a:pt x="35" y="139"/>
                    <a:pt x="39" y="145"/>
                    <a:pt x="39" y="158"/>
                  </a:cubicBezTo>
                  <a:cubicBezTo>
                    <a:pt x="39" y="180"/>
                    <a:pt x="31" y="191"/>
                    <a:pt x="22" y="197"/>
                  </a:cubicBezTo>
                  <a:cubicBezTo>
                    <a:pt x="13" y="203"/>
                    <a:pt x="11" y="216"/>
                    <a:pt x="11" y="227"/>
                  </a:cubicBezTo>
                  <a:cubicBezTo>
                    <a:pt x="10" y="256"/>
                    <a:pt x="6" y="282"/>
                    <a:pt x="6" y="282"/>
                  </a:cubicBezTo>
                  <a:cubicBezTo>
                    <a:pt x="6" y="302"/>
                    <a:pt x="8" y="320"/>
                    <a:pt x="22" y="330"/>
                  </a:cubicBezTo>
                  <a:cubicBezTo>
                    <a:pt x="7" y="323"/>
                    <a:pt x="0" y="306"/>
                    <a:pt x="0" y="283"/>
                  </a:cubicBezTo>
                  <a:cubicBezTo>
                    <a:pt x="0" y="283"/>
                    <a:pt x="1" y="207"/>
                    <a:pt x="1" y="201"/>
                  </a:cubicBezTo>
                  <a:cubicBezTo>
                    <a:pt x="1" y="195"/>
                    <a:pt x="3" y="193"/>
                    <a:pt x="8" y="191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Freeform 2133">
              <a:extLst>
                <a:ext uri="{FF2B5EF4-FFF2-40B4-BE49-F238E27FC236}">
                  <a16:creationId xmlns:a16="http://schemas.microsoft.com/office/drawing/2014/main" id="{824E0EEB-E406-17DE-381B-564B0E064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1" y="3042"/>
              <a:ext cx="137" cy="378"/>
            </a:xfrm>
            <a:custGeom>
              <a:avLst/>
              <a:gdLst>
                <a:gd name="T0" fmla="*/ 0 w 70"/>
                <a:gd name="T1" fmla="*/ 1630 h 182"/>
                <a:gd name="T2" fmla="*/ 264 w 70"/>
                <a:gd name="T3" fmla="*/ 849 h 182"/>
                <a:gd name="T4" fmla="*/ 307 w 70"/>
                <a:gd name="T5" fmla="*/ 0 h 182"/>
                <a:gd name="T6" fmla="*/ 329 w 70"/>
                <a:gd name="T7" fmla="*/ 609 h 182"/>
                <a:gd name="T8" fmla="*/ 0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0" y="182"/>
                  </a:moveTo>
                  <a:cubicBezTo>
                    <a:pt x="9" y="148"/>
                    <a:pt x="22" y="115"/>
                    <a:pt x="35" y="95"/>
                  </a:cubicBezTo>
                  <a:cubicBezTo>
                    <a:pt x="60" y="57"/>
                    <a:pt x="70" y="21"/>
                    <a:pt x="41" y="0"/>
                  </a:cubicBezTo>
                  <a:cubicBezTo>
                    <a:pt x="51" y="8"/>
                    <a:pt x="58" y="40"/>
                    <a:pt x="44" y="68"/>
                  </a:cubicBezTo>
                  <a:cubicBezTo>
                    <a:pt x="31" y="96"/>
                    <a:pt x="14" y="125"/>
                    <a:pt x="0" y="18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Freeform 2134">
              <a:extLst>
                <a:ext uri="{FF2B5EF4-FFF2-40B4-BE49-F238E27FC236}">
                  <a16:creationId xmlns:a16="http://schemas.microsoft.com/office/drawing/2014/main" id="{3ACCF4B5-9559-F85D-47FB-CC07D9FCE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3283"/>
              <a:ext cx="66" cy="337"/>
            </a:xfrm>
            <a:custGeom>
              <a:avLst/>
              <a:gdLst>
                <a:gd name="T0" fmla="*/ 248 w 34"/>
                <a:gd name="T1" fmla="*/ 1458 h 162"/>
                <a:gd name="T2" fmla="*/ 241 w 34"/>
                <a:gd name="T3" fmla="*/ 718 h 162"/>
                <a:gd name="T4" fmla="*/ 188 w 34"/>
                <a:gd name="T5" fmla="*/ 632 h 162"/>
                <a:gd name="T6" fmla="*/ 31 w 34"/>
                <a:gd name="T7" fmla="*/ 333 h 162"/>
                <a:gd name="T8" fmla="*/ 101 w 34"/>
                <a:gd name="T9" fmla="*/ 116 h 162"/>
                <a:gd name="T10" fmla="*/ 140 w 34"/>
                <a:gd name="T11" fmla="*/ 0 h 162"/>
                <a:gd name="T12" fmla="*/ 80 w 34"/>
                <a:gd name="T13" fmla="*/ 125 h 162"/>
                <a:gd name="T14" fmla="*/ 0 w 34"/>
                <a:gd name="T15" fmla="*/ 341 h 162"/>
                <a:gd name="T16" fmla="*/ 124 w 34"/>
                <a:gd name="T17" fmla="*/ 632 h 162"/>
                <a:gd name="T18" fmla="*/ 225 w 34"/>
                <a:gd name="T19" fmla="*/ 774 h 162"/>
                <a:gd name="T20" fmla="*/ 248 w 34"/>
                <a:gd name="T21" fmla="*/ 1458 h 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" h="162">
                  <a:moveTo>
                    <a:pt x="34" y="162"/>
                  </a:moveTo>
                  <a:cubicBezTo>
                    <a:pt x="34" y="162"/>
                    <a:pt x="33" y="86"/>
                    <a:pt x="33" y="80"/>
                  </a:cubicBezTo>
                  <a:cubicBezTo>
                    <a:pt x="33" y="74"/>
                    <a:pt x="31" y="72"/>
                    <a:pt x="26" y="70"/>
                  </a:cubicBezTo>
                  <a:cubicBezTo>
                    <a:pt x="13" y="66"/>
                    <a:pt x="4" y="51"/>
                    <a:pt x="4" y="37"/>
                  </a:cubicBezTo>
                  <a:cubicBezTo>
                    <a:pt x="4" y="27"/>
                    <a:pt x="8" y="19"/>
                    <a:pt x="14" y="13"/>
                  </a:cubicBezTo>
                  <a:cubicBezTo>
                    <a:pt x="18" y="9"/>
                    <a:pt x="20" y="6"/>
                    <a:pt x="19" y="0"/>
                  </a:cubicBezTo>
                  <a:cubicBezTo>
                    <a:pt x="19" y="3"/>
                    <a:pt x="17" y="7"/>
                    <a:pt x="11" y="14"/>
                  </a:cubicBezTo>
                  <a:cubicBezTo>
                    <a:pt x="4" y="20"/>
                    <a:pt x="0" y="27"/>
                    <a:pt x="0" y="38"/>
                  </a:cubicBezTo>
                  <a:cubicBezTo>
                    <a:pt x="0" y="49"/>
                    <a:pt x="7" y="65"/>
                    <a:pt x="17" y="70"/>
                  </a:cubicBezTo>
                  <a:cubicBezTo>
                    <a:pt x="27" y="75"/>
                    <a:pt x="31" y="78"/>
                    <a:pt x="31" y="86"/>
                  </a:cubicBezTo>
                  <a:cubicBezTo>
                    <a:pt x="32" y="94"/>
                    <a:pt x="34" y="162"/>
                    <a:pt x="34" y="16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Freeform 2135">
              <a:extLst>
                <a:ext uri="{FF2B5EF4-FFF2-40B4-BE49-F238E27FC236}">
                  <a16:creationId xmlns:a16="http://schemas.microsoft.com/office/drawing/2014/main" id="{FEDD40F5-65D3-5D86-9E01-D09C86C15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310"/>
              <a:ext cx="72" cy="310"/>
            </a:xfrm>
            <a:custGeom>
              <a:avLst/>
              <a:gdLst>
                <a:gd name="T0" fmla="*/ 0 w 37"/>
                <a:gd name="T1" fmla="*/ 1342 h 149"/>
                <a:gd name="T2" fmla="*/ 8 w 37"/>
                <a:gd name="T3" fmla="*/ 601 h 149"/>
                <a:gd name="T4" fmla="*/ 60 w 37"/>
                <a:gd name="T5" fmla="*/ 516 h 149"/>
                <a:gd name="T6" fmla="*/ 220 w 37"/>
                <a:gd name="T7" fmla="*/ 216 h 149"/>
                <a:gd name="T8" fmla="*/ 148 w 37"/>
                <a:gd name="T9" fmla="*/ 0 h 149"/>
                <a:gd name="T10" fmla="*/ 220 w 37"/>
                <a:gd name="T11" fmla="*/ 416 h 149"/>
                <a:gd name="T12" fmla="*/ 60 w 37"/>
                <a:gd name="T13" fmla="*/ 568 h 149"/>
                <a:gd name="T14" fmla="*/ 23 w 37"/>
                <a:gd name="T15" fmla="*/ 766 h 149"/>
                <a:gd name="T16" fmla="*/ 0 w 37"/>
                <a:gd name="T17" fmla="*/ 1342 h 1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149">
                  <a:moveTo>
                    <a:pt x="0" y="149"/>
                  </a:moveTo>
                  <a:cubicBezTo>
                    <a:pt x="0" y="149"/>
                    <a:pt x="1" y="73"/>
                    <a:pt x="1" y="67"/>
                  </a:cubicBezTo>
                  <a:cubicBezTo>
                    <a:pt x="1" y="61"/>
                    <a:pt x="3" y="59"/>
                    <a:pt x="8" y="57"/>
                  </a:cubicBezTo>
                  <a:cubicBezTo>
                    <a:pt x="21" y="53"/>
                    <a:pt x="30" y="38"/>
                    <a:pt x="30" y="24"/>
                  </a:cubicBezTo>
                  <a:cubicBezTo>
                    <a:pt x="30" y="14"/>
                    <a:pt x="26" y="6"/>
                    <a:pt x="20" y="0"/>
                  </a:cubicBezTo>
                  <a:cubicBezTo>
                    <a:pt x="33" y="12"/>
                    <a:pt x="37" y="33"/>
                    <a:pt x="30" y="46"/>
                  </a:cubicBezTo>
                  <a:cubicBezTo>
                    <a:pt x="22" y="59"/>
                    <a:pt x="13" y="60"/>
                    <a:pt x="8" y="63"/>
                  </a:cubicBezTo>
                  <a:cubicBezTo>
                    <a:pt x="4" y="65"/>
                    <a:pt x="4" y="73"/>
                    <a:pt x="3" y="85"/>
                  </a:cubicBezTo>
                  <a:cubicBezTo>
                    <a:pt x="3" y="97"/>
                    <a:pt x="0" y="149"/>
                    <a:pt x="0" y="1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Freeform 2136">
              <a:extLst>
                <a:ext uri="{FF2B5EF4-FFF2-40B4-BE49-F238E27FC236}">
                  <a16:creationId xmlns:a16="http://schemas.microsoft.com/office/drawing/2014/main" id="{86DA2DCF-4B46-86F3-BCAE-6C6758304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3042"/>
              <a:ext cx="97" cy="174"/>
            </a:xfrm>
            <a:custGeom>
              <a:avLst/>
              <a:gdLst>
                <a:gd name="T0" fmla="*/ 365 w 50"/>
                <a:gd name="T1" fmla="*/ 0 h 84"/>
                <a:gd name="T2" fmla="*/ 0 w 50"/>
                <a:gd name="T3" fmla="*/ 746 h 84"/>
                <a:gd name="T4" fmla="*/ 365 w 50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84">
                  <a:moveTo>
                    <a:pt x="50" y="0"/>
                  </a:moveTo>
                  <a:cubicBezTo>
                    <a:pt x="38" y="7"/>
                    <a:pt x="21" y="24"/>
                    <a:pt x="0" y="84"/>
                  </a:cubicBezTo>
                  <a:cubicBezTo>
                    <a:pt x="10" y="60"/>
                    <a:pt x="33" y="13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Freeform 2137">
              <a:extLst>
                <a:ext uri="{FF2B5EF4-FFF2-40B4-BE49-F238E27FC236}">
                  <a16:creationId xmlns:a16="http://schemas.microsoft.com/office/drawing/2014/main" id="{7FCF94CB-48AB-C3D2-817B-3B27AE31AC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81" y="3034"/>
              <a:ext cx="279" cy="409"/>
            </a:xfrm>
            <a:custGeom>
              <a:avLst/>
              <a:gdLst>
                <a:gd name="T0" fmla="*/ 499 w 143"/>
                <a:gd name="T1" fmla="*/ 866 h 197"/>
                <a:gd name="T2" fmla="*/ 8 w 143"/>
                <a:gd name="T3" fmla="*/ 0 h 197"/>
                <a:gd name="T4" fmla="*/ 0 w 143"/>
                <a:gd name="T5" fmla="*/ 0 h 197"/>
                <a:gd name="T6" fmla="*/ 236 w 143"/>
                <a:gd name="T7" fmla="*/ 324 h 197"/>
                <a:gd name="T8" fmla="*/ 484 w 143"/>
                <a:gd name="T9" fmla="*/ 1073 h 197"/>
                <a:gd name="T10" fmla="*/ 453 w 143"/>
                <a:gd name="T11" fmla="*/ 1190 h 197"/>
                <a:gd name="T12" fmla="*/ 373 w 143"/>
                <a:gd name="T13" fmla="*/ 1406 h 197"/>
                <a:gd name="T14" fmla="*/ 540 w 143"/>
                <a:gd name="T15" fmla="*/ 1673 h 197"/>
                <a:gd name="T16" fmla="*/ 593 w 143"/>
                <a:gd name="T17" fmla="*/ 1763 h 197"/>
                <a:gd name="T18" fmla="*/ 593 w 143"/>
                <a:gd name="T19" fmla="*/ 1109 h 197"/>
                <a:gd name="T20" fmla="*/ 499 w 143"/>
                <a:gd name="T21" fmla="*/ 866 h 197"/>
                <a:gd name="T22" fmla="*/ 960 w 143"/>
                <a:gd name="T23" fmla="*/ 324 h 197"/>
                <a:gd name="T24" fmla="*/ 1061 w 143"/>
                <a:gd name="T25" fmla="*/ 143 h 197"/>
                <a:gd name="T26" fmla="*/ 1048 w 143"/>
                <a:gd name="T27" fmla="*/ 152 h 197"/>
                <a:gd name="T28" fmla="*/ 704 w 143"/>
                <a:gd name="T29" fmla="*/ 905 h 197"/>
                <a:gd name="T30" fmla="*/ 609 w 143"/>
                <a:gd name="T31" fmla="*/ 1121 h 197"/>
                <a:gd name="T32" fmla="*/ 609 w 143"/>
                <a:gd name="T33" fmla="*/ 1215 h 197"/>
                <a:gd name="T34" fmla="*/ 609 w 143"/>
                <a:gd name="T35" fmla="*/ 1763 h 197"/>
                <a:gd name="T36" fmla="*/ 661 w 143"/>
                <a:gd name="T37" fmla="*/ 1673 h 197"/>
                <a:gd name="T38" fmla="*/ 825 w 143"/>
                <a:gd name="T39" fmla="*/ 1406 h 197"/>
                <a:gd name="T40" fmla="*/ 749 w 143"/>
                <a:gd name="T41" fmla="*/ 1190 h 197"/>
                <a:gd name="T42" fmla="*/ 720 w 143"/>
                <a:gd name="T43" fmla="*/ 1146 h 197"/>
                <a:gd name="T44" fmla="*/ 712 w 143"/>
                <a:gd name="T45" fmla="*/ 1146 h 197"/>
                <a:gd name="T46" fmla="*/ 704 w 143"/>
                <a:gd name="T47" fmla="*/ 1146 h 197"/>
                <a:gd name="T48" fmla="*/ 712 w 143"/>
                <a:gd name="T49" fmla="*/ 1138 h 197"/>
                <a:gd name="T50" fmla="*/ 712 w 143"/>
                <a:gd name="T51" fmla="*/ 1073 h 197"/>
                <a:gd name="T52" fmla="*/ 960 w 143"/>
                <a:gd name="T53" fmla="*/ 324 h 19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43" h="197">
                  <a:moveTo>
                    <a:pt x="67" y="97"/>
                  </a:moveTo>
                  <a:cubicBezTo>
                    <a:pt x="61" y="67"/>
                    <a:pt x="30" y="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8"/>
                    <a:pt x="24" y="21"/>
                    <a:pt x="32" y="36"/>
                  </a:cubicBezTo>
                  <a:cubicBezTo>
                    <a:pt x="43" y="55"/>
                    <a:pt x="53" y="80"/>
                    <a:pt x="65" y="120"/>
                  </a:cubicBezTo>
                  <a:cubicBezTo>
                    <a:pt x="67" y="126"/>
                    <a:pt x="65" y="129"/>
                    <a:pt x="61" y="133"/>
                  </a:cubicBezTo>
                  <a:cubicBezTo>
                    <a:pt x="54" y="139"/>
                    <a:pt x="50" y="147"/>
                    <a:pt x="50" y="157"/>
                  </a:cubicBezTo>
                  <a:cubicBezTo>
                    <a:pt x="50" y="171"/>
                    <a:pt x="60" y="183"/>
                    <a:pt x="73" y="187"/>
                  </a:cubicBezTo>
                  <a:cubicBezTo>
                    <a:pt x="78" y="189"/>
                    <a:pt x="80" y="191"/>
                    <a:pt x="80" y="197"/>
                  </a:cubicBezTo>
                  <a:cubicBezTo>
                    <a:pt x="80" y="124"/>
                    <a:pt x="80" y="124"/>
                    <a:pt x="80" y="124"/>
                  </a:cubicBezTo>
                  <a:cubicBezTo>
                    <a:pt x="69" y="117"/>
                    <a:pt x="69" y="107"/>
                    <a:pt x="67" y="97"/>
                  </a:cubicBezTo>
                  <a:close/>
                  <a:moveTo>
                    <a:pt x="129" y="36"/>
                  </a:moveTo>
                  <a:cubicBezTo>
                    <a:pt x="133" y="29"/>
                    <a:pt x="138" y="22"/>
                    <a:pt x="143" y="16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28" y="27"/>
                    <a:pt x="110" y="52"/>
                    <a:pt x="95" y="101"/>
                  </a:cubicBezTo>
                  <a:cubicBezTo>
                    <a:pt x="86" y="128"/>
                    <a:pt x="82" y="125"/>
                    <a:pt x="82" y="125"/>
                  </a:cubicBezTo>
                  <a:cubicBezTo>
                    <a:pt x="82" y="132"/>
                    <a:pt x="82" y="136"/>
                    <a:pt x="82" y="136"/>
                  </a:cubicBezTo>
                  <a:cubicBezTo>
                    <a:pt x="82" y="197"/>
                    <a:pt x="82" y="197"/>
                    <a:pt x="82" y="197"/>
                  </a:cubicBezTo>
                  <a:cubicBezTo>
                    <a:pt x="82" y="191"/>
                    <a:pt x="84" y="189"/>
                    <a:pt x="89" y="187"/>
                  </a:cubicBezTo>
                  <a:cubicBezTo>
                    <a:pt x="102" y="183"/>
                    <a:pt x="111" y="171"/>
                    <a:pt x="111" y="157"/>
                  </a:cubicBezTo>
                  <a:cubicBezTo>
                    <a:pt x="111" y="147"/>
                    <a:pt x="107" y="139"/>
                    <a:pt x="101" y="133"/>
                  </a:cubicBezTo>
                  <a:cubicBezTo>
                    <a:pt x="99" y="132"/>
                    <a:pt x="98" y="130"/>
                    <a:pt x="97" y="128"/>
                  </a:cubicBezTo>
                  <a:cubicBezTo>
                    <a:pt x="97" y="128"/>
                    <a:pt x="96" y="128"/>
                    <a:pt x="96" y="128"/>
                  </a:cubicBezTo>
                  <a:cubicBezTo>
                    <a:pt x="96" y="128"/>
                    <a:pt x="96" y="128"/>
                    <a:pt x="95" y="128"/>
                  </a:cubicBezTo>
                  <a:cubicBezTo>
                    <a:pt x="96" y="127"/>
                    <a:pt x="96" y="127"/>
                    <a:pt x="96" y="127"/>
                  </a:cubicBezTo>
                  <a:cubicBezTo>
                    <a:pt x="95" y="125"/>
                    <a:pt x="95" y="122"/>
                    <a:pt x="96" y="120"/>
                  </a:cubicBezTo>
                  <a:cubicBezTo>
                    <a:pt x="109" y="80"/>
                    <a:pt x="119" y="55"/>
                    <a:pt x="129" y="36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Freeform 2138">
              <a:extLst>
                <a:ext uri="{FF2B5EF4-FFF2-40B4-BE49-F238E27FC236}">
                  <a16:creationId xmlns:a16="http://schemas.microsoft.com/office/drawing/2014/main" id="{F74875D8-AFFB-0C94-39E8-8F644E95E9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3042"/>
              <a:ext cx="101" cy="208"/>
            </a:xfrm>
            <a:custGeom>
              <a:avLst/>
              <a:gdLst>
                <a:gd name="T0" fmla="*/ 381 w 52"/>
                <a:gd name="T1" fmla="*/ 0 h 100"/>
                <a:gd name="T2" fmla="*/ 16 w 52"/>
                <a:gd name="T3" fmla="*/ 476 h 100"/>
                <a:gd name="T4" fmla="*/ 8 w 52"/>
                <a:gd name="T5" fmla="*/ 901 h 100"/>
                <a:gd name="T6" fmla="*/ 95 w 52"/>
                <a:gd name="T7" fmla="*/ 376 h 100"/>
                <a:gd name="T8" fmla="*/ 381 w 52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100">
                  <a:moveTo>
                    <a:pt x="52" y="0"/>
                  </a:moveTo>
                  <a:cubicBezTo>
                    <a:pt x="36" y="6"/>
                    <a:pt x="7" y="31"/>
                    <a:pt x="2" y="53"/>
                  </a:cubicBezTo>
                  <a:cubicBezTo>
                    <a:pt x="0" y="60"/>
                    <a:pt x="1" y="77"/>
                    <a:pt x="1" y="100"/>
                  </a:cubicBezTo>
                  <a:cubicBezTo>
                    <a:pt x="2" y="85"/>
                    <a:pt x="2" y="63"/>
                    <a:pt x="13" y="42"/>
                  </a:cubicBezTo>
                  <a:cubicBezTo>
                    <a:pt x="25" y="20"/>
                    <a:pt x="52" y="0"/>
                    <a:pt x="52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 2139">
              <a:extLst>
                <a:ext uri="{FF2B5EF4-FFF2-40B4-BE49-F238E27FC236}">
                  <a16:creationId xmlns:a16="http://schemas.microsoft.com/office/drawing/2014/main" id="{31F55E98-DB60-A56C-2FE3-05F85315D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Freeform 2140">
              <a:extLst>
                <a:ext uri="{FF2B5EF4-FFF2-40B4-BE49-F238E27FC236}">
                  <a16:creationId xmlns:a16="http://schemas.microsoft.com/office/drawing/2014/main" id="{4470194B-D729-45BC-A8CE-996DE28491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3" name="Freeform 2141">
              <a:extLst>
                <a:ext uri="{FF2B5EF4-FFF2-40B4-BE49-F238E27FC236}">
                  <a16:creationId xmlns:a16="http://schemas.microsoft.com/office/drawing/2014/main" id="{E555AF5A-5688-FAE3-0D5A-74C7D4730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Freeform 2142">
              <a:extLst>
                <a:ext uri="{FF2B5EF4-FFF2-40B4-BE49-F238E27FC236}">
                  <a16:creationId xmlns:a16="http://schemas.microsoft.com/office/drawing/2014/main" id="{CDF7996D-5A0E-68BF-26FE-D0235DAF6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" name="Freeform 2143">
              <a:extLst>
                <a:ext uri="{FF2B5EF4-FFF2-40B4-BE49-F238E27FC236}">
                  <a16:creationId xmlns:a16="http://schemas.microsoft.com/office/drawing/2014/main" id="{25F908A5-B3D2-E026-1038-5D9B8462D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6" name="CuadroTexto 185">
            <a:extLst>
              <a:ext uri="{FF2B5EF4-FFF2-40B4-BE49-F238E27FC236}">
                <a16:creationId xmlns:a16="http://schemas.microsoft.com/office/drawing/2014/main" id="{DDFB2980-E3E3-D5FD-2E46-E67BFA9F11F5}"/>
              </a:ext>
            </a:extLst>
          </p:cNvPr>
          <p:cNvSpPr txBox="1"/>
          <p:nvPr/>
        </p:nvSpPr>
        <p:spPr>
          <a:xfrm>
            <a:off x="2330542" y="1482545"/>
            <a:ext cx="1000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GLUT4</a:t>
            </a:r>
          </a:p>
          <a:p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(insulina)</a:t>
            </a:r>
          </a:p>
        </p:txBody>
      </p:sp>
      <p:cxnSp>
        <p:nvCxnSpPr>
          <p:cNvPr id="1024" name="Conector: curvado 1023">
            <a:extLst>
              <a:ext uri="{FF2B5EF4-FFF2-40B4-BE49-F238E27FC236}">
                <a16:creationId xmlns:a16="http://schemas.microsoft.com/office/drawing/2014/main" id="{B664F84F-6F7B-6445-BFE6-F2ABFFA571F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396221" y="2164747"/>
            <a:ext cx="1220062" cy="41762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8" name="CuadroTexto 1037">
            <a:extLst>
              <a:ext uri="{FF2B5EF4-FFF2-40B4-BE49-F238E27FC236}">
                <a16:creationId xmlns:a16="http://schemas.microsoft.com/office/drawing/2014/main" id="{4CD77234-6735-8649-FB8B-46EEF227B446}"/>
              </a:ext>
            </a:extLst>
          </p:cNvPr>
          <p:cNvSpPr txBox="1"/>
          <p:nvPr/>
        </p:nvSpPr>
        <p:spPr>
          <a:xfrm>
            <a:off x="-74434" y="277891"/>
            <a:ext cx="19191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Reposo/Ejercicio moderado</a:t>
            </a:r>
          </a:p>
        </p:txBody>
      </p:sp>
      <p:sp>
        <p:nvSpPr>
          <p:cNvPr id="1039" name="CuadroTexto 1038">
            <a:extLst>
              <a:ext uri="{FF2B5EF4-FFF2-40B4-BE49-F238E27FC236}">
                <a16:creationId xmlns:a16="http://schemas.microsoft.com/office/drawing/2014/main" id="{697B02F5-3452-05DA-16DD-549498D47C12}"/>
              </a:ext>
            </a:extLst>
          </p:cNvPr>
          <p:cNvSpPr txBox="1"/>
          <p:nvPr/>
        </p:nvSpPr>
        <p:spPr>
          <a:xfrm>
            <a:off x="1790685" y="280037"/>
            <a:ext cx="19736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 intenso (anaerobio)</a:t>
            </a:r>
          </a:p>
        </p:txBody>
      </p:sp>
      <p:sp>
        <p:nvSpPr>
          <p:cNvPr id="1040" name="CuadroTexto 1039">
            <a:extLst>
              <a:ext uri="{FF2B5EF4-FFF2-40B4-BE49-F238E27FC236}">
                <a16:creationId xmlns:a16="http://schemas.microsoft.com/office/drawing/2014/main" id="{0FAE4B5C-E74C-AE74-C357-883616AE6FD3}"/>
              </a:ext>
            </a:extLst>
          </p:cNvPr>
          <p:cNvSpPr txBox="1"/>
          <p:nvPr/>
        </p:nvSpPr>
        <p:spPr>
          <a:xfrm>
            <a:off x="349559" y="660941"/>
            <a:ext cx="10711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Ácidos grasos</a:t>
            </a:r>
          </a:p>
        </p:txBody>
      </p:sp>
      <p:sp>
        <p:nvSpPr>
          <p:cNvPr id="1041" name="CuadroTexto 1040">
            <a:extLst>
              <a:ext uri="{FF2B5EF4-FFF2-40B4-BE49-F238E27FC236}">
                <a16:creationId xmlns:a16="http://schemas.microsoft.com/office/drawing/2014/main" id="{9FDD34D7-1EB9-772A-190F-82CE4A4A95AD}"/>
              </a:ext>
            </a:extLst>
          </p:cNvPr>
          <p:cNvSpPr txBox="1"/>
          <p:nvPr/>
        </p:nvSpPr>
        <p:spPr>
          <a:xfrm>
            <a:off x="458562" y="1713377"/>
            <a:ext cx="8531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45" name="Conector recto de flecha 1044">
            <a:extLst>
              <a:ext uri="{FF2B5EF4-FFF2-40B4-BE49-F238E27FC236}">
                <a16:creationId xmlns:a16="http://schemas.microsoft.com/office/drawing/2014/main" id="{FB0AC151-303E-02D5-5329-253C79427690}"/>
              </a:ext>
            </a:extLst>
          </p:cNvPr>
          <p:cNvCxnSpPr>
            <a:stCxn id="1040" idx="2"/>
            <a:endCxn id="1041" idx="0"/>
          </p:cNvCxnSpPr>
          <p:nvPr/>
        </p:nvCxnSpPr>
        <p:spPr>
          <a:xfrm flipH="1">
            <a:off x="885122" y="922551"/>
            <a:ext cx="1" cy="7908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6" name="CuadroTexto 1045">
            <a:extLst>
              <a:ext uri="{FF2B5EF4-FFF2-40B4-BE49-F238E27FC236}">
                <a16:creationId xmlns:a16="http://schemas.microsoft.com/office/drawing/2014/main" id="{DC8066E4-AD46-B6EE-9C5F-700C5564EBD1}"/>
              </a:ext>
            </a:extLst>
          </p:cNvPr>
          <p:cNvSpPr txBox="1"/>
          <p:nvPr/>
        </p:nvSpPr>
        <p:spPr>
          <a:xfrm>
            <a:off x="80365" y="916917"/>
            <a:ext cx="9401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-oxidación</a:t>
            </a:r>
          </a:p>
        </p:txBody>
      </p:sp>
      <p:sp>
        <p:nvSpPr>
          <p:cNvPr id="1047" name="CuadroTexto 1046">
            <a:extLst>
              <a:ext uri="{FF2B5EF4-FFF2-40B4-BE49-F238E27FC236}">
                <a16:creationId xmlns:a16="http://schemas.microsoft.com/office/drawing/2014/main" id="{CD9650A7-517F-A01D-F9B3-93442E2E2893}"/>
              </a:ext>
            </a:extLst>
          </p:cNvPr>
          <p:cNvSpPr txBox="1"/>
          <p:nvPr/>
        </p:nvSpPr>
        <p:spPr>
          <a:xfrm>
            <a:off x="0" y="2163589"/>
            <a:ext cx="1289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s-ES" sz="9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Cetólisis</a:t>
            </a:r>
            <a:r>
              <a:rPr lang="es-ES" sz="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(↓)</a:t>
            </a:r>
          </a:p>
          <a:p>
            <a:r>
              <a:rPr lang="es-ES" sz="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AA (BCAA, ayuno)</a:t>
            </a:r>
          </a:p>
        </p:txBody>
      </p:sp>
      <p:sp>
        <p:nvSpPr>
          <p:cNvPr id="1048" name="CuadroTexto 1047">
            <a:extLst>
              <a:ext uri="{FF2B5EF4-FFF2-40B4-BE49-F238E27FC236}">
                <a16:creationId xmlns:a16="http://schemas.microsoft.com/office/drawing/2014/main" id="{B784F949-479A-C891-9781-AE73BCA57AE9}"/>
              </a:ext>
            </a:extLst>
          </p:cNvPr>
          <p:cNvSpPr txBox="1"/>
          <p:nvPr/>
        </p:nvSpPr>
        <p:spPr>
          <a:xfrm>
            <a:off x="2506426" y="608966"/>
            <a:ext cx="702436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</a:p>
        </p:txBody>
      </p:sp>
      <p:cxnSp>
        <p:nvCxnSpPr>
          <p:cNvPr id="1049" name="Conector: curvado 1048">
            <a:extLst>
              <a:ext uri="{FF2B5EF4-FFF2-40B4-BE49-F238E27FC236}">
                <a16:creationId xmlns:a16="http://schemas.microsoft.com/office/drawing/2014/main" id="{6AE21FB6-66B0-B7E0-5EC1-DB19D6C45510}"/>
              </a:ext>
            </a:extLst>
          </p:cNvPr>
          <p:cNvCxnSpPr>
            <a:cxnSpLocks/>
            <a:stCxn id="163" idx="0"/>
            <a:endCxn id="1048" idx="1"/>
          </p:cNvCxnSpPr>
          <p:nvPr/>
        </p:nvCxnSpPr>
        <p:spPr>
          <a:xfrm rot="5400000" flipH="1" flipV="1">
            <a:off x="2042917" y="541537"/>
            <a:ext cx="265275" cy="66174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2" name="CuadroTexto 1051">
            <a:extLst>
              <a:ext uri="{FF2B5EF4-FFF2-40B4-BE49-F238E27FC236}">
                <a16:creationId xmlns:a16="http://schemas.microsoft.com/office/drawing/2014/main" id="{D19D75EC-848B-A1C4-F8FE-F33750EEECC3}"/>
              </a:ext>
            </a:extLst>
          </p:cNvPr>
          <p:cNvSpPr txBox="1"/>
          <p:nvPr/>
        </p:nvSpPr>
        <p:spPr>
          <a:xfrm>
            <a:off x="1768189" y="514173"/>
            <a:ext cx="9401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Glucogenólisis</a:t>
            </a:r>
          </a:p>
        </p:txBody>
      </p:sp>
      <p:sp>
        <p:nvSpPr>
          <p:cNvPr id="1053" name="CuadroTexto 1052">
            <a:extLst>
              <a:ext uri="{FF2B5EF4-FFF2-40B4-BE49-F238E27FC236}">
                <a16:creationId xmlns:a16="http://schemas.microsoft.com/office/drawing/2014/main" id="{E62CE7A5-6A1D-9CFD-44C8-FA6FA31AAD01}"/>
              </a:ext>
            </a:extLst>
          </p:cNvPr>
          <p:cNvSpPr txBox="1"/>
          <p:nvPr/>
        </p:nvSpPr>
        <p:spPr>
          <a:xfrm>
            <a:off x="2979540" y="1032063"/>
            <a:ext cx="646331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Lactato</a:t>
            </a:r>
          </a:p>
        </p:txBody>
      </p:sp>
      <p:cxnSp>
        <p:nvCxnSpPr>
          <p:cNvPr id="1054" name="Conector: curvado 1053">
            <a:extLst>
              <a:ext uri="{FF2B5EF4-FFF2-40B4-BE49-F238E27FC236}">
                <a16:creationId xmlns:a16="http://schemas.microsoft.com/office/drawing/2014/main" id="{A871B329-DDDE-22FC-75D3-AD58A56A7295}"/>
              </a:ext>
            </a:extLst>
          </p:cNvPr>
          <p:cNvCxnSpPr>
            <a:cxnSpLocks/>
            <a:stCxn id="1048" idx="3"/>
            <a:endCxn id="1053" idx="0"/>
          </p:cNvCxnSpPr>
          <p:nvPr/>
        </p:nvCxnSpPr>
        <p:spPr>
          <a:xfrm>
            <a:off x="3208862" y="739771"/>
            <a:ext cx="93844" cy="29229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7" name="CuadroTexto 1056">
            <a:extLst>
              <a:ext uri="{FF2B5EF4-FFF2-40B4-BE49-F238E27FC236}">
                <a16:creationId xmlns:a16="http://schemas.microsoft.com/office/drawing/2014/main" id="{90DC742E-5908-F938-CD96-EFC7CF9EA6AB}"/>
              </a:ext>
            </a:extLst>
          </p:cNvPr>
          <p:cNvSpPr txBox="1"/>
          <p:nvPr/>
        </p:nvSpPr>
        <p:spPr>
          <a:xfrm>
            <a:off x="2068679" y="825662"/>
            <a:ext cx="12948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Fermentación láctica</a:t>
            </a:r>
          </a:p>
        </p:txBody>
      </p:sp>
      <p:cxnSp>
        <p:nvCxnSpPr>
          <p:cNvPr id="1061" name="Conector recto de flecha 1060">
            <a:extLst>
              <a:ext uri="{FF2B5EF4-FFF2-40B4-BE49-F238E27FC236}">
                <a16:creationId xmlns:a16="http://schemas.microsoft.com/office/drawing/2014/main" id="{2C5C50D4-FD2E-F29A-A475-4FFFF6C58E59}"/>
              </a:ext>
            </a:extLst>
          </p:cNvPr>
          <p:cNvCxnSpPr>
            <a:cxnSpLocks/>
            <a:stCxn id="1053" idx="2"/>
          </p:cNvCxnSpPr>
          <p:nvPr/>
        </p:nvCxnSpPr>
        <p:spPr>
          <a:xfrm>
            <a:off x="3302706" y="1293673"/>
            <a:ext cx="8204" cy="1092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4" name="CuadroTexto 1063">
            <a:extLst>
              <a:ext uri="{FF2B5EF4-FFF2-40B4-BE49-F238E27FC236}">
                <a16:creationId xmlns:a16="http://schemas.microsoft.com/office/drawing/2014/main" id="{D07E736E-994A-1DC5-769C-B9330438EC3F}"/>
              </a:ext>
            </a:extLst>
          </p:cNvPr>
          <p:cNvSpPr txBox="1"/>
          <p:nvPr/>
        </p:nvSpPr>
        <p:spPr>
          <a:xfrm>
            <a:off x="2587026" y="1808719"/>
            <a:ext cx="65755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Alanina</a:t>
            </a:r>
          </a:p>
        </p:txBody>
      </p:sp>
      <p:cxnSp>
        <p:nvCxnSpPr>
          <p:cNvPr id="1065" name="Conector recto de flecha 1064">
            <a:extLst>
              <a:ext uri="{FF2B5EF4-FFF2-40B4-BE49-F238E27FC236}">
                <a16:creationId xmlns:a16="http://schemas.microsoft.com/office/drawing/2014/main" id="{63820FA1-F8B4-18A7-3474-1EFD45DE7A50}"/>
              </a:ext>
            </a:extLst>
          </p:cNvPr>
          <p:cNvCxnSpPr>
            <a:cxnSpLocks/>
            <a:stCxn id="1064" idx="2"/>
          </p:cNvCxnSpPr>
          <p:nvPr/>
        </p:nvCxnSpPr>
        <p:spPr>
          <a:xfrm>
            <a:off x="2915802" y="2070329"/>
            <a:ext cx="8366" cy="377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69" name="Picture 4" descr="technical anatomical line-art drawing of the human brain, isolated on pure white background, clean black contour lines only, no shading, no color, no gradients, schematic and professional for a medical textbook">
            <a:extLst>
              <a:ext uri="{FF2B5EF4-FFF2-40B4-BE49-F238E27FC236}">
                <a16:creationId xmlns:a16="http://schemas.microsoft.com/office/drawing/2014/main" id="{22786964-6690-6334-E4BF-284B419D21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07" b="24675"/>
          <a:stretch>
            <a:fillRect/>
          </a:stretch>
        </p:blipFill>
        <p:spPr bwMode="auto">
          <a:xfrm>
            <a:off x="626665" y="6656273"/>
            <a:ext cx="2149147" cy="172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70" name="Group 2122">
            <a:extLst>
              <a:ext uri="{FF2B5EF4-FFF2-40B4-BE49-F238E27FC236}">
                <a16:creationId xmlns:a16="http://schemas.microsoft.com/office/drawing/2014/main" id="{74589159-9659-A7B1-A9FA-42288EAF8E5C}"/>
              </a:ext>
            </a:extLst>
          </p:cNvPr>
          <p:cNvGrpSpPr>
            <a:grpSpLocks/>
          </p:cNvGrpSpPr>
          <p:nvPr/>
        </p:nvGrpSpPr>
        <p:grpSpPr bwMode="auto">
          <a:xfrm>
            <a:off x="2195972" y="6014703"/>
            <a:ext cx="217354" cy="177269"/>
            <a:chOff x="1931" y="2992"/>
            <a:chExt cx="614" cy="738"/>
          </a:xfrm>
        </p:grpSpPr>
        <p:sp>
          <p:nvSpPr>
            <p:cNvPr id="1071" name="Freeform 2123">
              <a:extLst>
                <a:ext uri="{FF2B5EF4-FFF2-40B4-BE49-F238E27FC236}">
                  <a16:creationId xmlns:a16="http://schemas.microsoft.com/office/drawing/2014/main" id="{7DD4370D-3277-8879-CC18-62BBD10C98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" name="Freeform 2124">
              <a:extLst>
                <a:ext uri="{FF2B5EF4-FFF2-40B4-BE49-F238E27FC236}">
                  <a16:creationId xmlns:a16="http://schemas.microsoft.com/office/drawing/2014/main" id="{B59991AA-416F-73FD-FEB0-A151C3963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" name="Freeform 2125">
              <a:extLst>
                <a:ext uri="{FF2B5EF4-FFF2-40B4-BE49-F238E27FC236}">
                  <a16:creationId xmlns:a16="http://schemas.microsoft.com/office/drawing/2014/main" id="{34C81C63-5DE4-76F3-10C4-4FD9B37B46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" name="Freeform 2126">
              <a:extLst>
                <a:ext uri="{FF2B5EF4-FFF2-40B4-BE49-F238E27FC236}">
                  <a16:creationId xmlns:a16="http://schemas.microsoft.com/office/drawing/2014/main" id="{9AC7A792-EEBE-F421-A4E0-394BC553E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" name="Freeform 2127">
              <a:extLst>
                <a:ext uri="{FF2B5EF4-FFF2-40B4-BE49-F238E27FC236}">
                  <a16:creationId xmlns:a16="http://schemas.microsoft.com/office/drawing/2014/main" id="{42F5E9D1-B25C-2140-8500-C4F97BB99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" name="Freeform 2128">
              <a:extLst>
                <a:ext uri="{FF2B5EF4-FFF2-40B4-BE49-F238E27FC236}">
                  <a16:creationId xmlns:a16="http://schemas.microsoft.com/office/drawing/2014/main" id="{046AD102-4445-F275-AE34-CF897C3C01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25"/>
              <a:ext cx="213" cy="699"/>
            </a:xfrm>
            <a:custGeom>
              <a:avLst/>
              <a:gdLst>
                <a:gd name="T0" fmla="*/ 784 w 109"/>
                <a:gd name="T1" fmla="*/ 3000 h 336"/>
                <a:gd name="T2" fmla="*/ 717 w 109"/>
                <a:gd name="T3" fmla="*/ 2467 h 336"/>
                <a:gd name="T4" fmla="*/ 389 w 109"/>
                <a:gd name="T5" fmla="*/ 917 h 336"/>
                <a:gd name="T6" fmla="*/ 381 w 109"/>
                <a:gd name="T7" fmla="*/ 17 h 336"/>
                <a:gd name="T8" fmla="*/ 217 w 109"/>
                <a:gd name="T9" fmla="*/ 73 h 336"/>
                <a:gd name="T10" fmla="*/ 260 w 109"/>
                <a:gd name="T11" fmla="*/ 926 h 336"/>
                <a:gd name="T12" fmla="*/ 657 w 109"/>
                <a:gd name="T13" fmla="*/ 2501 h 336"/>
                <a:gd name="T14" fmla="*/ 784 w 109"/>
                <a:gd name="T15" fmla="*/ 3000 h 336"/>
                <a:gd name="T16" fmla="*/ 784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105" y="333"/>
                  </a:moveTo>
                  <a:cubicBezTo>
                    <a:pt x="94" y="326"/>
                    <a:pt x="99" y="306"/>
                    <a:pt x="96" y="274"/>
                  </a:cubicBezTo>
                  <a:cubicBezTo>
                    <a:pt x="91" y="222"/>
                    <a:pt x="77" y="140"/>
                    <a:pt x="52" y="102"/>
                  </a:cubicBezTo>
                  <a:cubicBezTo>
                    <a:pt x="27" y="64"/>
                    <a:pt x="13" y="10"/>
                    <a:pt x="51" y="2"/>
                  </a:cubicBezTo>
                  <a:cubicBezTo>
                    <a:pt x="46" y="0"/>
                    <a:pt x="35" y="3"/>
                    <a:pt x="29" y="8"/>
                  </a:cubicBezTo>
                  <a:cubicBezTo>
                    <a:pt x="0" y="29"/>
                    <a:pt x="10" y="65"/>
                    <a:pt x="35" y="103"/>
                  </a:cubicBezTo>
                  <a:cubicBezTo>
                    <a:pt x="60" y="141"/>
                    <a:pt x="83" y="226"/>
                    <a:pt x="88" y="278"/>
                  </a:cubicBezTo>
                  <a:cubicBezTo>
                    <a:pt x="92" y="318"/>
                    <a:pt x="93" y="330"/>
                    <a:pt x="105" y="333"/>
                  </a:cubicBezTo>
                  <a:cubicBezTo>
                    <a:pt x="108" y="334"/>
                    <a:pt x="109" y="336"/>
                    <a:pt x="105" y="333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" name="Freeform 2129">
              <a:extLst>
                <a:ext uri="{FF2B5EF4-FFF2-40B4-BE49-F238E27FC236}">
                  <a16:creationId xmlns:a16="http://schemas.microsoft.com/office/drawing/2014/main" id="{6D339092-ABD5-DA84-5CDC-8B921B9F3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3031"/>
              <a:ext cx="168" cy="686"/>
            </a:xfrm>
            <a:custGeom>
              <a:avLst/>
              <a:gdLst>
                <a:gd name="T0" fmla="*/ 580 w 86"/>
                <a:gd name="T1" fmla="*/ 1715 h 330"/>
                <a:gd name="T2" fmla="*/ 416 w 86"/>
                <a:gd name="T3" fmla="*/ 1418 h 330"/>
                <a:gd name="T4" fmla="*/ 492 w 86"/>
                <a:gd name="T5" fmla="*/ 1206 h 330"/>
                <a:gd name="T6" fmla="*/ 531 w 86"/>
                <a:gd name="T7" fmla="*/ 1089 h 330"/>
                <a:gd name="T8" fmla="*/ 289 w 86"/>
                <a:gd name="T9" fmla="*/ 333 h 330"/>
                <a:gd name="T10" fmla="*/ 0 w 86"/>
                <a:gd name="T11" fmla="*/ 0 h 330"/>
                <a:gd name="T12" fmla="*/ 203 w 86"/>
                <a:gd name="T13" fmla="*/ 268 h 330"/>
                <a:gd name="T14" fmla="*/ 381 w 86"/>
                <a:gd name="T15" fmla="*/ 890 h 330"/>
                <a:gd name="T16" fmla="*/ 408 w 86"/>
                <a:gd name="T17" fmla="*/ 1193 h 330"/>
                <a:gd name="T18" fmla="*/ 352 w 86"/>
                <a:gd name="T19" fmla="*/ 1418 h 330"/>
                <a:gd name="T20" fmla="*/ 477 w 86"/>
                <a:gd name="T21" fmla="*/ 1771 h 330"/>
                <a:gd name="T22" fmla="*/ 565 w 86"/>
                <a:gd name="T23" fmla="*/ 2039 h 330"/>
                <a:gd name="T24" fmla="*/ 596 w 86"/>
                <a:gd name="T25" fmla="*/ 2532 h 330"/>
                <a:gd name="T26" fmla="*/ 477 w 86"/>
                <a:gd name="T27" fmla="*/ 2964 h 330"/>
                <a:gd name="T28" fmla="*/ 641 w 86"/>
                <a:gd name="T29" fmla="*/ 2540 h 330"/>
                <a:gd name="T30" fmla="*/ 633 w 86"/>
                <a:gd name="T31" fmla="*/ 1806 h 330"/>
                <a:gd name="T32" fmla="*/ 580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78" y="191"/>
                  </a:moveTo>
                  <a:cubicBezTo>
                    <a:pt x="65" y="187"/>
                    <a:pt x="56" y="172"/>
                    <a:pt x="56" y="158"/>
                  </a:cubicBezTo>
                  <a:cubicBezTo>
                    <a:pt x="56" y="148"/>
                    <a:pt x="60" y="140"/>
                    <a:pt x="66" y="134"/>
                  </a:cubicBezTo>
                  <a:cubicBezTo>
                    <a:pt x="70" y="130"/>
                    <a:pt x="72" y="127"/>
                    <a:pt x="71" y="121"/>
                  </a:cubicBezTo>
                  <a:cubicBezTo>
                    <a:pt x="58" y="81"/>
                    <a:pt x="49" y="56"/>
                    <a:pt x="39" y="37"/>
                  </a:cubicBezTo>
                  <a:cubicBezTo>
                    <a:pt x="29" y="19"/>
                    <a:pt x="15" y="6"/>
                    <a:pt x="0" y="0"/>
                  </a:cubicBezTo>
                  <a:cubicBezTo>
                    <a:pt x="9" y="6"/>
                    <a:pt x="17" y="11"/>
                    <a:pt x="27" y="30"/>
                  </a:cubicBezTo>
                  <a:cubicBezTo>
                    <a:pt x="36" y="47"/>
                    <a:pt x="40" y="63"/>
                    <a:pt x="51" y="99"/>
                  </a:cubicBezTo>
                  <a:cubicBezTo>
                    <a:pt x="55" y="110"/>
                    <a:pt x="61" y="122"/>
                    <a:pt x="55" y="133"/>
                  </a:cubicBezTo>
                  <a:cubicBezTo>
                    <a:pt x="51" y="139"/>
                    <a:pt x="47" y="145"/>
                    <a:pt x="47" y="158"/>
                  </a:cubicBezTo>
                  <a:cubicBezTo>
                    <a:pt x="47" y="180"/>
                    <a:pt x="55" y="191"/>
                    <a:pt x="64" y="197"/>
                  </a:cubicBezTo>
                  <a:cubicBezTo>
                    <a:pt x="73" y="203"/>
                    <a:pt x="75" y="216"/>
                    <a:pt x="76" y="227"/>
                  </a:cubicBezTo>
                  <a:cubicBezTo>
                    <a:pt x="76" y="256"/>
                    <a:pt x="80" y="282"/>
                    <a:pt x="80" y="282"/>
                  </a:cubicBezTo>
                  <a:cubicBezTo>
                    <a:pt x="80" y="302"/>
                    <a:pt x="78" y="320"/>
                    <a:pt x="64" y="330"/>
                  </a:cubicBezTo>
                  <a:cubicBezTo>
                    <a:pt x="79" y="323"/>
                    <a:pt x="86" y="306"/>
                    <a:pt x="86" y="283"/>
                  </a:cubicBezTo>
                  <a:cubicBezTo>
                    <a:pt x="86" y="283"/>
                    <a:pt x="85" y="207"/>
                    <a:pt x="85" y="201"/>
                  </a:cubicBezTo>
                  <a:cubicBezTo>
                    <a:pt x="85" y="195"/>
                    <a:pt x="83" y="193"/>
                    <a:pt x="78" y="191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" name="Freeform 2130">
              <a:extLst>
                <a:ext uri="{FF2B5EF4-FFF2-40B4-BE49-F238E27FC236}">
                  <a16:creationId xmlns:a16="http://schemas.microsoft.com/office/drawing/2014/main" id="{7660FB28-F69E-6D43-77AE-945F540089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42"/>
              <a:ext cx="137" cy="378"/>
            </a:xfrm>
            <a:custGeom>
              <a:avLst/>
              <a:gdLst>
                <a:gd name="T0" fmla="*/ 525 w 70"/>
                <a:gd name="T1" fmla="*/ 1630 h 182"/>
                <a:gd name="T2" fmla="*/ 264 w 70"/>
                <a:gd name="T3" fmla="*/ 849 h 182"/>
                <a:gd name="T4" fmla="*/ 219 w 70"/>
                <a:gd name="T5" fmla="*/ 0 h 182"/>
                <a:gd name="T6" fmla="*/ 196 w 70"/>
                <a:gd name="T7" fmla="*/ 609 h 182"/>
                <a:gd name="T8" fmla="*/ 525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70" y="182"/>
                  </a:moveTo>
                  <a:cubicBezTo>
                    <a:pt x="61" y="148"/>
                    <a:pt x="48" y="115"/>
                    <a:pt x="35" y="95"/>
                  </a:cubicBezTo>
                  <a:cubicBezTo>
                    <a:pt x="10" y="57"/>
                    <a:pt x="0" y="21"/>
                    <a:pt x="29" y="0"/>
                  </a:cubicBezTo>
                  <a:cubicBezTo>
                    <a:pt x="19" y="8"/>
                    <a:pt x="12" y="40"/>
                    <a:pt x="26" y="68"/>
                  </a:cubicBezTo>
                  <a:cubicBezTo>
                    <a:pt x="39" y="96"/>
                    <a:pt x="56" y="125"/>
                    <a:pt x="70" y="1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" name="Freeform 2131">
              <a:extLst>
                <a:ext uri="{FF2B5EF4-FFF2-40B4-BE49-F238E27FC236}">
                  <a16:creationId xmlns:a16="http://schemas.microsoft.com/office/drawing/2014/main" id="{4B01F7AF-49FE-814A-29AE-B47519A51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5" y="3025"/>
              <a:ext cx="213" cy="699"/>
            </a:xfrm>
            <a:custGeom>
              <a:avLst/>
              <a:gdLst>
                <a:gd name="T0" fmla="*/ 31 w 109"/>
                <a:gd name="T1" fmla="*/ 3000 h 336"/>
                <a:gd name="T2" fmla="*/ 96 w 109"/>
                <a:gd name="T3" fmla="*/ 2467 h 336"/>
                <a:gd name="T4" fmla="*/ 424 w 109"/>
                <a:gd name="T5" fmla="*/ 917 h 336"/>
                <a:gd name="T6" fmla="*/ 432 w 109"/>
                <a:gd name="T7" fmla="*/ 17 h 336"/>
                <a:gd name="T8" fmla="*/ 596 w 109"/>
                <a:gd name="T9" fmla="*/ 73 h 336"/>
                <a:gd name="T10" fmla="*/ 553 w 109"/>
                <a:gd name="T11" fmla="*/ 926 h 336"/>
                <a:gd name="T12" fmla="*/ 156 w 109"/>
                <a:gd name="T13" fmla="*/ 2501 h 336"/>
                <a:gd name="T14" fmla="*/ 31 w 109"/>
                <a:gd name="T15" fmla="*/ 3000 h 336"/>
                <a:gd name="T16" fmla="*/ 31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4" y="333"/>
                  </a:moveTo>
                  <a:cubicBezTo>
                    <a:pt x="15" y="326"/>
                    <a:pt x="10" y="306"/>
                    <a:pt x="13" y="274"/>
                  </a:cubicBezTo>
                  <a:cubicBezTo>
                    <a:pt x="18" y="222"/>
                    <a:pt x="32" y="140"/>
                    <a:pt x="57" y="102"/>
                  </a:cubicBezTo>
                  <a:cubicBezTo>
                    <a:pt x="82" y="64"/>
                    <a:pt x="96" y="10"/>
                    <a:pt x="58" y="2"/>
                  </a:cubicBezTo>
                  <a:cubicBezTo>
                    <a:pt x="63" y="0"/>
                    <a:pt x="74" y="3"/>
                    <a:pt x="80" y="8"/>
                  </a:cubicBezTo>
                  <a:cubicBezTo>
                    <a:pt x="109" y="29"/>
                    <a:pt x="99" y="65"/>
                    <a:pt x="74" y="103"/>
                  </a:cubicBezTo>
                  <a:cubicBezTo>
                    <a:pt x="49" y="141"/>
                    <a:pt x="26" y="226"/>
                    <a:pt x="21" y="278"/>
                  </a:cubicBezTo>
                  <a:cubicBezTo>
                    <a:pt x="17" y="318"/>
                    <a:pt x="16" y="330"/>
                    <a:pt x="4" y="333"/>
                  </a:cubicBezTo>
                  <a:cubicBezTo>
                    <a:pt x="1" y="334"/>
                    <a:pt x="0" y="336"/>
                    <a:pt x="4" y="333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" name="Freeform 2132">
              <a:extLst>
                <a:ext uri="{FF2B5EF4-FFF2-40B4-BE49-F238E27FC236}">
                  <a16:creationId xmlns:a16="http://schemas.microsoft.com/office/drawing/2014/main" id="{8D1584C9-1800-C0A9-DBCE-3F195D2D7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031"/>
              <a:ext cx="168" cy="686"/>
            </a:xfrm>
            <a:custGeom>
              <a:avLst/>
              <a:gdLst>
                <a:gd name="T0" fmla="*/ 61 w 86"/>
                <a:gd name="T1" fmla="*/ 1715 h 330"/>
                <a:gd name="T2" fmla="*/ 225 w 86"/>
                <a:gd name="T3" fmla="*/ 1418 h 330"/>
                <a:gd name="T4" fmla="*/ 148 w 86"/>
                <a:gd name="T5" fmla="*/ 1206 h 330"/>
                <a:gd name="T6" fmla="*/ 111 w 86"/>
                <a:gd name="T7" fmla="*/ 1089 h 330"/>
                <a:gd name="T8" fmla="*/ 352 w 86"/>
                <a:gd name="T9" fmla="*/ 333 h 330"/>
                <a:gd name="T10" fmla="*/ 641 w 86"/>
                <a:gd name="T11" fmla="*/ 0 h 330"/>
                <a:gd name="T12" fmla="*/ 440 w 86"/>
                <a:gd name="T13" fmla="*/ 268 h 330"/>
                <a:gd name="T14" fmla="*/ 260 w 86"/>
                <a:gd name="T15" fmla="*/ 890 h 330"/>
                <a:gd name="T16" fmla="*/ 232 w 86"/>
                <a:gd name="T17" fmla="*/ 1193 h 330"/>
                <a:gd name="T18" fmla="*/ 289 w 86"/>
                <a:gd name="T19" fmla="*/ 1418 h 330"/>
                <a:gd name="T20" fmla="*/ 164 w 86"/>
                <a:gd name="T21" fmla="*/ 1771 h 330"/>
                <a:gd name="T22" fmla="*/ 80 w 86"/>
                <a:gd name="T23" fmla="*/ 2039 h 330"/>
                <a:gd name="T24" fmla="*/ 45 w 86"/>
                <a:gd name="T25" fmla="*/ 2532 h 330"/>
                <a:gd name="T26" fmla="*/ 164 w 86"/>
                <a:gd name="T27" fmla="*/ 2964 h 330"/>
                <a:gd name="T28" fmla="*/ 0 w 86"/>
                <a:gd name="T29" fmla="*/ 2540 h 330"/>
                <a:gd name="T30" fmla="*/ 8 w 86"/>
                <a:gd name="T31" fmla="*/ 1806 h 330"/>
                <a:gd name="T32" fmla="*/ 61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8" y="191"/>
                  </a:moveTo>
                  <a:cubicBezTo>
                    <a:pt x="21" y="187"/>
                    <a:pt x="30" y="172"/>
                    <a:pt x="30" y="158"/>
                  </a:cubicBezTo>
                  <a:cubicBezTo>
                    <a:pt x="30" y="148"/>
                    <a:pt x="26" y="140"/>
                    <a:pt x="20" y="134"/>
                  </a:cubicBezTo>
                  <a:cubicBezTo>
                    <a:pt x="16" y="130"/>
                    <a:pt x="14" y="127"/>
                    <a:pt x="15" y="121"/>
                  </a:cubicBezTo>
                  <a:cubicBezTo>
                    <a:pt x="28" y="81"/>
                    <a:pt x="37" y="56"/>
                    <a:pt x="47" y="37"/>
                  </a:cubicBezTo>
                  <a:cubicBezTo>
                    <a:pt x="57" y="19"/>
                    <a:pt x="71" y="6"/>
                    <a:pt x="86" y="0"/>
                  </a:cubicBezTo>
                  <a:cubicBezTo>
                    <a:pt x="77" y="6"/>
                    <a:pt x="69" y="11"/>
                    <a:pt x="59" y="30"/>
                  </a:cubicBezTo>
                  <a:cubicBezTo>
                    <a:pt x="50" y="47"/>
                    <a:pt x="47" y="63"/>
                    <a:pt x="35" y="99"/>
                  </a:cubicBezTo>
                  <a:cubicBezTo>
                    <a:pt x="31" y="110"/>
                    <a:pt x="25" y="122"/>
                    <a:pt x="31" y="133"/>
                  </a:cubicBezTo>
                  <a:cubicBezTo>
                    <a:pt x="35" y="139"/>
                    <a:pt x="39" y="145"/>
                    <a:pt x="39" y="158"/>
                  </a:cubicBezTo>
                  <a:cubicBezTo>
                    <a:pt x="39" y="180"/>
                    <a:pt x="31" y="191"/>
                    <a:pt x="22" y="197"/>
                  </a:cubicBezTo>
                  <a:cubicBezTo>
                    <a:pt x="13" y="203"/>
                    <a:pt x="11" y="216"/>
                    <a:pt x="11" y="227"/>
                  </a:cubicBezTo>
                  <a:cubicBezTo>
                    <a:pt x="10" y="256"/>
                    <a:pt x="6" y="282"/>
                    <a:pt x="6" y="282"/>
                  </a:cubicBezTo>
                  <a:cubicBezTo>
                    <a:pt x="6" y="302"/>
                    <a:pt x="8" y="320"/>
                    <a:pt x="22" y="330"/>
                  </a:cubicBezTo>
                  <a:cubicBezTo>
                    <a:pt x="7" y="323"/>
                    <a:pt x="0" y="306"/>
                    <a:pt x="0" y="283"/>
                  </a:cubicBezTo>
                  <a:cubicBezTo>
                    <a:pt x="0" y="283"/>
                    <a:pt x="1" y="207"/>
                    <a:pt x="1" y="201"/>
                  </a:cubicBezTo>
                  <a:cubicBezTo>
                    <a:pt x="1" y="195"/>
                    <a:pt x="3" y="193"/>
                    <a:pt x="8" y="191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" name="Freeform 2133">
              <a:extLst>
                <a:ext uri="{FF2B5EF4-FFF2-40B4-BE49-F238E27FC236}">
                  <a16:creationId xmlns:a16="http://schemas.microsoft.com/office/drawing/2014/main" id="{606C8770-7AC1-1B8D-D498-F7ACE0B6B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1" y="3042"/>
              <a:ext cx="137" cy="378"/>
            </a:xfrm>
            <a:custGeom>
              <a:avLst/>
              <a:gdLst>
                <a:gd name="T0" fmla="*/ 0 w 70"/>
                <a:gd name="T1" fmla="*/ 1630 h 182"/>
                <a:gd name="T2" fmla="*/ 264 w 70"/>
                <a:gd name="T3" fmla="*/ 849 h 182"/>
                <a:gd name="T4" fmla="*/ 307 w 70"/>
                <a:gd name="T5" fmla="*/ 0 h 182"/>
                <a:gd name="T6" fmla="*/ 329 w 70"/>
                <a:gd name="T7" fmla="*/ 609 h 182"/>
                <a:gd name="T8" fmla="*/ 0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0" y="182"/>
                  </a:moveTo>
                  <a:cubicBezTo>
                    <a:pt x="9" y="148"/>
                    <a:pt x="22" y="115"/>
                    <a:pt x="35" y="95"/>
                  </a:cubicBezTo>
                  <a:cubicBezTo>
                    <a:pt x="60" y="57"/>
                    <a:pt x="70" y="21"/>
                    <a:pt x="41" y="0"/>
                  </a:cubicBezTo>
                  <a:cubicBezTo>
                    <a:pt x="51" y="8"/>
                    <a:pt x="58" y="40"/>
                    <a:pt x="44" y="68"/>
                  </a:cubicBezTo>
                  <a:cubicBezTo>
                    <a:pt x="31" y="96"/>
                    <a:pt x="14" y="125"/>
                    <a:pt x="0" y="18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" name="Freeform 2134">
              <a:extLst>
                <a:ext uri="{FF2B5EF4-FFF2-40B4-BE49-F238E27FC236}">
                  <a16:creationId xmlns:a16="http://schemas.microsoft.com/office/drawing/2014/main" id="{DE36AAC6-3AAC-2C2B-3874-F98D4174C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3283"/>
              <a:ext cx="66" cy="337"/>
            </a:xfrm>
            <a:custGeom>
              <a:avLst/>
              <a:gdLst>
                <a:gd name="T0" fmla="*/ 248 w 34"/>
                <a:gd name="T1" fmla="*/ 1458 h 162"/>
                <a:gd name="T2" fmla="*/ 241 w 34"/>
                <a:gd name="T3" fmla="*/ 718 h 162"/>
                <a:gd name="T4" fmla="*/ 188 w 34"/>
                <a:gd name="T5" fmla="*/ 632 h 162"/>
                <a:gd name="T6" fmla="*/ 31 w 34"/>
                <a:gd name="T7" fmla="*/ 333 h 162"/>
                <a:gd name="T8" fmla="*/ 101 w 34"/>
                <a:gd name="T9" fmla="*/ 116 h 162"/>
                <a:gd name="T10" fmla="*/ 140 w 34"/>
                <a:gd name="T11" fmla="*/ 0 h 162"/>
                <a:gd name="T12" fmla="*/ 80 w 34"/>
                <a:gd name="T13" fmla="*/ 125 h 162"/>
                <a:gd name="T14" fmla="*/ 0 w 34"/>
                <a:gd name="T15" fmla="*/ 341 h 162"/>
                <a:gd name="T16" fmla="*/ 124 w 34"/>
                <a:gd name="T17" fmla="*/ 632 h 162"/>
                <a:gd name="T18" fmla="*/ 225 w 34"/>
                <a:gd name="T19" fmla="*/ 774 h 162"/>
                <a:gd name="T20" fmla="*/ 248 w 34"/>
                <a:gd name="T21" fmla="*/ 1458 h 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" h="162">
                  <a:moveTo>
                    <a:pt x="34" y="162"/>
                  </a:moveTo>
                  <a:cubicBezTo>
                    <a:pt x="34" y="162"/>
                    <a:pt x="33" y="86"/>
                    <a:pt x="33" y="80"/>
                  </a:cubicBezTo>
                  <a:cubicBezTo>
                    <a:pt x="33" y="74"/>
                    <a:pt x="31" y="72"/>
                    <a:pt x="26" y="70"/>
                  </a:cubicBezTo>
                  <a:cubicBezTo>
                    <a:pt x="13" y="66"/>
                    <a:pt x="4" y="51"/>
                    <a:pt x="4" y="37"/>
                  </a:cubicBezTo>
                  <a:cubicBezTo>
                    <a:pt x="4" y="27"/>
                    <a:pt x="8" y="19"/>
                    <a:pt x="14" y="13"/>
                  </a:cubicBezTo>
                  <a:cubicBezTo>
                    <a:pt x="18" y="9"/>
                    <a:pt x="20" y="6"/>
                    <a:pt x="19" y="0"/>
                  </a:cubicBezTo>
                  <a:cubicBezTo>
                    <a:pt x="19" y="3"/>
                    <a:pt x="17" y="7"/>
                    <a:pt x="11" y="14"/>
                  </a:cubicBezTo>
                  <a:cubicBezTo>
                    <a:pt x="4" y="20"/>
                    <a:pt x="0" y="27"/>
                    <a:pt x="0" y="38"/>
                  </a:cubicBezTo>
                  <a:cubicBezTo>
                    <a:pt x="0" y="49"/>
                    <a:pt x="7" y="65"/>
                    <a:pt x="17" y="70"/>
                  </a:cubicBezTo>
                  <a:cubicBezTo>
                    <a:pt x="27" y="75"/>
                    <a:pt x="31" y="78"/>
                    <a:pt x="31" y="86"/>
                  </a:cubicBezTo>
                  <a:cubicBezTo>
                    <a:pt x="32" y="94"/>
                    <a:pt x="34" y="162"/>
                    <a:pt x="34" y="16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3" name="Freeform 2135">
              <a:extLst>
                <a:ext uri="{FF2B5EF4-FFF2-40B4-BE49-F238E27FC236}">
                  <a16:creationId xmlns:a16="http://schemas.microsoft.com/office/drawing/2014/main" id="{8DD310BF-79C3-9FA4-B465-62871FE1E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310"/>
              <a:ext cx="72" cy="310"/>
            </a:xfrm>
            <a:custGeom>
              <a:avLst/>
              <a:gdLst>
                <a:gd name="T0" fmla="*/ 0 w 37"/>
                <a:gd name="T1" fmla="*/ 1342 h 149"/>
                <a:gd name="T2" fmla="*/ 8 w 37"/>
                <a:gd name="T3" fmla="*/ 601 h 149"/>
                <a:gd name="T4" fmla="*/ 60 w 37"/>
                <a:gd name="T5" fmla="*/ 516 h 149"/>
                <a:gd name="T6" fmla="*/ 220 w 37"/>
                <a:gd name="T7" fmla="*/ 216 h 149"/>
                <a:gd name="T8" fmla="*/ 148 w 37"/>
                <a:gd name="T9" fmla="*/ 0 h 149"/>
                <a:gd name="T10" fmla="*/ 220 w 37"/>
                <a:gd name="T11" fmla="*/ 416 h 149"/>
                <a:gd name="T12" fmla="*/ 60 w 37"/>
                <a:gd name="T13" fmla="*/ 568 h 149"/>
                <a:gd name="T14" fmla="*/ 23 w 37"/>
                <a:gd name="T15" fmla="*/ 766 h 149"/>
                <a:gd name="T16" fmla="*/ 0 w 37"/>
                <a:gd name="T17" fmla="*/ 1342 h 1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149">
                  <a:moveTo>
                    <a:pt x="0" y="149"/>
                  </a:moveTo>
                  <a:cubicBezTo>
                    <a:pt x="0" y="149"/>
                    <a:pt x="1" y="73"/>
                    <a:pt x="1" y="67"/>
                  </a:cubicBezTo>
                  <a:cubicBezTo>
                    <a:pt x="1" y="61"/>
                    <a:pt x="3" y="59"/>
                    <a:pt x="8" y="57"/>
                  </a:cubicBezTo>
                  <a:cubicBezTo>
                    <a:pt x="21" y="53"/>
                    <a:pt x="30" y="38"/>
                    <a:pt x="30" y="24"/>
                  </a:cubicBezTo>
                  <a:cubicBezTo>
                    <a:pt x="30" y="14"/>
                    <a:pt x="26" y="6"/>
                    <a:pt x="20" y="0"/>
                  </a:cubicBezTo>
                  <a:cubicBezTo>
                    <a:pt x="33" y="12"/>
                    <a:pt x="37" y="33"/>
                    <a:pt x="30" y="46"/>
                  </a:cubicBezTo>
                  <a:cubicBezTo>
                    <a:pt x="22" y="59"/>
                    <a:pt x="13" y="60"/>
                    <a:pt x="8" y="63"/>
                  </a:cubicBezTo>
                  <a:cubicBezTo>
                    <a:pt x="4" y="65"/>
                    <a:pt x="4" y="73"/>
                    <a:pt x="3" y="85"/>
                  </a:cubicBezTo>
                  <a:cubicBezTo>
                    <a:pt x="3" y="97"/>
                    <a:pt x="0" y="149"/>
                    <a:pt x="0" y="1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" name="Freeform 2136">
              <a:extLst>
                <a:ext uri="{FF2B5EF4-FFF2-40B4-BE49-F238E27FC236}">
                  <a16:creationId xmlns:a16="http://schemas.microsoft.com/office/drawing/2014/main" id="{62662183-5C1B-7D28-92AE-01C81B10F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3042"/>
              <a:ext cx="97" cy="174"/>
            </a:xfrm>
            <a:custGeom>
              <a:avLst/>
              <a:gdLst>
                <a:gd name="T0" fmla="*/ 365 w 50"/>
                <a:gd name="T1" fmla="*/ 0 h 84"/>
                <a:gd name="T2" fmla="*/ 0 w 50"/>
                <a:gd name="T3" fmla="*/ 746 h 84"/>
                <a:gd name="T4" fmla="*/ 365 w 50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84">
                  <a:moveTo>
                    <a:pt x="50" y="0"/>
                  </a:moveTo>
                  <a:cubicBezTo>
                    <a:pt x="38" y="7"/>
                    <a:pt x="21" y="24"/>
                    <a:pt x="0" y="84"/>
                  </a:cubicBezTo>
                  <a:cubicBezTo>
                    <a:pt x="10" y="60"/>
                    <a:pt x="33" y="13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" name="Freeform 2137">
              <a:extLst>
                <a:ext uri="{FF2B5EF4-FFF2-40B4-BE49-F238E27FC236}">
                  <a16:creationId xmlns:a16="http://schemas.microsoft.com/office/drawing/2014/main" id="{9C6DD243-B267-639A-980B-510677E2B5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81" y="3034"/>
              <a:ext cx="279" cy="409"/>
            </a:xfrm>
            <a:custGeom>
              <a:avLst/>
              <a:gdLst>
                <a:gd name="T0" fmla="*/ 499 w 143"/>
                <a:gd name="T1" fmla="*/ 866 h 197"/>
                <a:gd name="T2" fmla="*/ 8 w 143"/>
                <a:gd name="T3" fmla="*/ 0 h 197"/>
                <a:gd name="T4" fmla="*/ 0 w 143"/>
                <a:gd name="T5" fmla="*/ 0 h 197"/>
                <a:gd name="T6" fmla="*/ 236 w 143"/>
                <a:gd name="T7" fmla="*/ 324 h 197"/>
                <a:gd name="T8" fmla="*/ 484 w 143"/>
                <a:gd name="T9" fmla="*/ 1073 h 197"/>
                <a:gd name="T10" fmla="*/ 453 w 143"/>
                <a:gd name="T11" fmla="*/ 1190 h 197"/>
                <a:gd name="T12" fmla="*/ 373 w 143"/>
                <a:gd name="T13" fmla="*/ 1406 h 197"/>
                <a:gd name="T14" fmla="*/ 540 w 143"/>
                <a:gd name="T15" fmla="*/ 1673 h 197"/>
                <a:gd name="T16" fmla="*/ 593 w 143"/>
                <a:gd name="T17" fmla="*/ 1763 h 197"/>
                <a:gd name="T18" fmla="*/ 593 w 143"/>
                <a:gd name="T19" fmla="*/ 1109 h 197"/>
                <a:gd name="T20" fmla="*/ 499 w 143"/>
                <a:gd name="T21" fmla="*/ 866 h 197"/>
                <a:gd name="T22" fmla="*/ 960 w 143"/>
                <a:gd name="T23" fmla="*/ 324 h 197"/>
                <a:gd name="T24" fmla="*/ 1061 w 143"/>
                <a:gd name="T25" fmla="*/ 143 h 197"/>
                <a:gd name="T26" fmla="*/ 1048 w 143"/>
                <a:gd name="T27" fmla="*/ 152 h 197"/>
                <a:gd name="T28" fmla="*/ 704 w 143"/>
                <a:gd name="T29" fmla="*/ 905 h 197"/>
                <a:gd name="T30" fmla="*/ 609 w 143"/>
                <a:gd name="T31" fmla="*/ 1121 h 197"/>
                <a:gd name="T32" fmla="*/ 609 w 143"/>
                <a:gd name="T33" fmla="*/ 1215 h 197"/>
                <a:gd name="T34" fmla="*/ 609 w 143"/>
                <a:gd name="T35" fmla="*/ 1763 h 197"/>
                <a:gd name="T36" fmla="*/ 661 w 143"/>
                <a:gd name="T37" fmla="*/ 1673 h 197"/>
                <a:gd name="T38" fmla="*/ 825 w 143"/>
                <a:gd name="T39" fmla="*/ 1406 h 197"/>
                <a:gd name="T40" fmla="*/ 749 w 143"/>
                <a:gd name="T41" fmla="*/ 1190 h 197"/>
                <a:gd name="T42" fmla="*/ 720 w 143"/>
                <a:gd name="T43" fmla="*/ 1146 h 197"/>
                <a:gd name="T44" fmla="*/ 712 w 143"/>
                <a:gd name="T45" fmla="*/ 1146 h 197"/>
                <a:gd name="T46" fmla="*/ 704 w 143"/>
                <a:gd name="T47" fmla="*/ 1146 h 197"/>
                <a:gd name="T48" fmla="*/ 712 w 143"/>
                <a:gd name="T49" fmla="*/ 1138 h 197"/>
                <a:gd name="T50" fmla="*/ 712 w 143"/>
                <a:gd name="T51" fmla="*/ 1073 h 197"/>
                <a:gd name="T52" fmla="*/ 960 w 143"/>
                <a:gd name="T53" fmla="*/ 324 h 19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43" h="197">
                  <a:moveTo>
                    <a:pt x="67" y="97"/>
                  </a:moveTo>
                  <a:cubicBezTo>
                    <a:pt x="61" y="67"/>
                    <a:pt x="30" y="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8"/>
                    <a:pt x="24" y="21"/>
                    <a:pt x="32" y="36"/>
                  </a:cubicBezTo>
                  <a:cubicBezTo>
                    <a:pt x="43" y="55"/>
                    <a:pt x="53" y="80"/>
                    <a:pt x="65" y="120"/>
                  </a:cubicBezTo>
                  <a:cubicBezTo>
                    <a:pt x="67" y="126"/>
                    <a:pt x="65" y="129"/>
                    <a:pt x="61" y="133"/>
                  </a:cubicBezTo>
                  <a:cubicBezTo>
                    <a:pt x="54" y="139"/>
                    <a:pt x="50" y="147"/>
                    <a:pt x="50" y="157"/>
                  </a:cubicBezTo>
                  <a:cubicBezTo>
                    <a:pt x="50" y="171"/>
                    <a:pt x="60" y="183"/>
                    <a:pt x="73" y="187"/>
                  </a:cubicBezTo>
                  <a:cubicBezTo>
                    <a:pt x="78" y="189"/>
                    <a:pt x="80" y="191"/>
                    <a:pt x="80" y="197"/>
                  </a:cubicBezTo>
                  <a:cubicBezTo>
                    <a:pt x="80" y="124"/>
                    <a:pt x="80" y="124"/>
                    <a:pt x="80" y="124"/>
                  </a:cubicBezTo>
                  <a:cubicBezTo>
                    <a:pt x="69" y="117"/>
                    <a:pt x="69" y="107"/>
                    <a:pt x="67" y="97"/>
                  </a:cubicBezTo>
                  <a:close/>
                  <a:moveTo>
                    <a:pt x="129" y="36"/>
                  </a:moveTo>
                  <a:cubicBezTo>
                    <a:pt x="133" y="29"/>
                    <a:pt x="138" y="22"/>
                    <a:pt x="143" y="16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28" y="27"/>
                    <a:pt x="110" y="52"/>
                    <a:pt x="95" y="101"/>
                  </a:cubicBezTo>
                  <a:cubicBezTo>
                    <a:pt x="86" y="128"/>
                    <a:pt x="82" y="125"/>
                    <a:pt x="82" y="125"/>
                  </a:cubicBezTo>
                  <a:cubicBezTo>
                    <a:pt x="82" y="132"/>
                    <a:pt x="82" y="136"/>
                    <a:pt x="82" y="136"/>
                  </a:cubicBezTo>
                  <a:cubicBezTo>
                    <a:pt x="82" y="197"/>
                    <a:pt x="82" y="197"/>
                    <a:pt x="82" y="197"/>
                  </a:cubicBezTo>
                  <a:cubicBezTo>
                    <a:pt x="82" y="191"/>
                    <a:pt x="84" y="189"/>
                    <a:pt x="89" y="187"/>
                  </a:cubicBezTo>
                  <a:cubicBezTo>
                    <a:pt x="102" y="183"/>
                    <a:pt x="111" y="171"/>
                    <a:pt x="111" y="157"/>
                  </a:cubicBezTo>
                  <a:cubicBezTo>
                    <a:pt x="111" y="147"/>
                    <a:pt x="107" y="139"/>
                    <a:pt x="101" y="133"/>
                  </a:cubicBezTo>
                  <a:cubicBezTo>
                    <a:pt x="99" y="132"/>
                    <a:pt x="98" y="130"/>
                    <a:pt x="97" y="128"/>
                  </a:cubicBezTo>
                  <a:cubicBezTo>
                    <a:pt x="97" y="128"/>
                    <a:pt x="96" y="128"/>
                    <a:pt x="96" y="128"/>
                  </a:cubicBezTo>
                  <a:cubicBezTo>
                    <a:pt x="96" y="128"/>
                    <a:pt x="96" y="128"/>
                    <a:pt x="95" y="128"/>
                  </a:cubicBezTo>
                  <a:cubicBezTo>
                    <a:pt x="96" y="127"/>
                    <a:pt x="96" y="127"/>
                    <a:pt x="96" y="127"/>
                  </a:cubicBezTo>
                  <a:cubicBezTo>
                    <a:pt x="95" y="125"/>
                    <a:pt x="95" y="122"/>
                    <a:pt x="96" y="120"/>
                  </a:cubicBezTo>
                  <a:cubicBezTo>
                    <a:pt x="109" y="80"/>
                    <a:pt x="119" y="55"/>
                    <a:pt x="129" y="36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" name="Freeform 2138">
              <a:extLst>
                <a:ext uri="{FF2B5EF4-FFF2-40B4-BE49-F238E27FC236}">
                  <a16:creationId xmlns:a16="http://schemas.microsoft.com/office/drawing/2014/main" id="{91371A49-65D5-06F9-A9E9-06BFFB218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3042"/>
              <a:ext cx="101" cy="208"/>
            </a:xfrm>
            <a:custGeom>
              <a:avLst/>
              <a:gdLst>
                <a:gd name="T0" fmla="*/ 381 w 52"/>
                <a:gd name="T1" fmla="*/ 0 h 100"/>
                <a:gd name="T2" fmla="*/ 16 w 52"/>
                <a:gd name="T3" fmla="*/ 476 h 100"/>
                <a:gd name="T4" fmla="*/ 8 w 52"/>
                <a:gd name="T5" fmla="*/ 901 h 100"/>
                <a:gd name="T6" fmla="*/ 95 w 52"/>
                <a:gd name="T7" fmla="*/ 376 h 100"/>
                <a:gd name="T8" fmla="*/ 381 w 52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100">
                  <a:moveTo>
                    <a:pt x="52" y="0"/>
                  </a:moveTo>
                  <a:cubicBezTo>
                    <a:pt x="36" y="6"/>
                    <a:pt x="7" y="31"/>
                    <a:pt x="2" y="53"/>
                  </a:cubicBezTo>
                  <a:cubicBezTo>
                    <a:pt x="0" y="60"/>
                    <a:pt x="1" y="77"/>
                    <a:pt x="1" y="100"/>
                  </a:cubicBezTo>
                  <a:cubicBezTo>
                    <a:pt x="2" y="85"/>
                    <a:pt x="2" y="63"/>
                    <a:pt x="13" y="42"/>
                  </a:cubicBezTo>
                  <a:cubicBezTo>
                    <a:pt x="25" y="20"/>
                    <a:pt x="52" y="0"/>
                    <a:pt x="52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" name="Freeform 2139">
              <a:extLst>
                <a:ext uri="{FF2B5EF4-FFF2-40B4-BE49-F238E27FC236}">
                  <a16:creationId xmlns:a16="http://schemas.microsoft.com/office/drawing/2014/main" id="{626CE49B-9E1F-38BF-6984-E98EBEC17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" name="Freeform 2140">
              <a:extLst>
                <a:ext uri="{FF2B5EF4-FFF2-40B4-BE49-F238E27FC236}">
                  <a16:creationId xmlns:a16="http://schemas.microsoft.com/office/drawing/2014/main" id="{A35FBB3F-7474-F44B-7056-2E38BCE880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" name="Freeform 2141">
              <a:extLst>
                <a:ext uri="{FF2B5EF4-FFF2-40B4-BE49-F238E27FC236}">
                  <a16:creationId xmlns:a16="http://schemas.microsoft.com/office/drawing/2014/main" id="{472A75E5-2148-58F1-1DBC-19E3D37F6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" name="Freeform 2142">
              <a:extLst>
                <a:ext uri="{FF2B5EF4-FFF2-40B4-BE49-F238E27FC236}">
                  <a16:creationId xmlns:a16="http://schemas.microsoft.com/office/drawing/2014/main" id="{CC1A5135-04A8-E847-DDB1-DA6E98A95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" name="Freeform 2143">
              <a:extLst>
                <a:ext uri="{FF2B5EF4-FFF2-40B4-BE49-F238E27FC236}">
                  <a16:creationId xmlns:a16="http://schemas.microsoft.com/office/drawing/2014/main" id="{5ED87E3F-D483-EBD2-34FA-11B02D2E7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92" name="CuadroTexto 1091">
            <a:extLst>
              <a:ext uri="{FF2B5EF4-FFF2-40B4-BE49-F238E27FC236}">
                <a16:creationId xmlns:a16="http://schemas.microsoft.com/office/drawing/2014/main" id="{5759DBD6-E97F-AF41-0CC9-29D0CC401C35}"/>
              </a:ext>
            </a:extLst>
          </p:cNvPr>
          <p:cNvSpPr txBox="1"/>
          <p:nvPr/>
        </p:nvSpPr>
        <p:spPr>
          <a:xfrm>
            <a:off x="1823751" y="5784360"/>
            <a:ext cx="5863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GLUT2</a:t>
            </a:r>
          </a:p>
        </p:txBody>
      </p:sp>
      <p:cxnSp>
        <p:nvCxnSpPr>
          <p:cNvPr id="1093" name="Conector: curvado 1092">
            <a:extLst>
              <a:ext uri="{FF2B5EF4-FFF2-40B4-BE49-F238E27FC236}">
                <a16:creationId xmlns:a16="http://schemas.microsoft.com/office/drawing/2014/main" id="{962D5F00-68AB-B803-4697-B39F7F24E92D}"/>
              </a:ext>
            </a:extLst>
          </p:cNvPr>
          <p:cNvCxnSpPr>
            <a:cxnSpLocks/>
            <a:stCxn id="1092" idx="1"/>
          </p:cNvCxnSpPr>
          <p:nvPr/>
        </p:nvCxnSpPr>
        <p:spPr>
          <a:xfrm rot="10800000" flipV="1">
            <a:off x="1420689" y="5899775"/>
            <a:ext cx="403063" cy="68177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00" name="Group 2122">
            <a:extLst>
              <a:ext uri="{FF2B5EF4-FFF2-40B4-BE49-F238E27FC236}">
                <a16:creationId xmlns:a16="http://schemas.microsoft.com/office/drawing/2014/main" id="{101C1475-3592-173C-6E52-B3A5F1ED30AE}"/>
              </a:ext>
            </a:extLst>
          </p:cNvPr>
          <p:cNvGrpSpPr>
            <a:grpSpLocks/>
          </p:cNvGrpSpPr>
          <p:nvPr/>
        </p:nvGrpSpPr>
        <p:grpSpPr bwMode="auto">
          <a:xfrm>
            <a:off x="1312009" y="6610867"/>
            <a:ext cx="217354" cy="177269"/>
            <a:chOff x="1931" y="2992"/>
            <a:chExt cx="614" cy="738"/>
          </a:xfrm>
        </p:grpSpPr>
        <p:sp>
          <p:nvSpPr>
            <p:cNvPr id="1101" name="Freeform 2123">
              <a:extLst>
                <a:ext uri="{FF2B5EF4-FFF2-40B4-BE49-F238E27FC236}">
                  <a16:creationId xmlns:a16="http://schemas.microsoft.com/office/drawing/2014/main" id="{BA44FAF5-0B98-A76F-F8F5-F95EC956A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" name="Freeform 2124">
              <a:extLst>
                <a:ext uri="{FF2B5EF4-FFF2-40B4-BE49-F238E27FC236}">
                  <a16:creationId xmlns:a16="http://schemas.microsoft.com/office/drawing/2014/main" id="{C4144BAA-4700-F850-B63F-57E7B755A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" name="Freeform 2125">
              <a:extLst>
                <a:ext uri="{FF2B5EF4-FFF2-40B4-BE49-F238E27FC236}">
                  <a16:creationId xmlns:a16="http://schemas.microsoft.com/office/drawing/2014/main" id="{18C327BB-D238-503B-2E04-E1E4A1B9F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" name="Freeform 2126">
              <a:extLst>
                <a:ext uri="{FF2B5EF4-FFF2-40B4-BE49-F238E27FC236}">
                  <a16:creationId xmlns:a16="http://schemas.microsoft.com/office/drawing/2014/main" id="{5D78602B-F0A4-1A4A-3241-B48830E4D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" name="Freeform 2127">
              <a:extLst>
                <a:ext uri="{FF2B5EF4-FFF2-40B4-BE49-F238E27FC236}">
                  <a16:creationId xmlns:a16="http://schemas.microsoft.com/office/drawing/2014/main" id="{CA0857E6-B429-D13B-AA98-E6091D524F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" name="Freeform 2128">
              <a:extLst>
                <a:ext uri="{FF2B5EF4-FFF2-40B4-BE49-F238E27FC236}">
                  <a16:creationId xmlns:a16="http://schemas.microsoft.com/office/drawing/2014/main" id="{4B78E695-75CA-4B0C-62B4-8BDF04EAB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25"/>
              <a:ext cx="213" cy="699"/>
            </a:xfrm>
            <a:custGeom>
              <a:avLst/>
              <a:gdLst>
                <a:gd name="T0" fmla="*/ 784 w 109"/>
                <a:gd name="T1" fmla="*/ 3000 h 336"/>
                <a:gd name="T2" fmla="*/ 717 w 109"/>
                <a:gd name="T3" fmla="*/ 2467 h 336"/>
                <a:gd name="T4" fmla="*/ 389 w 109"/>
                <a:gd name="T5" fmla="*/ 917 h 336"/>
                <a:gd name="T6" fmla="*/ 381 w 109"/>
                <a:gd name="T7" fmla="*/ 17 h 336"/>
                <a:gd name="T8" fmla="*/ 217 w 109"/>
                <a:gd name="T9" fmla="*/ 73 h 336"/>
                <a:gd name="T10" fmla="*/ 260 w 109"/>
                <a:gd name="T11" fmla="*/ 926 h 336"/>
                <a:gd name="T12" fmla="*/ 657 w 109"/>
                <a:gd name="T13" fmla="*/ 2501 h 336"/>
                <a:gd name="T14" fmla="*/ 784 w 109"/>
                <a:gd name="T15" fmla="*/ 3000 h 336"/>
                <a:gd name="T16" fmla="*/ 784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105" y="333"/>
                  </a:moveTo>
                  <a:cubicBezTo>
                    <a:pt x="94" y="326"/>
                    <a:pt x="99" y="306"/>
                    <a:pt x="96" y="274"/>
                  </a:cubicBezTo>
                  <a:cubicBezTo>
                    <a:pt x="91" y="222"/>
                    <a:pt x="77" y="140"/>
                    <a:pt x="52" y="102"/>
                  </a:cubicBezTo>
                  <a:cubicBezTo>
                    <a:pt x="27" y="64"/>
                    <a:pt x="13" y="10"/>
                    <a:pt x="51" y="2"/>
                  </a:cubicBezTo>
                  <a:cubicBezTo>
                    <a:pt x="46" y="0"/>
                    <a:pt x="35" y="3"/>
                    <a:pt x="29" y="8"/>
                  </a:cubicBezTo>
                  <a:cubicBezTo>
                    <a:pt x="0" y="29"/>
                    <a:pt x="10" y="65"/>
                    <a:pt x="35" y="103"/>
                  </a:cubicBezTo>
                  <a:cubicBezTo>
                    <a:pt x="60" y="141"/>
                    <a:pt x="83" y="226"/>
                    <a:pt x="88" y="278"/>
                  </a:cubicBezTo>
                  <a:cubicBezTo>
                    <a:pt x="92" y="318"/>
                    <a:pt x="93" y="330"/>
                    <a:pt x="105" y="333"/>
                  </a:cubicBezTo>
                  <a:cubicBezTo>
                    <a:pt x="108" y="334"/>
                    <a:pt x="109" y="336"/>
                    <a:pt x="105" y="333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" name="Freeform 2129">
              <a:extLst>
                <a:ext uri="{FF2B5EF4-FFF2-40B4-BE49-F238E27FC236}">
                  <a16:creationId xmlns:a16="http://schemas.microsoft.com/office/drawing/2014/main" id="{B32DB347-562A-96C3-B946-BB9635EA2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3031"/>
              <a:ext cx="168" cy="686"/>
            </a:xfrm>
            <a:custGeom>
              <a:avLst/>
              <a:gdLst>
                <a:gd name="T0" fmla="*/ 580 w 86"/>
                <a:gd name="T1" fmla="*/ 1715 h 330"/>
                <a:gd name="T2" fmla="*/ 416 w 86"/>
                <a:gd name="T3" fmla="*/ 1418 h 330"/>
                <a:gd name="T4" fmla="*/ 492 w 86"/>
                <a:gd name="T5" fmla="*/ 1206 h 330"/>
                <a:gd name="T6" fmla="*/ 531 w 86"/>
                <a:gd name="T7" fmla="*/ 1089 h 330"/>
                <a:gd name="T8" fmla="*/ 289 w 86"/>
                <a:gd name="T9" fmla="*/ 333 h 330"/>
                <a:gd name="T10" fmla="*/ 0 w 86"/>
                <a:gd name="T11" fmla="*/ 0 h 330"/>
                <a:gd name="T12" fmla="*/ 203 w 86"/>
                <a:gd name="T13" fmla="*/ 268 h 330"/>
                <a:gd name="T14" fmla="*/ 381 w 86"/>
                <a:gd name="T15" fmla="*/ 890 h 330"/>
                <a:gd name="T16" fmla="*/ 408 w 86"/>
                <a:gd name="T17" fmla="*/ 1193 h 330"/>
                <a:gd name="T18" fmla="*/ 352 w 86"/>
                <a:gd name="T19" fmla="*/ 1418 h 330"/>
                <a:gd name="T20" fmla="*/ 477 w 86"/>
                <a:gd name="T21" fmla="*/ 1771 h 330"/>
                <a:gd name="T22" fmla="*/ 565 w 86"/>
                <a:gd name="T23" fmla="*/ 2039 h 330"/>
                <a:gd name="T24" fmla="*/ 596 w 86"/>
                <a:gd name="T25" fmla="*/ 2532 h 330"/>
                <a:gd name="T26" fmla="*/ 477 w 86"/>
                <a:gd name="T27" fmla="*/ 2964 h 330"/>
                <a:gd name="T28" fmla="*/ 641 w 86"/>
                <a:gd name="T29" fmla="*/ 2540 h 330"/>
                <a:gd name="T30" fmla="*/ 633 w 86"/>
                <a:gd name="T31" fmla="*/ 1806 h 330"/>
                <a:gd name="T32" fmla="*/ 580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78" y="191"/>
                  </a:moveTo>
                  <a:cubicBezTo>
                    <a:pt x="65" y="187"/>
                    <a:pt x="56" y="172"/>
                    <a:pt x="56" y="158"/>
                  </a:cubicBezTo>
                  <a:cubicBezTo>
                    <a:pt x="56" y="148"/>
                    <a:pt x="60" y="140"/>
                    <a:pt x="66" y="134"/>
                  </a:cubicBezTo>
                  <a:cubicBezTo>
                    <a:pt x="70" y="130"/>
                    <a:pt x="72" y="127"/>
                    <a:pt x="71" y="121"/>
                  </a:cubicBezTo>
                  <a:cubicBezTo>
                    <a:pt x="58" y="81"/>
                    <a:pt x="49" y="56"/>
                    <a:pt x="39" y="37"/>
                  </a:cubicBezTo>
                  <a:cubicBezTo>
                    <a:pt x="29" y="19"/>
                    <a:pt x="15" y="6"/>
                    <a:pt x="0" y="0"/>
                  </a:cubicBezTo>
                  <a:cubicBezTo>
                    <a:pt x="9" y="6"/>
                    <a:pt x="17" y="11"/>
                    <a:pt x="27" y="30"/>
                  </a:cubicBezTo>
                  <a:cubicBezTo>
                    <a:pt x="36" y="47"/>
                    <a:pt x="40" y="63"/>
                    <a:pt x="51" y="99"/>
                  </a:cubicBezTo>
                  <a:cubicBezTo>
                    <a:pt x="55" y="110"/>
                    <a:pt x="61" y="122"/>
                    <a:pt x="55" y="133"/>
                  </a:cubicBezTo>
                  <a:cubicBezTo>
                    <a:pt x="51" y="139"/>
                    <a:pt x="47" y="145"/>
                    <a:pt x="47" y="158"/>
                  </a:cubicBezTo>
                  <a:cubicBezTo>
                    <a:pt x="47" y="180"/>
                    <a:pt x="55" y="191"/>
                    <a:pt x="64" y="197"/>
                  </a:cubicBezTo>
                  <a:cubicBezTo>
                    <a:pt x="73" y="203"/>
                    <a:pt x="75" y="216"/>
                    <a:pt x="76" y="227"/>
                  </a:cubicBezTo>
                  <a:cubicBezTo>
                    <a:pt x="76" y="256"/>
                    <a:pt x="80" y="282"/>
                    <a:pt x="80" y="282"/>
                  </a:cubicBezTo>
                  <a:cubicBezTo>
                    <a:pt x="80" y="302"/>
                    <a:pt x="78" y="320"/>
                    <a:pt x="64" y="330"/>
                  </a:cubicBezTo>
                  <a:cubicBezTo>
                    <a:pt x="79" y="323"/>
                    <a:pt x="86" y="306"/>
                    <a:pt x="86" y="283"/>
                  </a:cubicBezTo>
                  <a:cubicBezTo>
                    <a:pt x="86" y="283"/>
                    <a:pt x="85" y="207"/>
                    <a:pt x="85" y="201"/>
                  </a:cubicBezTo>
                  <a:cubicBezTo>
                    <a:pt x="85" y="195"/>
                    <a:pt x="83" y="193"/>
                    <a:pt x="78" y="191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" name="Freeform 2130">
              <a:extLst>
                <a:ext uri="{FF2B5EF4-FFF2-40B4-BE49-F238E27FC236}">
                  <a16:creationId xmlns:a16="http://schemas.microsoft.com/office/drawing/2014/main" id="{B66A2FE4-105A-A02A-71C5-0F727C0FFB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42"/>
              <a:ext cx="137" cy="378"/>
            </a:xfrm>
            <a:custGeom>
              <a:avLst/>
              <a:gdLst>
                <a:gd name="T0" fmla="*/ 525 w 70"/>
                <a:gd name="T1" fmla="*/ 1630 h 182"/>
                <a:gd name="T2" fmla="*/ 264 w 70"/>
                <a:gd name="T3" fmla="*/ 849 h 182"/>
                <a:gd name="T4" fmla="*/ 219 w 70"/>
                <a:gd name="T5" fmla="*/ 0 h 182"/>
                <a:gd name="T6" fmla="*/ 196 w 70"/>
                <a:gd name="T7" fmla="*/ 609 h 182"/>
                <a:gd name="T8" fmla="*/ 525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70" y="182"/>
                  </a:moveTo>
                  <a:cubicBezTo>
                    <a:pt x="61" y="148"/>
                    <a:pt x="48" y="115"/>
                    <a:pt x="35" y="95"/>
                  </a:cubicBezTo>
                  <a:cubicBezTo>
                    <a:pt x="10" y="57"/>
                    <a:pt x="0" y="21"/>
                    <a:pt x="29" y="0"/>
                  </a:cubicBezTo>
                  <a:cubicBezTo>
                    <a:pt x="19" y="8"/>
                    <a:pt x="12" y="40"/>
                    <a:pt x="26" y="68"/>
                  </a:cubicBezTo>
                  <a:cubicBezTo>
                    <a:pt x="39" y="96"/>
                    <a:pt x="56" y="125"/>
                    <a:pt x="70" y="1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" name="Freeform 2131">
              <a:extLst>
                <a:ext uri="{FF2B5EF4-FFF2-40B4-BE49-F238E27FC236}">
                  <a16:creationId xmlns:a16="http://schemas.microsoft.com/office/drawing/2014/main" id="{246A818D-67A2-DE28-2C26-8EC0DE550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5" y="3025"/>
              <a:ext cx="213" cy="699"/>
            </a:xfrm>
            <a:custGeom>
              <a:avLst/>
              <a:gdLst>
                <a:gd name="T0" fmla="*/ 31 w 109"/>
                <a:gd name="T1" fmla="*/ 3000 h 336"/>
                <a:gd name="T2" fmla="*/ 96 w 109"/>
                <a:gd name="T3" fmla="*/ 2467 h 336"/>
                <a:gd name="T4" fmla="*/ 424 w 109"/>
                <a:gd name="T5" fmla="*/ 917 h 336"/>
                <a:gd name="T6" fmla="*/ 432 w 109"/>
                <a:gd name="T7" fmla="*/ 17 h 336"/>
                <a:gd name="T8" fmla="*/ 596 w 109"/>
                <a:gd name="T9" fmla="*/ 73 h 336"/>
                <a:gd name="T10" fmla="*/ 553 w 109"/>
                <a:gd name="T11" fmla="*/ 926 h 336"/>
                <a:gd name="T12" fmla="*/ 156 w 109"/>
                <a:gd name="T13" fmla="*/ 2501 h 336"/>
                <a:gd name="T14" fmla="*/ 31 w 109"/>
                <a:gd name="T15" fmla="*/ 3000 h 336"/>
                <a:gd name="T16" fmla="*/ 31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4" y="333"/>
                  </a:moveTo>
                  <a:cubicBezTo>
                    <a:pt x="15" y="326"/>
                    <a:pt x="10" y="306"/>
                    <a:pt x="13" y="274"/>
                  </a:cubicBezTo>
                  <a:cubicBezTo>
                    <a:pt x="18" y="222"/>
                    <a:pt x="32" y="140"/>
                    <a:pt x="57" y="102"/>
                  </a:cubicBezTo>
                  <a:cubicBezTo>
                    <a:pt x="82" y="64"/>
                    <a:pt x="96" y="10"/>
                    <a:pt x="58" y="2"/>
                  </a:cubicBezTo>
                  <a:cubicBezTo>
                    <a:pt x="63" y="0"/>
                    <a:pt x="74" y="3"/>
                    <a:pt x="80" y="8"/>
                  </a:cubicBezTo>
                  <a:cubicBezTo>
                    <a:pt x="109" y="29"/>
                    <a:pt x="99" y="65"/>
                    <a:pt x="74" y="103"/>
                  </a:cubicBezTo>
                  <a:cubicBezTo>
                    <a:pt x="49" y="141"/>
                    <a:pt x="26" y="226"/>
                    <a:pt x="21" y="278"/>
                  </a:cubicBezTo>
                  <a:cubicBezTo>
                    <a:pt x="17" y="318"/>
                    <a:pt x="16" y="330"/>
                    <a:pt x="4" y="333"/>
                  </a:cubicBezTo>
                  <a:cubicBezTo>
                    <a:pt x="1" y="334"/>
                    <a:pt x="0" y="336"/>
                    <a:pt x="4" y="333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" name="Freeform 2132">
              <a:extLst>
                <a:ext uri="{FF2B5EF4-FFF2-40B4-BE49-F238E27FC236}">
                  <a16:creationId xmlns:a16="http://schemas.microsoft.com/office/drawing/2014/main" id="{B0C630D7-88F1-6193-0373-7E90F3401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031"/>
              <a:ext cx="168" cy="686"/>
            </a:xfrm>
            <a:custGeom>
              <a:avLst/>
              <a:gdLst>
                <a:gd name="T0" fmla="*/ 61 w 86"/>
                <a:gd name="T1" fmla="*/ 1715 h 330"/>
                <a:gd name="T2" fmla="*/ 225 w 86"/>
                <a:gd name="T3" fmla="*/ 1418 h 330"/>
                <a:gd name="T4" fmla="*/ 148 w 86"/>
                <a:gd name="T5" fmla="*/ 1206 h 330"/>
                <a:gd name="T6" fmla="*/ 111 w 86"/>
                <a:gd name="T7" fmla="*/ 1089 h 330"/>
                <a:gd name="T8" fmla="*/ 352 w 86"/>
                <a:gd name="T9" fmla="*/ 333 h 330"/>
                <a:gd name="T10" fmla="*/ 641 w 86"/>
                <a:gd name="T11" fmla="*/ 0 h 330"/>
                <a:gd name="T12" fmla="*/ 440 w 86"/>
                <a:gd name="T13" fmla="*/ 268 h 330"/>
                <a:gd name="T14" fmla="*/ 260 w 86"/>
                <a:gd name="T15" fmla="*/ 890 h 330"/>
                <a:gd name="T16" fmla="*/ 232 w 86"/>
                <a:gd name="T17" fmla="*/ 1193 h 330"/>
                <a:gd name="T18" fmla="*/ 289 w 86"/>
                <a:gd name="T19" fmla="*/ 1418 h 330"/>
                <a:gd name="T20" fmla="*/ 164 w 86"/>
                <a:gd name="T21" fmla="*/ 1771 h 330"/>
                <a:gd name="T22" fmla="*/ 80 w 86"/>
                <a:gd name="T23" fmla="*/ 2039 h 330"/>
                <a:gd name="T24" fmla="*/ 45 w 86"/>
                <a:gd name="T25" fmla="*/ 2532 h 330"/>
                <a:gd name="T26" fmla="*/ 164 w 86"/>
                <a:gd name="T27" fmla="*/ 2964 h 330"/>
                <a:gd name="T28" fmla="*/ 0 w 86"/>
                <a:gd name="T29" fmla="*/ 2540 h 330"/>
                <a:gd name="T30" fmla="*/ 8 w 86"/>
                <a:gd name="T31" fmla="*/ 1806 h 330"/>
                <a:gd name="T32" fmla="*/ 61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8" y="191"/>
                  </a:moveTo>
                  <a:cubicBezTo>
                    <a:pt x="21" y="187"/>
                    <a:pt x="30" y="172"/>
                    <a:pt x="30" y="158"/>
                  </a:cubicBezTo>
                  <a:cubicBezTo>
                    <a:pt x="30" y="148"/>
                    <a:pt x="26" y="140"/>
                    <a:pt x="20" y="134"/>
                  </a:cubicBezTo>
                  <a:cubicBezTo>
                    <a:pt x="16" y="130"/>
                    <a:pt x="14" y="127"/>
                    <a:pt x="15" y="121"/>
                  </a:cubicBezTo>
                  <a:cubicBezTo>
                    <a:pt x="28" y="81"/>
                    <a:pt x="37" y="56"/>
                    <a:pt x="47" y="37"/>
                  </a:cubicBezTo>
                  <a:cubicBezTo>
                    <a:pt x="57" y="19"/>
                    <a:pt x="71" y="6"/>
                    <a:pt x="86" y="0"/>
                  </a:cubicBezTo>
                  <a:cubicBezTo>
                    <a:pt x="77" y="6"/>
                    <a:pt x="69" y="11"/>
                    <a:pt x="59" y="30"/>
                  </a:cubicBezTo>
                  <a:cubicBezTo>
                    <a:pt x="50" y="47"/>
                    <a:pt x="47" y="63"/>
                    <a:pt x="35" y="99"/>
                  </a:cubicBezTo>
                  <a:cubicBezTo>
                    <a:pt x="31" y="110"/>
                    <a:pt x="25" y="122"/>
                    <a:pt x="31" y="133"/>
                  </a:cubicBezTo>
                  <a:cubicBezTo>
                    <a:pt x="35" y="139"/>
                    <a:pt x="39" y="145"/>
                    <a:pt x="39" y="158"/>
                  </a:cubicBezTo>
                  <a:cubicBezTo>
                    <a:pt x="39" y="180"/>
                    <a:pt x="31" y="191"/>
                    <a:pt x="22" y="197"/>
                  </a:cubicBezTo>
                  <a:cubicBezTo>
                    <a:pt x="13" y="203"/>
                    <a:pt x="11" y="216"/>
                    <a:pt x="11" y="227"/>
                  </a:cubicBezTo>
                  <a:cubicBezTo>
                    <a:pt x="10" y="256"/>
                    <a:pt x="6" y="282"/>
                    <a:pt x="6" y="282"/>
                  </a:cubicBezTo>
                  <a:cubicBezTo>
                    <a:pt x="6" y="302"/>
                    <a:pt x="8" y="320"/>
                    <a:pt x="22" y="330"/>
                  </a:cubicBezTo>
                  <a:cubicBezTo>
                    <a:pt x="7" y="323"/>
                    <a:pt x="0" y="306"/>
                    <a:pt x="0" y="283"/>
                  </a:cubicBezTo>
                  <a:cubicBezTo>
                    <a:pt x="0" y="283"/>
                    <a:pt x="1" y="207"/>
                    <a:pt x="1" y="201"/>
                  </a:cubicBezTo>
                  <a:cubicBezTo>
                    <a:pt x="1" y="195"/>
                    <a:pt x="3" y="193"/>
                    <a:pt x="8" y="191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" name="Freeform 2133">
              <a:extLst>
                <a:ext uri="{FF2B5EF4-FFF2-40B4-BE49-F238E27FC236}">
                  <a16:creationId xmlns:a16="http://schemas.microsoft.com/office/drawing/2014/main" id="{D7E1ABA6-2F8C-40EB-2EF7-E9872450C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1" y="3042"/>
              <a:ext cx="137" cy="378"/>
            </a:xfrm>
            <a:custGeom>
              <a:avLst/>
              <a:gdLst>
                <a:gd name="T0" fmla="*/ 0 w 70"/>
                <a:gd name="T1" fmla="*/ 1630 h 182"/>
                <a:gd name="T2" fmla="*/ 264 w 70"/>
                <a:gd name="T3" fmla="*/ 849 h 182"/>
                <a:gd name="T4" fmla="*/ 307 w 70"/>
                <a:gd name="T5" fmla="*/ 0 h 182"/>
                <a:gd name="T6" fmla="*/ 329 w 70"/>
                <a:gd name="T7" fmla="*/ 609 h 182"/>
                <a:gd name="T8" fmla="*/ 0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0" y="182"/>
                  </a:moveTo>
                  <a:cubicBezTo>
                    <a:pt x="9" y="148"/>
                    <a:pt x="22" y="115"/>
                    <a:pt x="35" y="95"/>
                  </a:cubicBezTo>
                  <a:cubicBezTo>
                    <a:pt x="60" y="57"/>
                    <a:pt x="70" y="21"/>
                    <a:pt x="41" y="0"/>
                  </a:cubicBezTo>
                  <a:cubicBezTo>
                    <a:pt x="51" y="8"/>
                    <a:pt x="58" y="40"/>
                    <a:pt x="44" y="68"/>
                  </a:cubicBezTo>
                  <a:cubicBezTo>
                    <a:pt x="31" y="96"/>
                    <a:pt x="14" y="125"/>
                    <a:pt x="0" y="18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" name="Freeform 2134">
              <a:extLst>
                <a:ext uri="{FF2B5EF4-FFF2-40B4-BE49-F238E27FC236}">
                  <a16:creationId xmlns:a16="http://schemas.microsoft.com/office/drawing/2014/main" id="{81CB3919-A62F-902C-96E2-E774FA70E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3283"/>
              <a:ext cx="66" cy="337"/>
            </a:xfrm>
            <a:custGeom>
              <a:avLst/>
              <a:gdLst>
                <a:gd name="T0" fmla="*/ 248 w 34"/>
                <a:gd name="T1" fmla="*/ 1458 h 162"/>
                <a:gd name="T2" fmla="*/ 241 w 34"/>
                <a:gd name="T3" fmla="*/ 718 h 162"/>
                <a:gd name="T4" fmla="*/ 188 w 34"/>
                <a:gd name="T5" fmla="*/ 632 h 162"/>
                <a:gd name="T6" fmla="*/ 31 w 34"/>
                <a:gd name="T7" fmla="*/ 333 h 162"/>
                <a:gd name="T8" fmla="*/ 101 w 34"/>
                <a:gd name="T9" fmla="*/ 116 h 162"/>
                <a:gd name="T10" fmla="*/ 140 w 34"/>
                <a:gd name="T11" fmla="*/ 0 h 162"/>
                <a:gd name="T12" fmla="*/ 80 w 34"/>
                <a:gd name="T13" fmla="*/ 125 h 162"/>
                <a:gd name="T14" fmla="*/ 0 w 34"/>
                <a:gd name="T15" fmla="*/ 341 h 162"/>
                <a:gd name="T16" fmla="*/ 124 w 34"/>
                <a:gd name="T17" fmla="*/ 632 h 162"/>
                <a:gd name="T18" fmla="*/ 225 w 34"/>
                <a:gd name="T19" fmla="*/ 774 h 162"/>
                <a:gd name="T20" fmla="*/ 248 w 34"/>
                <a:gd name="T21" fmla="*/ 1458 h 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" h="162">
                  <a:moveTo>
                    <a:pt x="34" y="162"/>
                  </a:moveTo>
                  <a:cubicBezTo>
                    <a:pt x="34" y="162"/>
                    <a:pt x="33" y="86"/>
                    <a:pt x="33" y="80"/>
                  </a:cubicBezTo>
                  <a:cubicBezTo>
                    <a:pt x="33" y="74"/>
                    <a:pt x="31" y="72"/>
                    <a:pt x="26" y="70"/>
                  </a:cubicBezTo>
                  <a:cubicBezTo>
                    <a:pt x="13" y="66"/>
                    <a:pt x="4" y="51"/>
                    <a:pt x="4" y="37"/>
                  </a:cubicBezTo>
                  <a:cubicBezTo>
                    <a:pt x="4" y="27"/>
                    <a:pt x="8" y="19"/>
                    <a:pt x="14" y="13"/>
                  </a:cubicBezTo>
                  <a:cubicBezTo>
                    <a:pt x="18" y="9"/>
                    <a:pt x="20" y="6"/>
                    <a:pt x="19" y="0"/>
                  </a:cubicBezTo>
                  <a:cubicBezTo>
                    <a:pt x="19" y="3"/>
                    <a:pt x="17" y="7"/>
                    <a:pt x="11" y="14"/>
                  </a:cubicBezTo>
                  <a:cubicBezTo>
                    <a:pt x="4" y="20"/>
                    <a:pt x="0" y="27"/>
                    <a:pt x="0" y="38"/>
                  </a:cubicBezTo>
                  <a:cubicBezTo>
                    <a:pt x="0" y="49"/>
                    <a:pt x="7" y="65"/>
                    <a:pt x="17" y="70"/>
                  </a:cubicBezTo>
                  <a:cubicBezTo>
                    <a:pt x="27" y="75"/>
                    <a:pt x="31" y="78"/>
                    <a:pt x="31" y="86"/>
                  </a:cubicBezTo>
                  <a:cubicBezTo>
                    <a:pt x="32" y="94"/>
                    <a:pt x="34" y="162"/>
                    <a:pt x="34" y="16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" name="Freeform 2135">
              <a:extLst>
                <a:ext uri="{FF2B5EF4-FFF2-40B4-BE49-F238E27FC236}">
                  <a16:creationId xmlns:a16="http://schemas.microsoft.com/office/drawing/2014/main" id="{BAA12AEF-D730-814D-4C65-01D90D318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310"/>
              <a:ext cx="72" cy="310"/>
            </a:xfrm>
            <a:custGeom>
              <a:avLst/>
              <a:gdLst>
                <a:gd name="T0" fmla="*/ 0 w 37"/>
                <a:gd name="T1" fmla="*/ 1342 h 149"/>
                <a:gd name="T2" fmla="*/ 8 w 37"/>
                <a:gd name="T3" fmla="*/ 601 h 149"/>
                <a:gd name="T4" fmla="*/ 60 w 37"/>
                <a:gd name="T5" fmla="*/ 516 h 149"/>
                <a:gd name="T6" fmla="*/ 220 w 37"/>
                <a:gd name="T7" fmla="*/ 216 h 149"/>
                <a:gd name="T8" fmla="*/ 148 w 37"/>
                <a:gd name="T9" fmla="*/ 0 h 149"/>
                <a:gd name="T10" fmla="*/ 220 w 37"/>
                <a:gd name="T11" fmla="*/ 416 h 149"/>
                <a:gd name="T12" fmla="*/ 60 w 37"/>
                <a:gd name="T13" fmla="*/ 568 h 149"/>
                <a:gd name="T14" fmla="*/ 23 w 37"/>
                <a:gd name="T15" fmla="*/ 766 h 149"/>
                <a:gd name="T16" fmla="*/ 0 w 37"/>
                <a:gd name="T17" fmla="*/ 1342 h 1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149">
                  <a:moveTo>
                    <a:pt x="0" y="149"/>
                  </a:moveTo>
                  <a:cubicBezTo>
                    <a:pt x="0" y="149"/>
                    <a:pt x="1" y="73"/>
                    <a:pt x="1" y="67"/>
                  </a:cubicBezTo>
                  <a:cubicBezTo>
                    <a:pt x="1" y="61"/>
                    <a:pt x="3" y="59"/>
                    <a:pt x="8" y="57"/>
                  </a:cubicBezTo>
                  <a:cubicBezTo>
                    <a:pt x="21" y="53"/>
                    <a:pt x="30" y="38"/>
                    <a:pt x="30" y="24"/>
                  </a:cubicBezTo>
                  <a:cubicBezTo>
                    <a:pt x="30" y="14"/>
                    <a:pt x="26" y="6"/>
                    <a:pt x="20" y="0"/>
                  </a:cubicBezTo>
                  <a:cubicBezTo>
                    <a:pt x="33" y="12"/>
                    <a:pt x="37" y="33"/>
                    <a:pt x="30" y="46"/>
                  </a:cubicBezTo>
                  <a:cubicBezTo>
                    <a:pt x="22" y="59"/>
                    <a:pt x="13" y="60"/>
                    <a:pt x="8" y="63"/>
                  </a:cubicBezTo>
                  <a:cubicBezTo>
                    <a:pt x="4" y="65"/>
                    <a:pt x="4" y="73"/>
                    <a:pt x="3" y="85"/>
                  </a:cubicBezTo>
                  <a:cubicBezTo>
                    <a:pt x="3" y="97"/>
                    <a:pt x="0" y="149"/>
                    <a:pt x="0" y="1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" name="Freeform 2136">
              <a:extLst>
                <a:ext uri="{FF2B5EF4-FFF2-40B4-BE49-F238E27FC236}">
                  <a16:creationId xmlns:a16="http://schemas.microsoft.com/office/drawing/2014/main" id="{E18D0B15-C3B3-A710-D08F-04A2E40EB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3042"/>
              <a:ext cx="97" cy="174"/>
            </a:xfrm>
            <a:custGeom>
              <a:avLst/>
              <a:gdLst>
                <a:gd name="T0" fmla="*/ 365 w 50"/>
                <a:gd name="T1" fmla="*/ 0 h 84"/>
                <a:gd name="T2" fmla="*/ 0 w 50"/>
                <a:gd name="T3" fmla="*/ 746 h 84"/>
                <a:gd name="T4" fmla="*/ 365 w 50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84">
                  <a:moveTo>
                    <a:pt x="50" y="0"/>
                  </a:moveTo>
                  <a:cubicBezTo>
                    <a:pt x="38" y="7"/>
                    <a:pt x="21" y="24"/>
                    <a:pt x="0" y="84"/>
                  </a:cubicBezTo>
                  <a:cubicBezTo>
                    <a:pt x="10" y="60"/>
                    <a:pt x="33" y="13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" name="Freeform 2137">
              <a:extLst>
                <a:ext uri="{FF2B5EF4-FFF2-40B4-BE49-F238E27FC236}">
                  <a16:creationId xmlns:a16="http://schemas.microsoft.com/office/drawing/2014/main" id="{90832C23-AC2D-E1AF-ADE7-3161202E6A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81" y="3034"/>
              <a:ext cx="279" cy="409"/>
            </a:xfrm>
            <a:custGeom>
              <a:avLst/>
              <a:gdLst>
                <a:gd name="T0" fmla="*/ 499 w 143"/>
                <a:gd name="T1" fmla="*/ 866 h 197"/>
                <a:gd name="T2" fmla="*/ 8 w 143"/>
                <a:gd name="T3" fmla="*/ 0 h 197"/>
                <a:gd name="T4" fmla="*/ 0 w 143"/>
                <a:gd name="T5" fmla="*/ 0 h 197"/>
                <a:gd name="T6" fmla="*/ 236 w 143"/>
                <a:gd name="T7" fmla="*/ 324 h 197"/>
                <a:gd name="T8" fmla="*/ 484 w 143"/>
                <a:gd name="T9" fmla="*/ 1073 h 197"/>
                <a:gd name="T10" fmla="*/ 453 w 143"/>
                <a:gd name="T11" fmla="*/ 1190 h 197"/>
                <a:gd name="T12" fmla="*/ 373 w 143"/>
                <a:gd name="T13" fmla="*/ 1406 h 197"/>
                <a:gd name="T14" fmla="*/ 540 w 143"/>
                <a:gd name="T15" fmla="*/ 1673 h 197"/>
                <a:gd name="T16" fmla="*/ 593 w 143"/>
                <a:gd name="T17" fmla="*/ 1763 h 197"/>
                <a:gd name="T18" fmla="*/ 593 w 143"/>
                <a:gd name="T19" fmla="*/ 1109 h 197"/>
                <a:gd name="T20" fmla="*/ 499 w 143"/>
                <a:gd name="T21" fmla="*/ 866 h 197"/>
                <a:gd name="T22" fmla="*/ 960 w 143"/>
                <a:gd name="T23" fmla="*/ 324 h 197"/>
                <a:gd name="T24" fmla="*/ 1061 w 143"/>
                <a:gd name="T25" fmla="*/ 143 h 197"/>
                <a:gd name="T26" fmla="*/ 1048 w 143"/>
                <a:gd name="T27" fmla="*/ 152 h 197"/>
                <a:gd name="T28" fmla="*/ 704 w 143"/>
                <a:gd name="T29" fmla="*/ 905 h 197"/>
                <a:gd name="T30" fmla="*/ 609 w 143"/>
                <a:gd name="T31" fmla="*/ 1121 h 197"/>
                <a:gd name="T32" fmla="*/ 609 w 143"/>
                <a:gd name="T33" fmla="*/ 1215 h 197"/>
                <a:gd name="T34" fmla="*/ 609 w 143"/>
                <a:gd name="T35" fmla="*/ 1763 h 197"/>
                <a:gd name="T36" fmla="*/ 661 w 143"/>
                <a:gd name="T37" fmla="*/ 1673 h 197"/>
                <a:gd name="T38" fmla="*/ 825 w 143"/>
                <a:gd name="T39" fmla="*/ 1406 h 197"/>
                <a:gd name="T40" fmla="*/ 749 w 143"/>
                <a:gd name="T41" fmla="*/ 1190 h 197"/>
                <a:gd name="T42" fmla="*/ 720 w 143"/>
                <a:gd name="T43" fmla="*/ 1146 h 197"/>
                <a:gd name="T44" fmla="*/ 712 w 143"/>
                <a:gd name="T45" fmla="*/ 1146 h 197"/>
                <a:gd name="T46" fmla="*/ 704 w 143"/>
                <a:gd name="T47" fmla="*/ 1146 h 197"/>
                <a:gd name="T48" fmla="*/ 712 w 143"/>
                <a:gd name="T49" fmla="*/ 1138 h 197"/>
                <a:gd name="T50" fmla="*/ 712 w 143"/>
                <a:gd name="T51" fmla="*/ 1073 h 197"/>
                <a:gd name="T52" fmla="*/ 960 w 143"/>
                <a:gd name="T53" fmla="*/ 324 h 19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43" h="197">
                  <a:moveTo>
                    <a:pt x="67" y="97"/>
                  </a:moveTo>
                  <a:cubicBezTo>
                    <a:pt x="61" y="67"/>
                    <a:pt x="30" y="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8"/>
                    <a:pt x="24" y="21"/>
                    <a:pt x="32" y="36"/>
                  </a:cubicBezTo>
                  <a:cubicBezTo>
                    <a:pt x="43" y="55"/>
                    <a:pt x="53" y="80"/>
                    <a:pt x="65" y="120"/>
                  </a:cubicBezTo>
                  <a:cubicBezTo>
                    <a:pt x="67" y="126"/>
                    <a:pt x="65" y="129"/>
                    <a:pt x="61" y="133"/>
                  </a:cubicBezTo>
                  <a:cubicBezTo>
                    <a:pt x="54" y="139"/>
                    <a:pt x="50" y="147"/>
                    <a:pt x="50" y="157"/>
                  </a:cubicBezTo>
                  <a:cubicBezTo>
                    <a:pt x="50" y="171"/>
                    <a:pt x="60" y="183"/>
                    <a:pt x="73" y="187"/>
                  </a:cubicBezTo>
                  <a:cubicBezTo>
                    <a:pt x="78" y="189"/>
                    <a:pt x="80" y="191"/>
                    <a:pt x="80" y="197"/>
                  </a:cubicBezTo>
                  <a:cubicBezTo>
                    <a:pt x="80" y="124"/>
                    <a:pt x="80" y="124"/>
                    <a:pt x="80" y="124"/>
                  </a:cubicBezTo>
                  <a:cubicBezTo>
                    <a:pt x="69" y="117"/>
                    <a:pt x="69" y="107"/>
                    <a:pt x="67" y="97"/>
                  </a:cubicBezTo>
                  <a:close/>
                  <a:moveTo>
                    <a:pt x="129" y="36"/>
                  </a:moveTo>
                  <a:cubicBezTo>
                    <a:pt x="133" y="29"/>
                    <a:pt x="138" y="22"/>
                    <a:pt x="143" y="16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28" y="27"/>
                    <a:pt x="110" y="52"/>
                    <a:pt x="95" y="101"/>
                  </a:cubicBezTo>
                  <a:cubicBezTo>
                    <a:pt x="86" y="128"/>
                    <a:pt x="82" y="125"/>
                    <a:pt x="82" y="125"/>
                  </a:cubicBezTo>
                  <a:cubicBezTo>
                    <a:pt x="82" y="132"/>
                    <a:pt x="82" y="136"/>
                    <a:pt x="82" y="136"/>
                  </a:cubicBezTo>
                  <a:cubicBezTo>
                    <a:pt x="82" y="197"/>
                    <a:pt x="82" y="197"/>
                    <a:pt x="82" y="197"/>
                  </a:cubicBezTo>
                  <a:cubicBezTo>
                    <a:pt x="82" y="191"/>
                    <a:pt x="84" y="189"/>
                    <a:pt x="89" y="187"/>
                  </a:cubicBezTo>
                  <a:cubicBezTo>
                    <a:pt x="102" y="183"/>
                    <a:pt x="111" y="171"/>
                    <a:pt x="111" y="157"/>
                  </a:cubicBezTo>
                  <a:cubicBezTo>
                    <a:pt x="111" y="147"/>
                    <a:pt x="107" y="139"/>
                    <a:pt x="101" y="133"/>
                  </a:cubicBezTo>
                  <a:cubicBezTo>
                    <a:pt x="99" y="132"/>
                    <a:pt x="98" y="130"/>
                    <a:pt x="97" y="128"/>
                  </a:cubicBezTo>
                  <a:cubicBezTo>
                    <a:pt x="97" y="128"/>
                    <a:pt x="96" y="128"/>
                    <a:pt x="96" y="128"/>
                  </a:cubicBezTo>
                  <a:cubicBezTo>
                    <a:pt x="96" y="128"/>
                    <a:pt x="96" y="128"/>
                    <a:pt x="95" y="128"/>
                  </a:cubicBezTo>
                  <a:cubicBezTo>
                    <a:pt x="96" y="127"/>
                    <a:pt x="96" y="127"/>
                    <a:pt x="96" y="127"/>
                  </a:cubicBezTo>
                  <a:cubicBezTo>
                    <a:pt x="95" y="125"/>
                    <a:pt x="95" y="122"/>
                    <a:pt x="96" y="120"/>
                  </a:cubicBezTo>
                  <a:cubicBezTo>
                    <a:pt x="109" y="80"/>
                    <a:pt x="119" y="55"/>
                    <a:pt x="129" y="36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" name="Freeform 2138">
              <a:extLst>
                <a:ext uri="{FF2B5EF4-FFF2-40B4-BE49-F238E27FC236}">
                  <a16:creationId xmlns:a16="http://schemas.microsoft.com/office/drawing/2014/main" id="{9480CCC1-3109-3583-CBAA-1B20F123E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3042"/>
              <a:ext cx="101" cy="208"/>
            </a:xfrm>
            <a:custGeom>
              <a:avLst/>
              <a:gdLst>
                <a:gd name="T0" fmla="*/ 381 w 52"/>
                <a:gd name="T1" fmla="*/ 0 h 100"/>
                <a:gd name="T2" fmla="*/ 16 w 52"/>
                <a:gd name="T3" fmla="*/ 476 h 100"/>
                <a:gd name="T4" fmla="*/ 8 w 52"/>
                <a:gd name="T5" fmla="*/ 901 h 100"/>
                <a:gd name="T6" fmla="*/ 95 w 52"/>
                <a:gd name="T7" fmla="*/ 376 h 100"/>
                <a:gd name="T8" fmla="*/ 381 w 52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100">
                  <a:moveTo>
                    <a:pt x="52" y="0"/>
                  </a:moveTo>
                  <a:cubicBezTo>
                    <a:pt x="36" y="6"/>
                    <a:pt x="7" y="31"/>
                    <a:pt x="2" y="53"/>
                  </a:cubicBezTo>
                  <a:cubicBezTo>
                    <a:pt x="0" y="60"/>
                    <a:pt x="1" y="77"/>
                    <a:pt x="1" y="100"/>
                  </a:cubicBezTo>
                  <a:cubicBezTo>
                    <a:pt x="2" y="85"/>
                    <a:pt x="2" y="63"/>
                    <a:pt x="13" y="42"/>
                  </a:cubicBezTo>
                  <a:cubicBezTo>
                    <a:pt x="25" y="20"/>
                    <a:pt x="52" y="0"/>
                    <a:pt x="52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" name="Freeform 2139">
              <a:extLst>
                <a:ext uri="{FF2B5EF4-FFF2-40B4-BE49-F238E27FC236}">
                  <a16:creationId xmlns:a16="http://schemas.microsoft.com/office/drawing/2014/main" id="{8DF3C57D-8D92-7F60-40B2-630303826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" name="Freeform 2140">
              <a:extLst>
                <a:ext uri="{FF2B5EF4-FFF2-40B4-BE49-F238E27FC236}">
                  <a16:creationId xmlns:a16="http://schemas.microsoft.com/office/drawing/2014/main" id="{F81929C0-5B83-ADCE-5412-127418E70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" name="Freeform 2141">
              <a:extLst>
                <a:ext uri="{FF2B5EF4-FFF2-40B4-BE49-F238E27FC236}">
                  <a16:creationId xmlns:a16="http://schemas.microsoft.com/office/drawing/2014/main" id="{17490699-1CE5-FB7F-E332-BCB2CBB04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0" name="Freeform 2142">
              <a:extLst>
                <a:ext uri="{FF2B5EF4-FFF2-40B4-BE49-F238E27FC236}">
                  <a16:creationId xmlns:a16="http://schemas.microsoft.com/office/drawing/2014/main" id="{0BB559A0-A91D-0D30-B86C-C562F761D1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1" name="Freeform 2143">
              <a:extLst>
                <a:ext uri="{FF2B5EF4-FFF2-40B4-BE49-F238E27FC236}">
                  <a16:creationId xmlns:a16="http://schemas.microsoft.com/office/drawing/2014/main" id="{77F2048C-23E1-4DA3-B135-79D1B44A7B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2" name="CuadroTexto 1121">
            <a:extLst>
              <a:ext uri="{FF2B5EF4-FFF2-40B4-BE49-F238E27FC236}">
                <a16:creationId xmlns:a16="http://schemas.microsoft.com/office/drawing/2014/main" id="{CF519E0E-275F-37EB-FEB2-42295C44FC76}"/>
              </a:ext>
            </a:extLst>
          </p:cNvPr>
          <p:cNvSpPr txBox="1"/>
          <p:nvPr/>
        </p:nvSpPr>
        <p:spPr>
          <a:xfrm>
            <a:off x="-51959" y="6425306"/>
            <a:ext cx="1409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GLUT3</a:t>
            </a:r>
          </a:p>
          <a:p>
            <a:pPr algn="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900" dirty="0" err="1">
                <a:latin typeface="Arial" panose="020B0604020202020204" pitchFamily="34" charset="0"/>
                <a:cs typeface="Arial" panose="020B0604020202020204" pitchFamily="34" charset="0"/>
              </a:rPr>
              <a:t>Insulino</a:t>
            </a:r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-independiente)</a:t>
            </a:r>
          </a:p>
        </p:txBody>
      </p:sp>
      <p:sp>
        <p:nvSpPr>
          <p:cNvPr id="1123" name="CuadroTexto 1122">
            <a:extLst>
              <a:ext uri="{FF2B5EF4-FFF2-40B4-BE49-F238E27FC236}">
                <a16:creationId xmlns:a16="http://schemas.microsoft.com/office/drawing/2014/main" id="{44C01950-2780-A131-9E51-E1A5D6AD332B}"/>
              </a:ext>
            </a:extLst>
          </p:cNvPr>
          <p:cNvSpPr txBox="1"/>
          <p:nvPr/>
        </p:nvSpPr>
        <p:spPr>
          <a:xfrm>
            <a:off x="1885672" y="8335860"/>
            <a:ext cx="13308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Ayuno prolongado</a:t>
            </a:r>
          </a:p>
        </p:txBody>
      </p:sp>
      <p:sp>
        <p:nvSpPr>
          <p:cNvPr id="1124" name="CuadroTexto 1123">
            <a:extLst>
              <a:ext uri="{FF2B5EF4-FFF2-40B4-BE49-F238E27FC236}">
                <a16:creationId xmlns:a16="http://schemas.microsoft.com/office/drawing/2014/main" id="{B2569593-97B1-975F-F784-64F320D4489E}"/>
              </a:ext>
            </a:extLst>
          </p:cNvPr>
          <p:cNvSpPr txBox="1"/>
          <p:nvPr/>
        </p:nvSpPr>
        <p:spPr>
          <a:xfrm>
            <a:off x="707929" y="5323915"/>
            <a:ext cx="6399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Sangre</a:t>
            </a:r>
          </a:p>
        </p:txBody>
      </p:sp>
      <p:sp>
        <p:nvSpPr>
          <p:cNvPr id="1134" name="CuadroTexto 1133">
            <a:extLst>
              <a:ext uri="{FF2B5EF4-FFF2-40B4-BE49-F238E27FC236}">
                <a16:creationId xmlns:a16="http://schemas.microsoft.com/office/drawing/2014/main" id="{4665CBDF-C2D0-1FE9-5FDE-CADD8ABD315D}"/>
              </a:ext>
            </a:extLst>
          </p:cNvPr>
          <p:cNvSpPr txBox="1"/>
          <p:nvPr/>
        </p:nvSpPr>
        <p:spPr>
          <a:xfrm>
            <a:off x="-36482" y="8245730"/>
            <a:ext cx="16923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Condiciones fisiológicas normales</a:t>
            </a:r>
          </a:p>
        </p:txBody>
      </p:sp>
      <p:cxnSp>
        <p:nvCxnSpPr>
          <p:cNvPr id="1135" name="Conector: angular 1134">
            <a:extLst>
              <a:ext uri="{FF2B5EF4-FFF2-40B4-BE49-F238E27FC236}">
                <a16:creationId xmlns:a16="http://schemas.microsoft.com/office/drawing/2014/main" id="{35A6CCD7-67B2-96A4-0A8E-04547C82C8DD}"/>
              </a:ext>
            </a:extLst>
          </p:cNvPr>
          <p:cNvCxnSpPr>
            <a:cxnSpLocks/>
            <a:stCxn id="149" idx="2"/>
            <a:endCxn id="1069" idx="3"/>
          </p:cNvCxnSpPr>
          <p:nvPr/>
        </p:nvCxnSpPr>
        <p:spPr>
          <a:xfrm rot="5400000">
            <a:off x="2334228" y="6647479"/>
            <a:ext cx="1311411" cy="428241"/>
          </a:xfrm>
          <a:prstGeom prst="bent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8" name="CuadroTexto 1137">
            <a:extLst>
              <a:ext uri="{FF2B5EF4-FFF2-40B4-BE49-F238E27FC236}">
                <a16:creationId xmlns:a16="http://schemas.microsoft.com/office/drawing/2014/main" id="{A1C8EDC9-D687-3228-656A-60C7ACD005C4}"/>
              </a:ext>
            </a:extLst>
          </p:cNvPr>
          <p:cNvSpPr txBox="1"/>
          <p:nvPr/>
        </p:nvSpPr>
        <p:spPr>
          <a:xfrm>
            <a:off x="2523268" y="6824918"/>
            <a:ext cx="8241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Cetólisis</a:t>
            </a:r>
            <a:endParaRPr lang="es-ES" sz="9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9" name="CuadroTexto 1138">
            <a:extLst>
              <a:ext uri="{FF2B5EF4-FFF2-40B4-BE49-F238E27FC236}">
                <a16:creationId xmlns:a16="http://schemas.microsoft.com/office/drawing/2014/main" id="{2D58A868-A6F0-985E-80AD-99BA661F0986}"/>
              </a:ext>
            </a:extLst>
          </p:cNvPr>
          <p:cNvSpPr txBox="1"/>
          <p:nvPr/>
        </p:nvSpPr>
        <p:spPr>
          <a:xfrm>
            <a:off x="2020051" y="2848937"/>
            <a:ext cx="663964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Hígado</a:t>
            </a:r>
          </a:p>
        </p:txBody>
      </p:sp>
      <p:sp>
        <p:nvSpPr>
          <p:cNvPr id="1140" name="CuadroTexto 1139">
            <a:extLst>
              <a:ext uri="{FF2B5EF4-FFF2-40B4-BE49-F238E27FC236}">
                <a16:creationId xmlns:a16="http://schemas.microsoft.com/office/drawing/2014/main" id="{EDB09CA4-D48A-64CA-262E-C9F582111083}"/>
              </a:ext>
            </a:extLst>
          </p:cNvPr>
          <p:cNvSpPr txBox="1"/>
          <p:nvPr/>
        </p:nvSpPr>
        <p:spPr>
          <a:xfrm>
            <a:off x="1007449" y="33897"/>
            <a:ext cx="15712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Músculo esquelético</a:t>
            </a:r>
          </a:p>
        </p:txBody>
      </p:sp>
      <p:sp>
        <p:nvSpPr>
          <p:cNvPr id="1141" name="CuadroTexto 1140">
            <a:extLst>
              <a:ext uri="{FF2B5EF4-FFF2-40B4-BE49-F238E27FC236}">
                <a16:creationId xmlns:a16="http://schemas.microsoft.com/office/drawing/2014/main" id="{FCFB0A02-E6B2-658C-A3CC-EFD4AE0172E7}"/>
              </a:ext>
            </a:extLst>
          </p:cNvPr>
          <p:cNvSpPr txBox="1"/>
          <p:nvPr/>
        </p:nvSpPr>
        <p:spPr>
          <a:xfrm>
            <a:off x="1342198" y="8521377"/>
            <a:ext cx="7264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Cerebro</a:t>
            </a:r>
          </a:p>
        </p:txBody>
      </p:sp>
      <p:pic>
        <p:nvPicPr>
          <p:cNvPr id="1142" name="Picture 6" descr="technical anatomical line-art drawing of isolated human cardiac muscle, schematic and professional for a medical textbook, clean black contour lines only, no shading, no color, no gradients, pure white background">
            <a:extLst>
              <a:ext uri="{FF2B5EF4-FFF2-40B4-BE49-F238E27FC236}">
                <a16:creationId xmlns:a16="http://schemas.microsoft.com/office/drawing/2014/main" id="{A71FCB9D-0880-825A-CBB1-1CC9AC85F0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2" t="9613" r="11588" b="13327"/>
          <a:stretch>
            <a:fillRect/>
          </a:stretch>
        </p:blipFill>
        <p:spPr bwMode="auto">
          <a:xfrm>
            <a:off x="5336885" y="374052"/>
            <a:ext cx="1308780" cy="1930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43" name="Conector: angular 1142">
            <a:extLst>
              <a:ext uri="{FF2B5EF4-FFF2-40B4-BE49-F238E27FC236}">
                <a16:creationId xmlns:a16="http://schemas.microsoft.com/office/drawing/2014/main" id="{844B150D-1500-37BF-CF9C-B589E25972AD}"/>
              </a:ext>
            </a:extLst>
          </p:cNvPr>
          <p:cNvCxnSpPr>
            <a:cxnSpLocks/>
            <a:endCxn id="1142" idx="1"/>
          </p:cNvCxnSpPr>
          <p:nvPr/>
        </p:nvCxnSpPr>
        <p:spPr>
          <a:xfrm flipV="1">
            <a:off x="4270014" y="1339106"/>
            <a:ext cx="1066871" cy="1051673"/>
          </a:xfrm>
          <a:prstGeom prst="bentConnector3">
            <a:avLst>
              <a:gd name="adj1" fmla="val 566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6" name="CuadroTexto 1145">
            <a:extLst>
              <a:ext uri="{FF2B5EF4-FFF2-40B4-BE49-F238E27FC236}">
                <a16:creationId xmlns:a16="http://schemas.microsoft.com/office/drawing/2014/main" id="{0793C3E4-F97B-C40C-E2C2-BBCE688D512A}"/>
              </a:ext>
            </a:extLst>
          </p:cNvPr>
          <p:cNvSpPr txBox="1"/>
          <p:nvPr/>
        </p:nvSpPr>
        <p:spPr>
          <a:xfrm>
            <a:off x="3460930" y="1529929"/>
            <a:ext cx="8457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Cuerpos cetónicos</a:t>
            </a:r>
          </a:p>
        </p:txBody>
      </p:sp>
      <p:cxnSp>
        <p:nvCxnSpPr>
          <p:cNvPr id="1152" name="Conector: angular 1151">
            <a:extLst>
              <a:ext uri="{FF2B5EF4-FFF2-40B4-BE49-F238E27FC236}">
                <a16:creationId xmlns:a16="http://schemas.microsoft.com/office/drawing/2014/main" id="{7CD25A8E-2CC7-CBD9-A45B-A31F21FA7FEB}"/>
              </a:ext>
            </a:extLst>
          </p:cNvPr>
          <p:cNvCxnSpPr>
            <a:cxnSpLocks/>
          </p:cNvCxnSpPr>
          <p:nvPr/>
        </p:nvCxnSpPr>
        <p:spPr>
          <a:xfrm flipV="1">
            <a:off x="4367516" y="1646542"/>
            <a:ext cx="1071416" cy="756637"/>
          </a:xfrm>
          <a:prstGeom prst="bentConnector3">
            <a:avLst>
              <a:gd name="adj1" fmla="val -86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8" name="CuadroTexto 1157">
            <a:extLst>
              <a:ext uri="{FF2B5EF4-FFF2-40B4-BE49-F238E27FC236}">
                <a16:creationId xmlns:a16="http://schemas.microsoft.com/office/drawing/2014/main" id="{3F75B88B-217C-1238-A372-7FECB07C8BC0}"/>
              </a:ext>
            </a:extLst>
          </p:cNvPr>
          <p:cNvSpPr txBox="1"/>
          <p:nvPr/>
        </p:nvSpPr>
        <p:spPr>
          <a:xfrm>
            <a:off x="4280279" y="1931612"/>
            <a:ext cx="4161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AG</a:t>
            </a:r>
          </a:p>
        </p:txBody>
      </p:sp>
      <p:sp>
        <p:nvSpPr>
          <p:cNvPr id="1159" name="CuadroTexto 1158">
            <a:extLst>
              <a:ext uri="{FF2B5EF4-FFF2-40B4-BE49-F238E27FC236}">
                <a16:creationId xmlns:a16="http://schemas.microsoft.com/office/drawing/2014/main" id="{2DF930D9-127B-3391-A61C-B58BF9597E12}"/>
              </a:ext>
            </a:extLst>
          </p:cNvPr>
          <p:cNvSpPr txBox="1"/>
          <p:nvPr/>
        </p:nvSpPr>
        <p:spPr>
          <a:xfrm>
            <a:off x="4918457" y="1627176"/>
            <a:ext cx="5681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CPT-I</a:t>
            </a:r>
          </a:p>
        </p:txBody>
      </p:sp>
      <p:cxnSp>
        <p:nvCxnSpPr>
          <p:cNvPr id="1160" name="Conector: angular 1159">
            <a:extLst>
              <a:ext uri="{FF2B5EF4-FFF2-40B4-BE49-F238E27FC236}">
                <a16:creationId xmlns:a16="http://schemas.microsoft.com/office/drawing/2014/main" id="{597E4E79-8096-D045-FACC-98D5887488AC}"/>
              </a:ext>
            </a:extLst>
          </p:cNvPr>
          <p:cNvCxnSpPr>
            <a:cxnSpLocks/>
          </p:cNvCxnSpPr>
          <p:nvPr/>
        </p:nvCxnSpPr>
        <p:spPr>
          <a:xfrm flipV="1">
            <a:off x="4713942" y="1974988"/>
            <a:ext cx="921720" cy="494239"/>
          </a:xfrm>
          <a:prstGeom prst="bentConnector3">
            <a:avLst>
              <a:gd name="adj1" fmla="val -60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6" name="CuadroTexto 1165">
            <a:extLst>
              <a:ext uri="{FF2B5EF4-FFF2-40B4-BE49-F238E27FC236}">
                <a16:creationId xmlns:a16="http://schemas.microsoft.com/office/drawing/2014/main" id="{68ADC7C2-51B6-61A2-DD83-DC4C1816F0A6}"/>
              </a:ext>
            </a:extLst>
          </p:cNvPr>
          <p:cNvSpPr txBox="1"/>
          <p:nvPr/>
        </p:nvSpPr>
        <p:spPr>
          <a:xfrm>
            <a:off x="4706701" y="1955966"/>
            <a:ext cx="6463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Lactato</a:t>
            </a:r>
          </a:p>
        </p:txBody>
      </p:sp>
      <p:sp>
        <p:nvSpPr>
          <p:cNvPr id="1167" name="CuadroTexto 1166">
            <a:extLst>
              <a:ext uri="{FF2B5EF4-FFF2-40B4-BE49-F238E27FC236}">
                <a16:creationId xmlns:a16="http://schemas.microsoft.com/office/drawing/2014/main" id="{6A69125E-3755-4C9D-F41D-BA37497F5DAC}"/>
              </a:ext>
            </a:extLst>
          </p:cNvPr>
          <p:cNvSpPr txBox="1"/>
          <p:nvPr/>
        </p:nvSpPr>
        <p:spPr>
          <a:xfrm>
            <a:off x="5732255" y="1557671"/>
            <a:ext cx="702436" cy="26161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Piruvato</a:t>
            </a:r>
          </a:p>
        </p:txBody>
      </p:sp>
      <p:sp>
        <p:nvSpPr>
          <p:cNvPr id="1168" name="CuadroTexto 1167">
            <a:extLst>
              <a:ext uri="{FF2B5EF4-FFF2-40B4-BE49-F238E27FC236}">
                <a16:creationId xmlns:a16="http://schemas.microsoft.com/office/drawing/2014/main" id="{5CF773DE-8DF4-789E-CF75-3F7FA49FE933}"/>
              </a:ext>
            </a:extLst>
          </p:cNvPr>
          <p:cNvSpPr txBox="1"/>
          <p:nvPr/>
        </p:nvSpPr>
        <p:spPr>
          <a:xfrm>
            <a:off x="5557607" y="1127923"/>
            <a:ext cx="381836" cy="26161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CK</a:t>
            </a:r>
          </a:p>
        </p:txBody>
      </p:sp>
      <p:cxnSp>
        <p:nvCxnSpPr>
          <p:cNvPr id="1170" name="Conector: curvado 1169">
            <a:extLst>
              <a:ext uri="{FF2B5EF4-FFF2-40B4-BE49-F238E27FC236}">
                <a16:creationId xmlns:a16="http://schemas.microsoft.com/office/drawing/2014/main" id="{1EFB6862-3B92-BB7A-D5EF-205CAE88DBA5}"/>
              </a:ext>
            </a:extLst>
          </p:cNvPr>
          <p:cNvCxnSpPr>
            <a:cxnSpLocks/>
            <a:endCxn id="1167" idx="2"/>
          </p:cNvCxnSpPr>
          <p:nvPr/>
        </p:nvCxnSpPr>
        <p:spPr>
          <a:xfrm flipV="1">
            <a:off x="5665805" y="1819281"/>
            <a:ext cx="417668" cy="15570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1" name="Conector: curvado 1170">
            <a:extLst>
              <a:ext uri="{FF2B5EF4-FFF2-40B4-BE49-F238E27FC236}">
                <a16:creationId xmlns:a16="http://schemas.microsoft.com/office/drawing/2014/main" id="{87D16DAF-C91E-0A73-CD2A-3DFD5DBC45D7}"/>
              </a:ext>
            </a:extLst>
          </p:cNvPr>
          <p:cNvCxnSpPr>
            <a:cxnSpLocks/>
            <a:stCxn id="1167" idx="0"/>
            <a:endCxn id="1168" idx="3"/>
          </p:cNvCxnSpPr>
          <p:nvPr/>
        </p:nvCxnSpPr>
        <p:spPr>
          <a:xfrm rot="16200000" flipV="1">
            <a:off x="5861987" y="1336185"/>
            <a:ext cx="298943" cy="14403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5" name="CuadroTexto 1174">
            <a:extLst>
              <a:ext uri="{FF2B5EF4-FFF2-40B4-BE49-F238E27FC236}">
                <a16:creationId xmlns:a16="http://schemas.microsoft.com/office/drawing/2014/main" id="{C7D3351F-B300-4FC4-40F2-DB6585039857}"/>
              </a:ext>
            </a:extLst>
          </p:cNvPr>
          <p:cNvSpPr txBox="1"/>
          <p:nvPr/>
        </p:nvSpPr>
        <p:spPr>
          <a:xfrm>
            <a:off x="5236743" y="33139"/>
            <a:ext cx="13756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Músculo cardíaco</a:t>
            </a:r>
          </a:p>
        </p:txBody>
      </p:sp>
      <p:pic>
        <p:nvPicPr>
          <p:cNvPr id="1193" name="Picture 8" descr="technical anatomical line-art drawing of an isolated human kidney, schematic and professional for a medical textbook, clean black contour lines only, no shading, no color, no gradients, pure white background">
            <a:extLst>
              <a:ext uri="{FF2B5EF4-FFF2-40B4-BE49-F238E27FC236}">
                <a16:creationId xmlns:a16="http://schemas.microsoft.com/office/drawing/2014/main" id="{F63959F2-2429-C6CC-8AA6-E25862BD75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7" t="13237" r="9488" b="12697"/>
          <a:stretch>
            <a:fillRect/>
          </a:stretch>
        </p:blipFill>
        <p:spPr bwMode="auto">
          <a:xfrm>
            <a:off x="6337003" y="6656273"/>
            <a:ext cx="1167071" cy="158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94" name="CuadroTexto 1193">
            <a:extLst>
              <a:ext uri="{FF2B5EF4-FFF2-40B4-BE49-F238E27FC236}">
                <a16:creationId xmlns:a16="http://schemas.microsoft.com/office/drawing/2014/main" id="{7890F3A9-7943-CEEB-0E53-BAEAC36BAE75}"/>
              </a:ext>
            </a:extLst>
          </p:cNvPr>
          <p:cNvSpPr txBox="1"/>
          <p:nvPr/>
        </p:nvSpPr>
        <p:spPr>
          <a:xfrm>
            <a:off x="6768558" y="7055750"/>
            <a:ext cx="79111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Glucosa-6-fosfatasa</a:t>
            </a:r>
          </a:p>
        </p:txBody>
      </p:sp>
      <p:sp>
        <p:nvSpPr>
          <p:cNvPr id="1195" name="CuadroTexto 1194">
            <a:extLst>
              <a:ext uri="{FF2B5EF4-FFF2-40B4-BE49-F238E27FC236}">
                <a16:creationId xmlns:a16="http://schemas.microsoft.com/office/drawing/2014/main" id="{3DD4DFE3-E608-4AE0-F948-4BBCF14732BB}"/>
              </a:ext>
            </a:extLst>
          </p:cNvPr>
          <p:cNvSpPr txBox="1"/>
          <p:nvPr/>
        </p:nvSpPr>
        <p:spPr>
          <a:xfrm>
            <a:off x="6712234" y="6339099"/>
            <a:ext cx="9124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Lactato, AA</a:t>
            </a:r>
          </a:p>
        </p:txBody>
      </p:sp>
      <p:cxnSp>
        <p:nvCxnSpPr>
          <p:cNvPr id="1196" name="Conector: angular 1195">
            <a:extLst>
              <a:ext uri="{FF2B5EF4-FFF2-40B4-BE49-F238E27FC236}">
                <a16:creationId xmlns:a16="http://schemas.microsoft.com/office/drawing/2014/main" id="{30DAE138-6071-F8CE-26BC-6F9A9D62BCA1}"/>
              </a:ext>
            </a:extLst>
          </p:cNvPr>
          <p:cNvCxnSpPr>
            <a:cxnSpLocks/>
            <a:endCxn id="1195" idx="0"/>
          </p:cNvCxnSpPr>
          <p:nvPr/>
        </p:nvCxnSpPr>
        <p:spPr>
          <a:xfrm rot="16200000" flipH="1">
            <a:off x="6257187" y="5427837"/>
            <a:ext cx="1111174" cy="711350"/>
          </a:xfrm>
          <a:prstGeom prst="bentConnector3">
            <a:avLst>
              <a:gd name="adj1" fmla="val -77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0" name="Conector recto de flecha 1199">
            <a:extLst>
              <a:ext uri="{FF2B5EF4-FFF2-40B4-BE49-F238E27FC236}">
                <a16:creationId xmlns:a16="http://schemas.microsoft.com/office/drawing/2014/main" id="{A8BFBB8B-7070-F546-BB69-F0C5E66BB234}"/>
              </a:ext>
            </a:extLst>
          </p:cNvPr>
          <p:cNvCxnSpPr>
            <a:cxnSpLocks/>
            <a:stCxn id="1195" idx="2"/>
            <a:endCxn id="1194" idx="0"/>
          </p:cNvCxnSpPr>
          <p:nvPr/>
        </p:nvCxnSpPr>
        <p:spPr>
          <a:xfrm flipH="1">
            <a:off x="7164117" y="6600709"/>
            <a:ext cx="4332" cy="455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4" name="CuadroTexto 1203">
            <a:extLst>
              <a:ext uri="{FF2B5EF4-FFF2-40B4-BE49-F238E27FC236}">
                <a16:creationId xmlns:a16="http://schemas.microsoft.com/office/drawing/2014/main" id="{5B7ED096-6B11-F736-08D7-FFD2E20929DA}"/>
              </a:ext>
            </a:extLst>
          </p:cNvPr>
          <p:cNvSpPr txBox="1"/>
          <p:nvPr/>
        </p:nvSpPr>
        <p:spPr>
          <a:xfrm>
            <a:off x="1038244" y="2004263"/>
            <a:ext cx="8274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Glutamina</a:t>
            </a:r>
          </a:p>
        </p:txBody>
      </p:sp>
      <p:cxnSp>
        <p:nvCxnSpPr>
          <p:cNvPr id="1205" name="Conector recto de flecha 1204">
            <a:extLst>
              <a:ext uri="{FF2B5EF4-FFF2-40B4-BE49-F238E27FC236}">
                <a16:creationId xmlns:a16="http://schemas.microsoft.com/office/drawing/2014/main" id="{189C1D45-74CE-46A7-8222-561C236968B6}"/>
              </a:ext>
            </a:extLst>
          </p:cNvPr>
          <p:cNvCxnSpPr>
            <a:cxnSpLocks/>
            <a:stCxn id="1204" idx="2"/>
          </p:cNvCxnSpPr>
          <p:nvPr/>
        </p:nvCxnSpPr>
        <p:spPr>
          <a:xfrm>
            <a:off x="1451980" y="2265873"/>
            <a:ext cx="0" cy="955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7" name="Conector recto de flecha 1206">
            <a:extLst>
              <a:ext uri="{FF2B5EF4-FFF2-40B4-BE49-F238E27FC236}">
                <a16:creationId xmlns:a16="http://schemas.microsoft.com/office/drawing/2014/main" id="{A9E1F44A-817C-39BC-81FA-A5FE8A61D079}"/>
              </a:ext>
            </a:extLst>
          </p:cNvPr>
          <p:cNvCxnSpPr>
            <a:cxnSpLocks/>
            <a:endCxn id="1204" idx="0"/>
          </p:cNvCxnSpPr>
          <p:nvPr/>
        </p:nvCxnSpPr>
        <p:spPr>
          <a:xfrm>
            <a:off x="1451980" y="1618071"/>
            <a:ext cx="0" cy="3861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11" name="CuadroTexto 1210">
            <a:extLst>
              <a:ext uri="{FF2B5EF4-FFF2-40B4-BE49-F238E27FC236}">
                <a16:creationId xmlns:a16="http://schemas.microsoft.com/office/drawing/2014/main" id="{C537CE3B-2EEE-6E15-4A3B-3858D9A4846C}"/>
              </a:ext>
            </a:extLst>
          </p:cNvPr>
          <p:cNvSpPr txBox="1"/>
          <p:nvPr/>
        </p:nvSpPr>
        <p:spPr>
          <a:xfrm>
            <a:off x="6077850" y="6581546"/>
            <a:ext cx="8274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Glutamina</a:t>
            </a:r>
          </a:p>
        </p:txBody>
      </p:sp>
      <p:sp>
        <p:nvSpPr>
          <p:cNvPr id="1216" name="CuadroTexto 1215">
            <a:extLst>
              <a:ext uri="{FF2B5EF4-FFF2-40B4-BE49-F238E27FC236}">
                <a16:creationId xmlns:a16="http://schemas.microsoft.com/office/drawing/2014/main" id="{DCB76A00-648C-381A-965E-B7EBF1CF03CC}"/>
              </a:ext>
            </a:extLst>
          </p:cNvPr>
          <p:cNvSpPr txBox="1"/>
          <p:nvPr/>
        </p:nvSpPr>
        <p:spPr>
          <a:xfrm>
            <a:off x="6492896" y="7658074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</a:p>
        </p:txBody>
      </p:sp>
      <p:cxnSp>
        <p:nvCxnSpPr>
          <p:cNvPr id="1217" name="Conector: angular 1216">
            <a:extLst>
              <a:ext uri="{FF2B5EF4-FFF2-40B4-BE49-F238E27FC236}">
                <a16:creationId xmlns:a16="http://schemas.microsoft.com/office/drawing/2014/main" id="{D08B95D6-13E4-10B2-D764-6D8914901DB0}"/>
              </a:ext>
            </a:extLst>
          </p:cNvPr>
          <p:cNvCxnSpPr>
            <a:cxnSpLocks/>
            <a:endCxn id="1211" idx="0"/>
          </p:cNvCxnSpPr>
          <p:nvPr/>
        </p:nvCxnSpPr>
        <p:spPr>
          <a:xfrm rot="16200000" flipH="1">
            <a:off x="5834184" y="5924143"/>
            <a:ext cx="900031" cy="414773"/>
          </a:xfrm>
          <a:prstGeom prst="bentConnector3">
            <a:avLst>
              <a:gd name="adj1" fmla="val 62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2" name="Conector: angular 1221">
            <a:extLst>
              <a:ext uri="{FF2B5EF4-FFF2-40B4-BE49-F238E27FC236}">
                <a16:creationId xmlns:a16="http://schemas.microsoft.com/office/drawing/2014/main" id="{F1B13A65-0564-A3C9-49D7-4F25C43D7920}"/>
              </a:ext>
            </a:extLst>
          </p:cNvPr>
          <p:cNvCxnSpPr>
            <a:cxnSpLocks/>
            <a:stCxn id="1194" idx="2"/>
            <a:endCxn id="1216" idx="0"/>
          </p:cNvCxnSpPr>
          <p:nvPr/>
        </p:nvCxnSpPr>
        <p:spPr>
          <a:xfrm rot="5400000">
            <a:off x="6887620" y="7381577"/>
            <a:ext cx="232992" cy="320003"/>
          </a:xfrm>
          <a:prstGeom prst="bentConnector3">
            <a:avLst>
              <a:gd name="adj1" fmla="val 3707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6" name="Conector: angular 1225">
            <a:extLst>
              <a:ext uri="{FF2B5EF4-FFF2-40B4-BE49-F238E27FC236}">
                <a16:creationId xmlns:a16="http://schemas.microsoft.com/office/drawing/2014/main" id="{5A9AC21F-CFAD-62B8-1BE5-DFDEAF4472F6}"/>
              </a:ext>
            </a:extLst>
          </p:cNvPr>
          <p:cNvCxnSpPr>
            <a:cxnSpLocks/>
            <a:stCxn id="1211" idx="2"/>
            <a:endCxn id="1216" idx="0"/>
          </p:cNvCxnSpPr>
          <p:nvPr/>
        </p:nvCxnSpPr>
        <p:spPr>
          <a:xfrm rot="16200000" flipH="1">
            <a:off x="6260391" y="7074351"/>
            <a:ext cx="814918" cy="352528"/>
          </a:xfrm>
          <a:prstGeom prst="bentConnector3">
            <a:avLst>
              <a:gd name="adj1" fmla="val 814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1" name="Conector: angular 1230">
            <a:extLst>
              <a:ext uri="{FF2B5EF4-FFF2-40B4-BE49-F238E27FC236}">
                <a16:creationId xmlns:a16="http://schemas.microsoft.com/office/drawing/2014/main" id="{F8E0EFD8-83E6-5CA9-D8CF-33F6528B034C}"/>
              </a:ext>
            </a:extLst>
          </p:cNvPr>
          <p:cNvCxnSpPr>
            <a:cxnSpLocks/>
            <a:endCxn id="1234" idx="0"/>
          </p:cNvCxnSpPr>
          <p:nvPr/>
        </p:nvCxnSpPr>
        <p:spPr>
          <a:xfrm rot="5400000">
            <a:off x="5983514" y="7037112"/>
            <a:ext cx="686876" cy="33584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4" name="CuadroTexto 1233">
            <a:extLst>
              <a:ext uri="{FF2B5EF4-FFF2-40B4-BE49-F238E27FC236}">
                <a16:creationId xmlns:a16="http://schemas.microsoft.com/office/drawing/2014/main" id="{2E322C86-7499-1E31-43F3-793C36E82075}"/>
              </a:ext>
            </a:extLst>
          </p:cNvPr>
          <p:cNvSpPr txBox="1"/>
          <p:nvPr/>
        </p:nvSpPr>
        <p:spPr>
          <a:xfrm>
            <a:off x="5910402" y="7548474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236" name="CuadroTexto 1235">
            <a:extLst>
              <a:ext uri="{FF2B5EF4-FFF2-40B4-BE49-F238E27FC236}">
                <a16:creationId xmlns:a16="http://schemas.microsoft.com/office/drawing/2014/main" id="{6FA0E537-0FCC-6232-5BAD-C4AED7F3E871}"/>
              </a:ext>
            </a:extLst>
          </p:cNvPr>
          <p:cNvSpPr txBox="1"/>
          <p:nvPr/>
        </p:nvSpPr>
        <p:spPr>
          <a:xfrm>
            <a:off x="5460442" y="6789208"/>
            <a:ext cx="9380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Bicarbonato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37" name="Conector: angular 1236">
            <a:extLst>
              <a:ext uri="{FF2B5EF4-FFF2-40B4-BE49-F238E27FC236}">
                <a16:creationId xmlns:a16="http://schemas.microsoft.com/office/drawing/2014/main" id="{B7F66AFB-A21A-E103-9688-E5E24D0C089F}"/>
              </a:ext>
            </a:extLst>
          </p:cNvPr>
          <p:cNvCxnSpPr>
            <a:cxnSpLocks/>
          </p:cNvCxnSpPr>
          <p:nvPr/>
        </p:nvCxnSpPr>
        <p:spPr>
          <a:xfrm rot="10800000">
            <a:off x="5929482" y="7057695"/>
            <a:ext cx="557259" cy="14478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0" name="Conector: angular 1239">
            <a:extLst>
              <a:ext uri="{FF2B5EF4-FFF2-40B4-BE49-F238E27FC236}">
                <a16:creationId xmlns:a16="http://schemas.microsoft.com/office/drawing/2014/main" id="{E0E2BD37-0DD1-62A8-7C20-75145BA8B114}"/>
              </a:ext>
            </a:extLst>
          </p:cNvPr>
          <p:cNvCxnSpPr>
            <a:cxnSpLocks/>
            <a:stCxn id="1236" idx="0"/>
          </p:cNvCxnSpPr>
          <p:nvPr/>
        </p:nvCxnSpPr>
        <p:spPr>
          <a:xfrm rot="16200000" flipV="1">
            <a:off x="5396200" y="6255927"/>
            <a:ext cx="812552" cy="254010"/>
          </a:xfrm>
          <a:prstGeom prst="bentConnector3">
            <a:avLst>
              <a:gd name="adj1" fmla="val 9949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7" name="CuadroTexto 1246">
            <a:extLst>
              <a:ext uri="{FF2B5EF4-FFF2-40B4-BE49-F238E27FC236}">
                <a16:creationId xmlns:a16="http://schemas.microsoft.com/office/drawing/2014/main" id="{46742309-463C-9BB2-17DB-6C6D18F1E815}"/>
              </a:ext>
            </a:extLst>
          </p:cNvPr>
          <p:cNvSpPr txBox="1"/>
          <p:nvPr/>
        </p:nvSpPr>
        <p:spPr>
          <a:xfrm>
            <a:off x="6645665" y="8521377"/>
            <a:ext cx="5854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Riñón</a:t>
            </a:r>
          </a:p>
        </p:txBody>
      </p:sp>
      <p:pic>
        <p:nvPicPr>
          <p:cNvPr id="1248" name="Picture 10" descr="technical anatomical line-art drawing of human adipose tissue, schematic and professional for a medical textbook, clean black contour lines only, no shading, no color, no gradients, pure white background">
            <a:extLst>
              <a:ext uri="{FF2B5EF4-FFF2-40B4-BE49-F238E27FC236}">
                <a16:creationId xmlns:a16="http://schemas.microsoft.com/office/drawing/2014/main" id="{04A015DA-6640-E1E3-2A0B-699C70D848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94" t="6338" r="12304" b="5081"/>
          <a:stretch>
            <a:fillRect/>
          </a:stretch>
        </p:blipFill>
        <p:spPr bwMode="auto">
          <a:xfrm>
            <a:off x="3491603" y="6775726"/>
            <a:ext cx="1845282" cy="1433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50" name="Conector recto 1249">
            <a:extLst>
              <a:ext uri="{FF2B5EF4-FFF2-40B4-BE49-F238E27FC236}">
                <a16:creationId xmlns:a16="http://schemas.microsoft.com/office/drawing/2014/main" id="{8E565871-9E74-99DB-FEC9-BE1DDA2FFAD9}"/>
              </a:ext>
            </a:extLst>
          </p:cNvPr>
          <p:cNvCxnSpPr>
            <a:cxnSpLocks/>
          </p:cNvCxnSpPr>
          <p:nvPr/>
        </p:nvCxnSpPr>
        <p:spPr>
          <a:xfrm>
            <a:off x="4397578" y="6581546"/>
            <a:ext cx="0" cy="1879627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3" name="CuadroTexto 1252">
            <a:extLst>
              <a:ext uri="{FF2B5EF4-FFF2-40B4-BE49-F238E27FC236}">
                <a16:creationId xmlns:a16="http://schemas.microsoft.com/office/drawing/2014/main" id="{C0A28476-DAD9-71D6-4D57-AB341F95F808}"/>
              </a:ext>
            </a:extLst>
          </p:cNvPr>
          <p:cNvSpPr txBox="1"/>
          <p:nvPr/>
        </p:nvSpPr>
        <p:spPr>
          <a:xfrm>
            <a:off x="3819897" y="8335860"/>
            <a:ext cx="4603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</a:t>
            </a:r>
          </a:p>
        </p:txBody>
      </p:sp>
      <p:sp>
        <p:nvSpPr>
          <p:cNvPr id="1254" name="CuadroTexto 1253">
            <a:extLst>
              <a:ext uri="{FF2B5EF4-FFF2-40B4-BE49-F238E27FC236}">
                <a16:creationId xmlns:a16="http://schemas.microsoft.com/office/drawing/2014/main" id="{46F7EAD3-5436-A974-2E57-4B54700AE55A}"/>
              </a:ext>
            </a:extLst>
          </p:cNvPr>
          <p:cNvSpPr txBox="1"/>
          <p:nvPr/>
        </p:nvSpPr>
        <p:spPr>
          <a:xfrm>
            <a:off x="3811192" y="8521377"/>
            <a:ext cx="11801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Tejido adiposo</a:t>
            </a:r>
          </a:p>
        </p:txBody>
      </p:sp>
      <p:sp>
        <p:nvSpPr>
          <p:cNvPr id="1255" name="CuadroTexto 1254">
            <a:extLst>
              <a:ext uri="{FF2B5EF4-FFF2-40B4-BE49-F238E27FC236}">
                <a16:creationId xmlns:a16="http://schemas.microsoft.com/office/drawing/2014/main" id="{E7F36227-5655-3A26-036F-7EDEBEBA0D31}"/>
              </a:ext>
            </a:extLst>
          </p:cNvPr>
          <p:cNvSpPr txBox="1"/>
          <p:nvPr/>
        </p:nvSpPr>
        <p:spPr>
          <a:xfrm>
            <a:off x="4488357" y="8330368"/>
            <a:ext cx="4603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TAP</a:t>
            </a:r>
          </a:p>
        </p:txBody>
      </p:sp>
      <p:sp>
        <p:nvSpPr>
          <p:cNvPr id="1256" name="CuadroTexto 1255">
            <a:extLst>
              <a:ext uri="{FF2B5EF4-FFF2-40B4-BE49-F238E27FC236}">
                <a16:creationId xmlns:a16="http://schemas.microsoft.com/office/drawing/2014/main" id="{1303D6E5-735E-FA11-5C4D-C6E4A8DB414E}"/>
              </a:ext>
            </a:extLst>
          </p:cNvPr>
          <p:cNvSpPr txBox="1"/>
          <p:nvPr/>
        </p:nvSpPr>
        <p:spPr>
          <a:xfrm>
            <a:off x="2881417" y="7832366"/>
            <a:ext cx="748733" cy="26161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↑Insulina</a:t>
            </a:r>
          </a:p>
        </p:txBody>
      </p:sp>
      <p:sp>
        <p:nvSpPr>
          <p:cNvPr id="1259" name="CuadroTexto 1258">
            <a:extLst>
              <a:ext uri="{FF2B5EF4-FFF2-40B4-BE49-F238E27FC236}">
                <a16:creationId xmlns:a16="http://schemas.microsoft.com/office/drawing/2014/main" id="{93813044-0B57-005E-6C14-B6B9B3C89BF2}"/>
              </a:ext>
            </a:extLst>
          </p:cNvPr>
          <p:cNvSpPr txBox="1"/>
          <p:nvPr/>
        </p:nvSpPr>
        <p:spPr>
          <a:xfrm>
            <a:off x="3285293" y="7417669"/>
            <a:ext cx="436338" cy="26161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LPL</a:t>
            </a:r>
          </a:p>
        </p:txBody>
      </p:sp>
      <p:sp>
        <p:nvSpPr>
          <p:cNvPr id="1264" name="CuadroTexto 1263">
            <a:extLst>
              <a:ext uri="{FF2B5EF4-FFF2-40B4-BE49-F238E27FC236}">
                <a16:creationId xmlns:a16="http://schemas.microsoft.com/office/drawing/2014/main" id="{0A08A052-EB1B-12A0-478E-7DFB50B3C5E1}"/>
              </a:ext>
            </a:extLst>
          </p:cNvPr>
          <p:cNvSpPr txBox="1"/>
          <p:nvPr/>
        </p:nvSpPr>
        <p:spPr>
          <a:xfrm rot="10800000">
            <a:off x="4084576" y="7428246"/>
            <a:ext cx="255198" cy="26161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 rtlCol="0">
            <a:spAutoFit/>
          </a:bodyPr>
          <a:lstStyle/>
          <a:p>
            <a:r>
              <a:rPr lang="es-ES" sz="1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↑</a:t>
            </a:r>
          </a:p>
        </p:txBody>
      </p:sp>
      <p:sp>
        <p:nvSpPr>
          <p:cNvPr id="1261" name="CuadroTexto 1260">
            <a:extLst>
              <a:ext uri="{FF2B5EF4-FFF2-40B4-BE49-F238E27FC236}">
                <a16:creationId xmlns:a16="http://schemas.microsoft.com/office/drawing/2014/main" id="{97237C25-8006-EDE4-FBAE-8819A8AA9CB3}"/>
              </a:ext>
            </a:extLst>
          </p:cNvPr>
          <p:cNvSpPr txBox="1"/>
          <p:nvPr/>
        </p:nvSpPr>
        <p:spPr>
          <a:xfrm>
            <a:off x="3802870" y="7386499"/>
            <a:ext cx="255198" cy="26161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 rtlCol="0">
            <a:spAutoFit/>
          </a:bodyPr>
          <a:lstStyle/>
          <a:p>
            <a:r>
              <a:rPr lang="es-ES" sz="11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↑</a:t>
            </a:r>
          </a:p>
        </p:txBody>
      </p:sp>
      <p:cxnSp>
        <p:nvCxnSpPr>
          <p:cNvPr id="1258" name="Conector recto de flecha 1257">
            <a:extLst>
              <a:ext uri="{FF2B5EF4-FFF2-40B4-BE49-F238E27FC236}">
                <a16:creationId xmlns:a16="http://schemas.microsoft.com/office/drawing/2014/main" id="{35B71A49-F6AF-5678-085A-4DB3C04A12FF}"/>
              </a:ext>
            </a:extLst>
          </p:cNvPr>
          <p:cNvCxnSpPr>
            <a:cxnSpLocks/>
            <a:stCxn id="1256" idx="0"/>
            <a:endCxn id="1261" idx="1"/>
          </p:cNvCxnSpPr>
          <p:nvPr/>
        </p:nvCxnSpPr>
        <p:spPr>
          <a:xfrm flipV="1">
            <a:off x="3255784" y="7517304"/>
            <a:ext cx="547086" cy="3150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5" name="CuadroTexto 1264">
            <a:extLst>
              <a:ext uri="{FF2B5EF4-FFF2-40B4-BE49-F238E27FC236}">
                <a16:creationId xmlns:a16="http://schemas.microsoft.com/office/drawing/2014/main" id="{D50FF0D4-350F-AC21-6500-52F4BD4622CF}"/>
              </a:ext>
            </a:extLst>
          </p:cNvPr>
          <p:cNvSpPr txBox="1"/>
          <p:nvPr/>
        </p:nvSpPr>
        <p:spPr>
          <a:xfrm>
            <a:off x="2839709" y="8114925"/>
            <a:ext cx="1555543" cy="26161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↑Glucagón/adrenalina</a:t>
            </a:r>
          </a:p>
        </p:txBody>
      </p:sp>
      <p:sp>
        <p:nvSpPr>
          <p:cNvPr id="1270" name="CuadroTexto 1269">
            <a:extLst>
              <a:ext uri="{FF2B5EF4-FFF2-40B4-BE49-F238E27FC236}">
                <a16:creationId xmlns:a16="http://schemas.microsoft.com/office/drawing/2014/main" id="{C480CDD2-D1BD-F39C-63DE-F48A397FCB65}"/>
              </a:ext>
            </a:extLst>
          </p:cNvPr>
          <p:cNvSpPr txBox="1"/>
          <p:nvPr/>
        </p:nvSpPr>
        <p:spPr>
          <a:xfrm>
            <a:off x="3802870" y="7748779"/>
            <a:ext cx="460382" cy="26161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HSL</a:t>
            </a:r>
          </a:p>
        </p:txBody>
      </p:sp>
      <p:cxnSp>
        <p:nvCxnSpPr>
          <p:cNvPr id="1266" name="Conector recto de flecha 1265">
            <a:extLst>
              <a:ext uri="{FF2B5EF4-FFF2-40B4-BE49-F238E27FC236}">
                <a16:creationId xmlns:a16="http://schemas.microsoft.com/office/drawing/2014/main" id="{02128E0B-9A49-A997-E73C-01285A83C830}"/>
              </a:ext>
            </a:extLst>
          </p:cNvPr>
          <p:cNvCxnSpPr>
            <a:cxnSpLocks/>
            <a:stCxn id="1265" idx="0"/>
            <a:endCxn id="1264" idx="3"/>
          </p:cNvCxnSpPr>
          <p:nvPr/>
        </p:nvCxnSpPr>
        <p:spPr>
          <a:xfrm flipV="1">
            <a:off x="3617481" y="7559051"/>
            <a:ext cx="467095" cy="5558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3" name="CuadroTexto 1272">
            <a:extLst>
              <a:ext uri="{FF2B5EF4-FFF2-40B4-BE49-F238E27FC236}">
                <a16:creationId xmlns:a16="http://schemas.microsoft.com/office/drawing/2014/main" id="{2044DD7B-721F-8BA9-1969-471D955B9267}"/>
              </a:ext>
            </a:extLst>
          </p:cNvPr>
          <p:cNvSpPr txBox="1"/>
          <p:nvPr/>
        </p:nvSpPr>
        <p:spPr>
          <a:xfrm>
            <a:off x="4609104" y="8116726"/>
            <a:ext cx="1154298" cy="26161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↑Noradrenalina</a:t>
            </a:r>
          </a:p>
        </p:txBody>
      </p:sp>
      <p:sp>
        <p:nvSpPr>
          <p:cNvPr id="1277" name="CuadroTexto 1276">
            <a:extLst>
              <a:ext uri="{FF2B5EF4-FFF2-40B4-BE49-F238E27FC236}">
                <a16:creationId xmlns:a16="http://schemas.microsoft.com/office/drawing/2014/main" id="{9EDDB9A9-C4ED-747D-C657-5792AC046B31}"/>
              </a:ext>
            </a:extLst>
          </p:cNvPr>
          <p:cNvSpPr txBox="1"/>
          <p:nvPr/>
        </p:nvSpPr>
        <p:spPr>
          <a:xfrm>
            <a:off x="5065042" y="7796931"/>
            <a:ext cx="562975" cy="26161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UCP1</a:t>
            </a:r>
          </a:p>
        </p:txBody>
      </p:sp>
      <p:cxnSp>
        <p:nvCxnSpPr>
          <p:cNvPr id="1274" name="Conector recto de flecha 1273">
            <a:extLst>
              <a:ext uri="{FF2B5EF4-FFF2-40B4-BE49-F238E27FC236}">
                <a16:creationId xmlns:a16="http://schemas.microsoft.com/office/drawing/2014/main" id="{51EE93BD-6612-2096-B154-236B3B2DCDBF}"/>
              </a:ext>
            </a:extLst>
          </p:cNvPr>
          <p:cNvCxnSpPr>
            <a:cxnSpLocks/>
            <a:stCxn id="1273" idx="0"/>
            <a:endCxn id="1278" idx="2"/>
          </p:cNvCxnSpPr>
          <p:nvPr/>
        </p:nvCxnSpPr>
        <p:spPr>
          <a:xfrm flipH="1" flipV="1">
            <a:off x="5008560" y="7485533"/>
            <a:ext cx="177693" cy="6311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9" name="CuadroTexto 1248">
            <a:extLst>
              <a:ext uri="{FF2B5EF4-FFF2-40B4-BE49-F238E27FC236}">
                <a16:creationId xmlns:a16="http://schemas.microsoft.com/office/drawing/2014/main" id="{BFBB937F-E3C0-FD6A-5158-BDA4E756097D}"/>
              </a:ext>
            </a:extLst>
          </p:cNvPr>
          <p:cNvSpPr txBox="1"/>
          <p:nvPr/>
        </p:nvSpPr>
        <p:spPr>
          <a:xfrm>
            <a:off x="3823608" y="7213453"/>
            <a:ext cx="482824" cy="261610"/>
          </a:xfrm>
          <a:prstGeom prst="rect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</p:spPr>
        <p:txBody>
          <a:bodyPr wrap="none" rtlCol="0">
            <a:spAutoFit/>
          </a:bodyPr>
          <a:lstStyle/>
          <a:p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TAG</a:t>
            </a:r>
          </a:p>
        </p:txBody>
      </p:sp>
      <p:sp>
        <p:nvSpPr>
          <p:cNvPr id="1278" name="CuadroTexto 1277">
            <a:extLst>
              <a:ext uri="{FF2B5EF4-FFF2-40B4-BE49-F238E27FC236}">
                <a16:creationId xmlns:a16="http://schemas.microsoft.com/office/drawing/2014/main" id="{BDB7A469-1F66-9113-8B47-BA99E9D84CC8}"/>
              </a:ext>
            </a:extLst>
          </p:cNvPr>
          <p:cNvSpPr txBox="1"/>
          <p:nvPr/>
        </p:nvSpPr>
        <p:spPr>
          <a:xfrm>
            <a:off x="4437730" y="7223923"/>
            <a:ext cx="1141659" cy="261610"/>
          </a:xfrm>
          <a:prstGeom prst="rect">
            <a:avLst/>
          </a:prstGeom>
          <a:solidFill>
            <a:schemeClr val="accent3">
              <a:lumMod val="20000"/>
              <a:lumOff val="80000"/>
              <a:alpha val="70000"/>
            </a:schemeClr>
          </a:solidFill>
        </p:spPr>
        <p:txBody>
          <a:bodyPr wrap="none" rtlCol="0">
            <a:spAutoFit/>
          </a:bodyPr>
          <a:lstStyle/>
          <a:p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Termogénesis</a:t>
            </a:r>
          </a:p>
        </p:txBody>
      </p:sp>
    </p:spTree>
    <p:extLst>
      <p:ext uri="{BB962C8B-B14F-4D97-AF65-F5344CB8AC3E}">
        <p14:creationId xmlns:p14="http://schemas.microsoft.com/office/powerpoint/2010/main" val="7313039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134</Words>
  <Application>Microsoft Office PowerPoint</Application>
  <PresentationFormat>Personalizado</PresentationFormat>
  <Paragraphs>76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37</cp:revision>
  <dcterms:created xsi:type="dcterms:W3CDTF">2025-10-09T08:39:27Z</dcterms:created>
  <dcterms:modified xsi:type="dcterms:W3CDTF">2026-02-11T10:02:57Z</dcterms:modified>
</cp:coreProperties>
</file>