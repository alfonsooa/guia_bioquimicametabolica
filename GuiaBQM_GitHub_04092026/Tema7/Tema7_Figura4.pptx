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62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79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26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2E8AAF-94BD-444C-8583-0840028503DA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4AC728-D21E-4C38-B7BB-B0AA9780650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648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11/02/2026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A2953B68-6F0E-D960-8878-7F45897610F0}"/>
              </a:ext>
            </a:extLst>
          </p:cNvPr>
          <p:cNvSpPr/>
          <p:nvPr/>
        </p:nvSpPr>
        <p:spPr>
          <a:xfrm>
            <a:off x="903767" y="40481"/>
            <a:ext cx="2158410" cy="25518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Eje insulina-glucagón</a:t>
            </a:r>
          </a:p>
        </p:txBody>
      </p:sp>
      <p:sp>
        <p:nvSpPr>
          <p:cNvPr id="7" name="Triángulo isósceles 6">
            <a:extLst>
              <a:ext uri="{FF2B5EF4-FFF2-40B4-BE49-F238E27FC236}">
                <a16:creationId xmlns:a16="http://schemas.microsoft.com/office/drawing/2014/main" id="{2B4A1B03-5B26-6E91-F2BC-C8C160355EA2}"/>
              </a:ext>
            </a:extLst>
          </p:cNvPr>
          <p:cNvSpPr/>
          <p:nvPr/>
        </p:nvSpPr>
        <p:spPr>
          <a:xfrm>
            <a:off x="1620221" y="2473515"/>
            <a:ext cx="616567" cy="674043"/>
          </a:xfrm>
          <a:prstGeom prst="triangle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C8F2371-C67C-C0B0-2E7C-69AD77C75247}"/>
              </a:ext>
            </a:extLst>
          </p:cNvPr>
          <p:cNvSpPr/>
          <p:nvPr/>
        </p:nvSpPr>
        <p:spPr>
          <a:xfrm>
            <a:off x="684496" y="2410268"/>
            <a:ext cx="2488019" cy="637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7FB9859E-8D5E-E73B-BB96-AD00EDEA114B}"/>
              </a:ext>
            </a:extLst>
          </p:cNvPr>
          <p:cNvSpPr/>
          <p:nvPr/>
        </p:nvSpPr>
        <p:spPr>
          <a:xfrm>
            <a:off x="684495" y="1513489"/>
            <a:ext cx="930076" cy="89677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Insulina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1D224E1B-BCD5-AB32-D188-FCFC719BB46C}"/>
              </a:ext>
            </a:extLst>
          </p:cNvPr>
          <p:cNvSpPr/>
          <p:nvPr/>
        </p:nvSpPr>
        <p:spPr>
          <a:xfrm>
            <a:off x="2197570" y="1513489"/>
            <a:ext cx="974945" cy="896778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Glucagón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BB52AFD-2263-2ABB-83CD-E5CF0E0BFF04}"/>
              </a:ext>
            </a:extLst>
          </p:cNvPr>
          <p:cNvSpPr txBox="1"/>
          <p:nvPr/>
        </p:nvSpPr>
        <p:spPr>
          <a:xfrm>
            <a:off x="0" y="1746434"/>
            <a:ext cx="684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Células beta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0E62BFA-FD28-99B0-ADAC-2F650E5FA5E9}"/>
              </a:ext>
            </a:extLst>
          </p:cNvPr>
          <p:cNvSpPr txBox="1"/>
          <p:nvPr/>
        </p:nvSpPr>
        <p:spPr>
          <a:xfrm>
            <a:off x="3172515" y="1746434"/>
            <a:ext cx="684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Células alfa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BAAF4DF-B6E1-24AF-075D-8E3967D6BA06}"/>
              </a:ext>
            </a:extLst>
          </p:cNvPr>
          <p:cNvSpPr txBox="1"/>
          <p:nvPr/>
        </p:nvSpPr>
        <p:spPr>
          <a:xfrm>
            <a:off x="216625" y="606140"/>
            <a:ext cx="1374284" cy="600164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Glucógeno sintasa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GLUT4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Lipogénesis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3A12A5AA-2C16-326E-8789-5EDDFBC82F82}"/>
              </a:ext>
            </a:extLst>
          </p:cNvPr>
          <p:cNvGrpSpPr/>
          <p:nvPr/>
        </p:nvGrpSpPr>
        <p:grpSpPr>
          <a:xfrm>
            <a:off x="215517" y="503405"/>
            <a:ext cx="128136" cy="128136"/>
            <a:chOff x="2606150" y="3355191"/>
            <a:chExt cx="128136" cy="128136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0FEBB5F1-DB98-133D-3637-4A6B446F7066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Triángulo isósceles 14">
              <a:extLst>
                <a:ext uri="{FF2B5EF4-FFF2-40B4-BE49-F238E27FC236}">
                  <a16:creationId xmlns:a16="http://schemas.microsoft.com/office/drawing/2014/main" id="{F63ED493-1293-631E-10D7-98D5B5F33874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0FE65A5-385F-04DB-1C82-553F522F1AAF}"/>
              </a:ext>
            </a:extLst>
          </p:cNvPr>
          <p:cNvSpPr txBox="1"/>
          <p:nvPr/>
        </p:nvSpPr>
        <p:spPr>
          <a:xfrm>
            <a:off x="2197569" y="603235"/>
            <a:ext cx="1582267" cy="600164"/>
          </a:xfrm>
          <a:prstGeom prst="rect">
            <a:avLst/>
          </a:prstGeom>
          <a:noFill/>
          <a:ln w="1905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Glucógeno fosforilasa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Lipólisis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Cetogénesis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17676E5-1219-1487-10BF-C3C90421B6AE}"/>
              </a:ext>
            </a:extLst>
          </p:cNvPr>
          <p:cNvGrpSpPr/>
          <p:nvPr/>
        </p:nvGrpSpPr>
        <p:grpSpPr>
          <a:xfrm>
            <a:off x="2196462" y="500500"/>
            <a:ext cx="128136" cy="128136"/>
            <a:chOff x="2606150" y="3355191"/>
            <a:chExt cx="128136" cy="128136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6FE4C89E-824F-5278-6A00-397CF46AFFA3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Triángulo isósceles 18">
              <a:extLst>
                <a:ext uri="{FF2B5EF4-FFF2-40B4-BE49-F238E27FC236}">
                  <a16:creationId xmlns:a16="http://schemas.microsoft.com/office/drawing/2014/main" id="{8BF158AF-3E98-0B2C-6D9F-9A896E379BCB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26B9FB0C-F87C-97E0-9B78-C9D963486CAA}"/>
              </a:ext>
            </a:extLst>
          </p:cNvPr>
          <p:cNvCxnSpPr>
            <a:stCxn id="16" idx="2"/>
            <a:endCxn id="9" idx="0"/>
          </p:cNvCxnSpPr>
          <p:nvPr/>
        </p:nvCxnSpPr>
        <p:spPr>
          <a:xfrm flipH="1">
            <a:off x="2685043" y="1203399"/>
            <a:ext cx="303660" cy="31009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F6B5437-6647-C6EB-22F1-CB3B80E5928D}"/>
              </a:ext>
            </a:extLst>
          </p:cNvPr>
          <p:cNvCxnSpPr>
            <a:cxnSpLocks/>
            <a:stCxn id="12" idx="2"/>
            <a:endCxn id="8" idx="0"/>
          </p:cNvCxnSpPr>
          <p:nvPr/>
        </p:nvCxnSpPr>
        <p:spPr>
          <a:xfrm>
            <a:off x="903767" y="1206304"/>
            <a:ext cx="245766" cy="30718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0F2EA71-1E7A-5BD3-495B-44D3F39B61CB}"/>
              </a:ext>
            </a:extLst>
          </p:cNvPr>
          <p:cNvSpPr/>
          <p:nvPr/>
        </p:nvSpPr>
        <p:spPr>
          <a:xfrm>
            <a:off x="4497499" y="40481"/>
            <a:ext cx="2652823" cy="25266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400" dirty="0">
                <a:latin typeface="Arial" panose="020B0604020202020204" pitchFamily="34" charset="0"/>
                <a:cs typeface="Arial" panose="020B0604020202020204" pitchFamily="34" charset="0"/>
              </a:rPr>
              <a:t>Otras hormonas moduladoras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2418DFD-4D88-623F-2F99-01FD19641B4C}"/>
              </a:ext>
            </a:extLst>
          </p:cNvPr>
          <p:cNvSpPr txBox="1"/>
          <p:nvPr/>
        </p:nvSpPr>
        <p:spPr>
          <a:xfrm>
            <a:off x="4497499" y="600330"/>
            <a:ext cx="108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Estrés crónico 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(Cortisol)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04C6463-71E6-6093-B244-C194A6BE1127}"/>
              </a:ext>
            </a:extLst>
          </p:cNvPr>
          <p:cNvSpPr txBox="1"/>
          <p:nvPr/>
        </p:nvSpPr>
        <p:spPr>
          <a:xfrm>
            <a:off x="6149672" y="600329"/>
            <a:ext cx="1085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Estrés agudo 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(Adrenalina)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37649EC-8A9F-110F-DC1D-651A526B41F6}"/>
              </a:ext>
            </a:extLst>
          </p:cNvPr>
          <p:cNvSpPr txBox="1"/>
          <p:nvPr/>
        </p:nvSpPr>
        <p:spPr>
          <a:xfrm>
            <a:off x="4256174" y="1530990"/>
            <a:ext cx="1567736" cy="430887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Proteólisis (músculo)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Gluconeogénesis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B21B4A8-E69A-9EB8-C4A0-8A931F01D21F}"/>
              </a:ext>
            </a:extLst>
          </p:cNvPr>
          <p:cNvSpPr txBox="1"/>
          <p:nvPr/>
        </p:nvSpPr>
        <p:spPr>
          <a:xfrm>
            <a:off x="4256174" y="2210372"/>
            <a:ext cx="1567736" cy="60016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Captación de glucosa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(músculo y tejido adiposo)</a:t>
            </a:r>
          </a:p>
        </p:txBody>
      </p: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2B8613F4-E383-CE44-DFE6-84A54194EA6A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 flipH="1">
            <a:off x="5040042" y="1031217"/>
            <a:ext cx="1" cy="4997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3" name="Grupo 32">
            <a:extLst>
              <a:ext uri="{FF2B5EF4-FFF2-40B4-BE49-F238E27FC236}">
                <a16:creationId xmlns:a16="http://schemas.microsoft.com/office/drawing/2014/main" id="{3841DC9D-1793-34C6-AEAD-E7D2BEE9175F}"/>
              </a:ext>
            </a:extLst>
          </p:cNvPr>
          <p:cNvGrpSpPr/>
          <p:nvPr/>
        </p:nvGrpSpPr>
        <p:grpSpPr>
          <a:xfrm>
            <a:off x="4281804" y="1449281"/>
            <a:ext cx="128136" cy="128136"/>
            <a:chOff x="2606150" y="3355191"/>
            <a:chExt cx="128136" cy="128136"/>
          </a:xfrm>
        </p:grpSpPr>
        <p:sp>
          <p:nvSpPr>
            <p:cNvPr id="34" name="Elipse 33">
              <a:extLst>
                <a:ext uri="{FF2B5EF4-FFF2-40B4-BE49-F238E27FC236}">
                  <a16:creationId xmlns:a16="http://schemas.microsoft.com/office/drawing/2014/main" id="{FE0EDA69-BF70-0C72-2B0E-14C25409D1EE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Triángulo isósceles 34">
              <a:extLst>
                <a:ext uri="{FF2B5EF4-FFF2-40B4-BE49-F238E27FC236}">
                  <a16:creationId xmlns:a16="http://schemas.microsoft.com/office/drawing/2014/main" id="{9D211C61-8263-32ED-AB39-3D08B86D014F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8" name="Grupo 37">
            <a:extLst>
              <a:ext uri="{FF2B5EF4-FFF2-40B4-BE49-F238E27FC236}">
                <a16:creationId xmlns:a16="http://schemas.microsoft.com/office/drawing/2014/main" id="{467F9F22-4810-1189-87AE-4F856285B5DB}"/>
              </a:ext>
            </a:extLst>
          </p:cNvPr>
          <p:cNvGrpSpPr/>
          <p:nvPr/>
        </p:nvGrpSpPr>
        <p:grpSpPr>
          <a:xfrm>
            <a:off x="4280287" y="2125247"/>
            <a:ext cx="128136" cy="128136"/>
            <a:chOff x="908127" y="1162591"/>
            <a:chExt cx="128136" cy="128136"/>
          </a:xfrm>
        </p:grpSpPr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58A25614-5C8B-113B-D687-356256B395AC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Cruz 39">
              <a:extLst>
                <a:ext uri="{FF2B5EF4-FFF2-40B4-BE49-F238E27FC236}">
                  <a16:creationId xmlns:a16="http://schemas.microsoft.com/office/drawing/2014/main" id="{A5F38FF5-BFB1-55E9-0970-F34228B0E7BF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41" name="CuadroTexto 40">
            <a:extLst>
              <a:ext uri="{FF2B5EF4-FFF2-40B4-BE49-F238E27FC236}">
                <a16:creationId xmlns:a16="http://schemas.microsoft.com/office/drawing/2014/main" id="{72C7531A-229A-999B-BE5B-D3A989C2D7A1}"/>
              </a:ext>
            </a:extLst>
          </p:cNvPr>
          <p:cNvSpPr txBox="1"/>
          <p:nvPr/>
        </p:nvSpPr>
        <p:spPr>
          <a:xfrm>
            <a:off x="5908348" y="1530990"/>
            <a:ext cx="1567736" cy="430887"/>
          </a:xfrm>
          <a:prstGeom prst="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Lipólisis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Gluconeogénesis</a:t>
            </a: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0E8C37C0-A7E1-E211-3471-B67E901CC96C}"/>
              </a:ext>
            </a:extLst>
          </p:cNvPr>
          <p:cNvGrpSpPr/>
          <p:nvPr/>
        </p:nvGrpSpPr>
        <p:grpSpPr>
          <a:xfrm>
            <a:off x="5922791" y="1449281"/>
            <a:ext cx="128136" cy="128136"/>
            <a:chOff x="2606150" y="3355191"/>
            <a:chExt cx="128136" cy="128136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0443C984-B20A-3E58-16B3-46DD2DBD0D78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4" name="Triángulo isósceles 43">
              <a:extLst>
                <a:ext uri="{FF2B5EF4-FFF2-40B4-BE49-F238E27FC236}">
                  <a16:creationId xmlns:a16="http://schemas.microsoft.com/office/drawing/2014/main" id="{B0503412-60DB-4E8E-02C0-DBF346BC8584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45" name="Conector recto de flecha 44">
            <a:extLst>
              <a:ext uri="{FF2B5EF4-FFF2-40B4-BE49-F238E27FC236}">
                <a16:creationId xmlns:a16="http://schemas.microsoft.com/office/drawing/2014/main" id="{BB57B92A-0C5F-C92D-4477-2AEF2B95F8E3}"/>
              </a:ext>
            </a:extLst>
          </p:cNvPr>
          <p:cNvCxnSpPr>
            <a:cxnSpLocks/>
            <a:stCxn id="27" idx="2"/>
            <a:endCxn id="41" idx="0"/>
          </p:cNvCxnSpPr>
          <p:nvPr/>
        </p:nvCxnSpPr>
        <p:spPr>
          <a:xfrm>
            <a:off x="6692216" y="1031216"/>
            <a:ext cx="0" cy="49977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787A0EF-1AE2-4D99-6F09-6E0FB15239D9}"/>
              </a:ext>
            </a:extLst>
          </p:cNvPr>
          <p:cNvSpPr/>
          <p:nvPr/>
        </p:nvSpPr>
        <p:spPr>
          <a:xfrm>
            <a:off x="684494" y="3425206"/>
            <a:ext cx="2488019" cy="273929"/>
          </a:xfrm>
          <a:prstGeom prst="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Homeostasis glucemia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02E9245E-299D-458B-76FB-35EF15BEA5A3}"/>
              </a:ext>
            </a:extLst>
          </p:cNvPr>
          <p:cNvSpPr txBox="1"/>
          <p:nvPr/>
        </p:nvSpPr>
        <p:spPr>
          <a:xfrm>
            <a:off x="44679" y="3721947"/>
            <a:ext cx="684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Alta glucosa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17BC1DE-AE15-BBC4-9356-5D107D52E51D}"/>
              </a:ext>
            </a:extLst>
          </p:cNvPr>
          <p:cNvSpPr txBox="1"/>
          <p:nvPr/>
        </p:nvSpPr>
        <p:spPr>
          <a:xfrm>
            <a:off x="3077558" y="3721948"/>
            <a:ext cx="6844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Baja glucosa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D1894FB-A498-9AB7-3488-091E6C087779}"/>
              </a:ext>
            </a:extLst>
          </p:cNvPr>
          <p:cNvSpPr txBox="1"/>
          <p:nvPr/>
        </p:nvSpPr>
        <p:spPr>
          <a:xfrm>
            <a:off x="1511968" y="3806586"/>
            <a:ext cx="6844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Insulina</a:t>
            </a:r>
          </a:p>
        </p:txBody>
      </p:sp>
      <p:cxnSp>
        <p:nvCxnSpPr>
          <p:cNvPr id="55" name="Conector: angular 54">
            <a:extLst>
              <a:ext uri="{FF2B5EF4-FFF2-40B4-BE49-F238E27FC236}">
                <a16:creationId xmlns:a16="http://schemas.microsoft.com/office/drawing/2014/main" id="{7B8FE7AA-FE40-B978-FB6C-004CE9E18EAD}"/>
              </a:ext>
            </a:extLst>
          </p:cNvPr>
          <p:cNvCxnSpPr>
            <a:stCxn id="50" idx="1"/>
            <a:endCxn id="51" idx="0"/>
          </p:cNvCxnSpPr>
          <p:nvPr/>
        </p:nvCxnSpPr>
        <p:spPr>
          <a:xfrm rot="10800000" flipV="1">
            <a:off x="386926" y="3562171"/>
            <a:ext cx="297568" cy="1597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EE906F5B-CF6C-11B9-FE20-A867CE26F5D8}"/>
              </a:ext>
            </a:extLst>
          </p:cNvPr>
          <p:cNvCxnSpPr>
            <a:cxnSpLocks/>
            <a:stCxn id="50" idx="3"/>
            <a:endCxn id="52" idx="0"/>
          </p:cNvCxnSpPr>
          <p:nvPr/>
        </p:nvCxnSpPr>
        <p:spPr>
          <a:xfrm>
            <a:off x="3172513" y="3562171"/>
            <a:ext cx="247292" cy="15977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B5AC3281-14FF-D9F5-D07B-C478EEA8EC75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729173" y="3937391"/>
            <a:ext cx="782795" cy="0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>
            <a:extLst>
              <a:ext uri="{FF2B5EF4-FFF2-40B4-BE49-F238E27FC236}">
                <a16:creationId xmlns:a16="http://schemas.microsoft.com/office/drawing/2014/main" id="{A6EA4F63-9B0D-8073-4C63-6BCE376BCDE4}"/>
              </a:ext>
            </a:extLst>
          </p:cNvPr>
          <p:cNvCxnSpPr>
            <a:cxnSpLocks/>
            <a:stCxn id="53" idx="3"/>
            <a:endCxn id="52" idx="1"/>
          </p:cNvCxnSpPr>
          <p:nvPr/>
        </p:nvCxnSpPr>
        <p:spPr>
          <a:xfrm>
            <a:off x="2196462" y="3937391"/>
            <a:ext cx="881096" cy="1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CuadroTexto 70">
            <a:extLst>
              <a:ext uri="{FF2B5EF4-FFF2-40B4-BE49-F238E27FC236}">
                <a16:creationId xmlns:a16="http://schemas.microsoft.com/office/drawing/2014/main" id="{8ECC475E-BACA-1C7A-00C0-76E92D4989EA}"/>
              </a:ext>
            </a:extLst>
          </p:cNvPr>
          <p:cNvSpPr txBox="1"/>
          <p:nvPr/>
        </p:nvSpPr>
        <p:spPr>
          <a:xfrm>
            <a:off x="4139870" y="3558315"/>
            <a:ext cx="2978587" cy="600164"/>
          </a:xfrm>
          <a:prstGeom prst="rect">
            <a:avLst/>
          </a:prstGeom>
          <a:noFill/>
          <a:ln w="1905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Fallo gluconeogénesis: acumulación lactato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Resistencia a insulina (DM2): hiperglucemia</a:t>
            </a: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606A1279-EBB2-5CE6-471C-97B1F087E464}"/>
              </a:ext>
            </a:extLst>
          </p:cNvPr>
          <p:cNvSpPr/>
          <p:nvPr/>
        </p:nvSpPr>
        <p:spPr>
          <a:xfrm>
            <a:off x="4385155" y="3421351"/>
            <a:ext cx="2488019" cy="273929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Fallos metabólicos</a:t>
            </a:r>
          </a:p>
        </p:txBody>
      </p:sp>
    </p:spTree>
    <p:extLst>
      <p:ext uri="{BB962C8B-B14F-4D97-AF65-F5344CB8AC3E}">
        <p14:creationId xmlns:p14="http://schemas.microsoft.com/office/powerpoint/2010/main" val="23064735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66</Words>
  <Application>Microsoft Office PowerPoint</Application>
  <PresentationFormat>Personalizado</PresentationFormat>
  <Paragraphs>30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47</cp:revision>
  <dcterms:created xsi:type="dcterms:W3CDTF">2025-10-09T08:39:27Z</dcterms:created>
  <dcterms:modified xsi:type="dcterms:W3CDTF">2026-02-11T10:04:03Z</dcterms:modified>
</cp:coreProperties>
</file>