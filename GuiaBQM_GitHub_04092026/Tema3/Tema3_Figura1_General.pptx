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1858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CuadroTexto 1712">
            <a:extLst>
              <a:ext uri="{FF2B5EF4-FFF2-40B4-BE49-F238E27FC236}">
                <a16:creationId xmlns:a16="http://schemas.microsoft.com/office/drawing/2014/main" id="{7FEB0670-9399-ED7E-605E-43F59D5D5365}"/>
              </a:ext>
            </a:extLst>
          </p:cNvPr>
          <p:cNvSpPr txBox="1"/>
          <p:nvPr/>
        </p:nvSpPr>
        <p:spPr>
          <a:xfrm>
            <a:off x="3428619" y="110942"/>
            <a:ext cx="639919" cy="261610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4">
                  <a:lumMod val="105000"/>
                  <a:satMod val="103000"/>
                  <a:tint val="73000"/>
                  <a:alpha val="40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  <a:alpha val="40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Lípidos</a:t>
            </a:r>
          </a:p>
        </p:txBody>
      </p:sp>
      <p:sp>
        <p:nvSpPr>
          <p:cNvPr id="1714" name="CuadroTexto 1713">
            <a:extLst>
              <a:ext uri="{FF2B5EF4-FFF2-40B4-BE49-F238E27FC236}">
                <a16:creationId xmlns:a16="http://schemas.microsoft.com/office/drawing/2014/main" id="{14B64970-F1B3-A1D5-80E6-6E23988223E1}"/>
              </a:ext>
            </a:extLst>
          </p:cNvPr>
          <p:cNvSpPr txBox="1"/>
          <p:nvPr/>
        </p:nvSpPr>
        <p:spPr>
          <a:xfrm>
            <a:off x="1181251" y="507742"/>
            <a:ext cx="514885" cy="261610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40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40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Dieta</a:t>
            </a:r>
          </a:p>
        </p:txBody>
      </p:sp>
      <p:sp>
        <p:nvSpPr>
          <p:cNvPr id="1715" name="CuadroTexto 1714">
            <a:extLst>
              <a:ext uri="{FF2B5EF4-FFF2-40B4-BE49-F238E27FC236}">
                <a16:creationId xmlns:a16="http://schemas.microsoft.com/office/drawing/2014/main" id="{92434A5D-8638-1CDA-EC9C-EDA179D742DC}"/>
              </a:ext>
            </a:extLst>
          </p:cNvPr>
          <p:cNvSpPr txBox="1"/>
          <p:nvPr/>
        </p:nvSpPr>
        <p:spPr>
          <a:xfrm>
            <a:off x="3078976" y="502508"/>
            <a:ext cx="1335098" cy="430887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40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Movilización de las almacenadas</a:t>
            </a:r>
          </a:p>
        </p:txBody>
      </p:sp>
      <p:sp>
        <p:nvSpPr>
          <p:cNvPr id="1716" name="CuadroTexto 1715">
            <a:extLst>
              <a:ext uri="{FF2B5EF4-FFF2-40B4-BE49-F238E27FC236}">
                <a16:creationId xmlns:a16="http://schemas.microsoft.com/office/drawing/2014/main" id="{4371CDA6-80C7-B5B1-29BB-13CD798A94EB}"/>
              </a:ext>
            </a:extLst>
          </p:cNvPr>
          <p:cNvSpPr txBox="1"/>
          <p:nvPr/>
        </p:nvSpPr>
        <p:spPr>
          <a:xfrm>
            <a:off x="5475221" y="509647"/>
            <a:ext cx="1484695" cy="26161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40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4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Nueva síntesis</a:t>
            </a:r>
          </a:p>
        </p:txBody>
      </p:sp>
      <p:sp>
        <p:nvSpPr>
          <p:cNvPr id="1718" name="CuadroTexto 1717">
            <a:extLst>
              <a:ext uri="{FF2B5EF4-FFF2-40B4-BE49-F238E27FC236}">
                <a16:creationId xmlns:a16="http://schemas.microsoft.com/office/drawing/2014/main" id="{2F2C13F6-4273-FC95-15D9-EC6124A41CA0}"/>
              </a:ext>
            </a:extLst>
          </p:cNvPr>
          <p:cNvSpPr txBox="1"/>
          <p:nvPr/>
        </p:nvSpPr>
        <p:spPr>
          <a:xfrm>
            <a:off x="557994" y="1694046"/>
            <a:ext cx="1800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Diacilgliceroles (DAG)</a:t>
            </a:r>
          </a:p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Monoacilgliceroles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(MAG)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 libres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</a:t>
            </a:r>
          </a:p>
        </p:txBody>
      </p:sp>
      <p:cxnSp>
        <p:nvCxnSpPr>
          <p:cNvPr id="1728" name="Conector recto de flecha 1727">
            <a:extLst>
              <a:ext uri="{FF2B5EF4-FFF2-40B4-BE49-F238E27FC236}">
                <a16:creationId xmlns:a16="http://schemas.microsoft.com/office/drawing/2014/main" id="{3D5E6313-CD04-2079-E357-9601B104B8D4}"/>
              </a:ext>
            </a:extLst>
          </p:cNvPr>
          <p:cNvCxnSpPr>
            <a:stCxn id="1714" idx="2"/>
            <a:endCxn id="1718" idx="0"/>
          </p:cNvCxnSpPr>
          <p:nvPr/>
        </p:nvCxnSpPr>
        <p:spPr>
          <a:xfrm>
            <a:off x="1438694" y="769352"/>
            <a:ext cx="19547" cy="924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9" name="CuadroTexto 1728">
            <a:extLst>
              <a:ext uri="{FF2B5EF4-FFF2-40B4-BE49-F238E27FC236}">
                <a16:creationId xmlns:a16="http://schemas.microsoft.com/office/drawing/2014/main" id="{6FA5CB6A-AD57-2F1B-AEAF-ED1B391B7297}"/>
              </a:ext>
            </a:extLst>
          </p:cNvPr>
          <p:cNvSpPr txBox="1"/>
          <p:nvPr/>
        </p:nvSpPr>
        <p:spPr>
          <a:xfrm>
            <a:off x="147550" y="735968"/>
            <a:ext cx="10262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Sales biliares</a:t>
            </a:r>
          </a:p>
        </p:txBody>
      </p:sp>
      <p:sp>
        <p:nvSpPr>
          <p:cNvPr id="1730" name="CuadroTexto 1729">
            <a:extLst>
              <a:ext uri="{FF2B5EF4-FFF2-40B4-BE49-F238E27FC236}">
                <a16:creationId xmlns:a16="http://schemas.microsoft.com/office/drawing/2014/main" id="{77B36D87-98CE-9A28-1625-07DAA764E375}"/>
              </a:ext>
            </a:extLst>
          </p:cNvPr>
          <p:cNvSpPr txBox="1"/>
          <p:nvPr/>
        </p:nvSpPr>
        <p:spPr>
          <a:xfrm>
            <a:off x="786350" y="1236499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Lipasas</a:t>
            </a:r>
          </a:p>
        </p:txBody>
      </p:sp>
      <p:cxnSp>
        <p:nvCxnSpPr>
          <p:cNvPr id="1740" name="Conector: curvado 1739">
            <a:extLst>
              <a:ext uri="{FF2B5EF4-FFF2-40B4-BE49-F238E27FC236}">
                <a16:creationId xmlns:a16="http://schemas.microsoft.com/office/drawing/2014/main" id="{AD373F41-36EA-6D21-CEF0-C5CBEAACD0BF}"/>
              </a:ext>
            </a:extLst>
          </p:cNvPr>
          <p:cNvCxnSpPr>
            <a:stCxn id="1729" idx="3"/>
          </p:cNvCxnSpPr>
          <p:nvPr/>
        </p:nvCxnSpPr>
        <p:spPr>
          <a:xfrm>
            <a:off x="1173793" y="866773"/>
            <a:ext cx="284447" cy="36972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CuadroTexto 1768">
            <a:extLst>
              <a:ext uri="{FF2B5EF4-FFF2-40B4-BE49-F238E27FC236}">
                <a16:creationId xmlns:a16="http://schemas.microsoft.com/office/drawing/2014/main" id="{8FB0F5D3-B3AB-B64D-B11E-1FB745DA95E7}"/>
              </a:ext>
            </a:extLst>
          </p:cNvPr>
          <p:cNvSpPr txBox="1"/>
          <p:nvPr/>
        </p:nvSpPr>
        <p:spPr>
          <a:xfrm>
            <a:off x="606413" y="3050510"/>
            <a:ext cx="1717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Triacilgliceroles (TAG) +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Colesterol +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Apolipoproteínas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(Quilomicrones)</a:t>
            </a:r>
          </a:p>
        </p:txBody>
      </p:sp>
      <p:cxnSp>
        <p:nvCxnSpPr>
          <p:cNvPr id="1778" name="Conector recto 1777">
            <a:extLst>
              <a:ext uri="{FF2B5EF4-FFF2-40B4-BE49-F238E27FC236}">
                <a16:creationId xmlns:a16="http://schemas.microsoft.com/office/drawing/2014/main" id="{75454B45-68E8-9B12-1197-DA81A342FC03}"/>
              </a:ext>
            </a:extLst>
          </p:cNvPr>
          <p:cNvCxnSpPr/>
          <p:nvPr/>
        </p:nvCxnSpPr>
        <p:spPr>
          <a:xfrm>
            <a:off x="684065" y="2673331"/>
            <a:ext cx="149809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0" name="Conector recto de flecha 1769">
            <a:extLst>
              <a:ext uri="{FF2B5EF4-FFF2-40B4-BE49-F238E27FC236}">
                <a16:creationId xmlns:a16="http://schemas.microsoft.com/office/drawing/2014/main" id="{5F0C69DA-0448-91D0-1FC9-A2688CBEC0DE}"/>
              </a:ext>
            </a:extLst>
          </p:cNvPr>
          <p:cNvCxnSpPr>
            <a:cxnSpLocks/>
            <a:stCxn id="1718" idx="2"/>
            <a:endCxn id="1769" idx="0"/>
          </p:cNvCxnSpPr>
          <p:nvPr/>
        </p:nvCxnSpPr>
        <p:spPr>
          <a:xfrm>
            <a:off x="1458241" y="2463487"/>
            <a:ext cx="6910" cy="587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9" name="CuadroTexto 1778">
            <a:extLst>
              <a:ext uri="{FF2B5EF4-FFF2-40B4-BE49-F238E27FC236}">
                <a16:creationId xmlns:a16="http://schemas.microsoft.com/office/drawing/2014/main" id="{D36D10C9-9001-7B32-BB2C-E847A684201D}"/>
              </a:ext>
            </a:extLst>
          </p:cNvPr>
          <p:cNvSpPr txBox="1"/>
          <p:nvPr/>
        </p:nvSpPr>
        <p:spPr>
          <a:xfrm>
            <a:off x="-218183" y="2449767"/>
            <a:ext cx="1740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Epitelio intestinal</a:t>
            </a:r>
          </a:p>
        </p:txBody>
      </p:sp>
      <p:sp>
        <p:nvSpPr>
          <p:cNvPr id="1784" name="CuadroTexto 1783">
            <a:extLst>
              <a:ext uri="{FF2B5EF4-FFF2-40B4-BE49-F238E27FC236}">
                <a16:creationId xmlns:a16="http://schemas.microsoft.com/office/drawing/2014/main" id="{36F93FC9-7818-C979-8551-12DBD877BA35}"/>
              </a:ext>
            </a:extLst>
          </p:cNvPr>
          <p:cNvSpPr txBox="1"/>
          <p:nvPr/>
        </p:nvSpPr>
        <p:spPr>
          <a:xfrm>
            <a:off x="595919" y="4811714"/>
            <a:ext cx="1717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 + Glicerol</a:t>
            </a:r>
          </a:p>
        </p:txBody>
      </p:sp>
      <p:sp>
        <p:nvSpPr>
          <p:cNvPr id="1785" name="Rectángulo 1784">
            <a:extLst>
              <a:ext uri="{FF2B5EF4-FFF2-40B4-BE49-F238E27FC236}">
                <a16:creationId xmlns:a16="http://schemas.microsoft.com/office/drawing/2014/main" id="{E6A26E94-59D4-ECC7-4A1F-2E60E43AEE87}"/>
              </a:ext>
            </a:extLst>
          </p:cNvPr>
          <p:cNvSpPr/>
          <p:nvPr/>
        </p:nvSpPr>
        <p:spPr>
          <a:xfrm>
            <a:off x="114504" y="4574518"/>
            <a:ext cx="2293175" cy="162219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7" name="CuadroTexto 1786">
            <a:extLst>
              <a:ext uri="{FF2B5EF4-FFF2-40B4-BE49-F238E27FC236}">
                <a16:creationId xmlns:a16="http://schemas.microsoft.com/office/drawing/2014/main" id="{6A0935FC-B1DF-DE2B-CD30-0FDF01BB1633}"/>
              </a:ext>
            </a:extLst>
          </p:cNvPr>
          <p:cNvSpPr txBox="1"/>
          <p:nvPr/>
        </p:nvSpPr>
        <p:spPr>
          <a:xfrm>
            <a:off x="67777" y="4550104"/>
            <a:ext cx="1717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Órgano diana</a:t>
            </a:r>
          </a:p>
        </p:txBody>
      </p:sp>
      <p:cxnSp>
        <p:nvCxnSpPr>
          <p:cNvPr id="1788" name="Conector recto de flecha 1787">
            <a:extLst>
              <a:ext uri="{FF2B5EF4-FFF2-40B4-BE49-F238E27FC236}">
                <a16:creationId xmlns:a16="http://schemas.microsoft.com/office/drawing/2014/main" id="{20B0FE80-55E7-C4A5-DB31-803100903AD6}"/>
              </a:ext>
            </a:extLst>
          </p:cNvPr>
          <p:cNvCxnSpPr>
            <a:cxnSpLocks/>
            <a:stCxn id="1769" idx="2"/>
            <a:endCxn id="1784" idx="0"/>
          </p:cNvCxnSpPr>
          <p:nvPr/>
        </p:nvCxnSpPr>
        <p:spPr>
          <a:xfrm flipH="1">
            <a:off x="1454657" y="3819951"/>
            <a:ext cx="10494" cy="991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7" name="CuadroTexto 1796">
            <a:extLst>
              <a:ext uri="{FF2B5EF4-FFF2-40B4-BE49-F238E27FC236}">
                <a16:creationId xmlns:a16="http://schemas.microsoft.com/office/drawing/2014/main" id="{329DC300-E16A-3663-F1A5-FF7E8A1F2775}"/>
              </a:ext>
            </a:extLst>
          </p:cNvPr>
          <p:cNvSpPr txBox="1"/>
          <p:nvPr/>
        </p:nvSpPr>
        <p:spPr>
          <a:xfrm>
            <a:off x="222248" y="4285889"/>
            <a:ext cx="12987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Lipoproteín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lipasa</a:t>
            </a:r>
          </a:p>
        </p:txBody>
      </p:sp>
      <p:sp>
        <p:nvSpPr>
          <p:cNvPr id="1799" name="CuadroTexto 1798">
            <a:extLst>
              <a:ext uri="{FF2B5EF4-FFF2-40B4-BE49-F238E27FC236}">
                <a16:creationId xmlns:a16="http://schemas.microsoft.com/office/drawing/2014/main" id="{9C8D95A7-D372-0AB6-14B5-9251B505922E}"/>
              </a:ext>
            </a:extLst>
          </p:cNvPr>
          <p:cNvSpPr txBox="1"/>
          <p:nvPr/>
        </p:nvSpPr>
        <p:spPr>
          <a:xfrm>
            <a:off x="377152" y="5451867"/>
            <a:ext cx="840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Oxidación</a:t>
            </a:r>
          </a:p>
        </p:txBody>
      </p:sp>
      <p:sp>
        <p:nvSpPr>
          <p:cNvPr id="1800" name="CuadroTexto 1799">
            <a:extLst>
              <a:ext uri="{FF2B5EF4-FFF2-40B4-BE49-F238E27FC236}">
                <a16:creationId xmlns:a16="http://schemas.microsoft.com/office/drawing/2014/main" id="{7CE88290-7A0D-DC57-0A56-6EDE2068519D}"/>
              </a:ext>
            </a:extLst>
          </p:cNvPr>
          <p:cNvSpPr txBox="1"/>
          <p:nvPr/>
        </p:nvSpPr>
        <p:spPr>
          <a:xfrm>
            <a:off x="557330" y="5979472"/>
            <a:ext cx="458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801" name="Conector recto de flecha 1800">
            <a:extLst>
              <a:ext uri="{FF2B5EF4-FFF2-40B4-BE49-F238E27FC236}">
                <a16:creationId xmlns:a16="http://schemas.microsoft.com/office/drawing/2014/main" id="{B687A0E4-A6C7-8877-568F-ADF0616E0C0D}"/>
              </a:ext>
            </a:extLst>
          </p:cNvPr>
          <p:cNvCxnSpPr>
            <a:cxnSpLocks/>
            <a:endCxn id="1799" idx="0"/>
          </p:cNvCxnSpPr>
          <p:nvPr/>
        </p:nvCxnSpPr>
        <p:spPr>
          <a:xfrm flipH="1">
            <a:off x="797267" y="5035964"/>
            <a:ext cx="315012" cy="415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4" name="Conector recto de flecha 1803">
            <a:extLst>
              <a:ext uri="{FF2B5EF4-FFF2-40B4-BE49-F238E27FC236}">
                <a16:creationId xmlns:a16="http://schemas.microsoft.com/office/drawing/2014/main" id="{69EE739F-70F9-F84F-247A-818D2B3DFBF9}"/>
              </a:ext>
            </a:extLst>
          </p:cNvPr>
          <p:cNvCxnSpPr>
            <a:cxnSpLocks/>
            <a:stCxn id="1799" idx="2"/>
            <a:endCxn id="1800" idx="0"/>
          </p:cNvCxnSpPr>
          <p:nvPr/>
        </p:nvCxnSpPr>
        <p:spPr>
          <a:xfrm flipH="1">
            <a:off x="786350" y="5713477"/>
            <a:ext cx="10917" cy="265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9" name="CuadroTexto 1808">
            <a:extLst>
              <a:ext uri="{FF2B5EF4-FFF2-40B4-BE49-F238E27FC236}">
                <a16:creationId xmlns:a16="http://schemas.microsoft.com/office/drawing/2014/main" id="{DC1EC8A7-0777-8098-89A4-72394A0F7B59}"/>
              </a:ext>
            </a:extLst>
          </p:cNvPr>
          <p:cNvSpPr txBox="1"/>
          <p:nvPr/>
        </p:nvSpPr>
        <p:spPr>
          <a:xfrm>
            <a:off x="1170829" y="5355877"/>
            <a:ext cx="1294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Glucólisis/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cxnSp>
        <p:nvCxnSpPr>
          <p:cNvPr id="1810" name="Conector recto de flecha 1809">
            <a:extLst>
              <a:ext uri="{FF2B5EF4-FFF2-40B4-BE49-F238E27FC236}">
                <a16:creationId xmlns:a16="http://schemas.microsoft.com/office/drawing/2014/main" id="{8511010D-841F-5716-7CE8-0E858C9C4026}"/>
              </a:ext>
            </a:extLst>
          </p:cNvPr>
          <p:cNvCxnSpPr>
            <a:cxnSpLocks/>
            <a:endCxn id="1809" idx="0"/>
          </p:cNvCxnSpPr>
          <p:nvPr/>
        </p:nvCxnSpPr>
        <p:spPr>
          <a:xfrm>
            <a:off x="1789136" y="5047431"/>
            <a:ext cx="28885" cy="308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4" name="CuadroTexto 1813">
            <a:extLst>
              <a:ext uri="{FF2B5EF4-FFF2-40B4-BE49-F238E27FC236}">
                <a16:creationId xmlns:a16="http://schemas.microsoft.com/office/drawing/2014/main" id="{33C68F1E-1A8A-9015-FCC0-7CE40D71737A}"/>
              </a:ext>
            </a:extLst>
          </p:cNvPr>
          <p:cNvSpPr txBox="1"/>
          <p:nvPr/>
        </p:nvSpPr>
        <p:spPr>
          <a:xfrm>
            <a:off x="1521001" y="3833986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Linfa</a:t>
            </a:r>
          </a:p>
        </p:txBody>
      </p:sp>
      <p:sp>
        <p:nvSpPr>
          <p:cNvPr id="1815" name="CuadroTexto 1814">
            <a:extLst>
              <a:ext uri="{FF2B5EF4-FFF2-40B4-BE49-F238E27FC236}">
                <a16:creationId xmlns:a16="http://schemas.microsoft.com/office/drawing/2014/main" id="{D51441B5-0498-87D1-D899-AC1F862CD9A7}"/>
              </a:ext>
            </a:extLst>
          </p:cNvPr>
          <p:cNvSpPr txBox="1"/>
          <p:nvPr/>
        </p:nvSpPr>
        <p:spPr>
          <a:xfrm>
            <a:off x="1447906" y="4319510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</a:p>
        </p:txBody>
      </p:sp>
      <p:cxnSp>
        <p:nvCxnSpPr>
          <p:cNvPr id="1816" name="Conector recto de flecha 1815">
            <a:extLst>
              <a:ext uri="{FF2B5EF4-FFF2-40B4-BE49-F238E27FC236}">
                <a16:creationId xmlns:a16="http://schemas.microsoft.com/office/drawing/2014/main" id="{4A05C40B-24C4-AD02-8849-A9DFF4552AE7}"/>
              </a:ext>
            </a:extLst>
          </p:cNvPr>
          <p:cNvCxnSpPr>
            <a:cxnSpLocks/>
            <a:stCxn id="1814" idx="2"/>
            <a:endCxn id="1815" idx="0"/>
          </p:cNvCxnSpPr>
          <p:nvPr/>
        </p:nvCxnSpPr>
        <p:spPr>
          <a:xfrm>
            <a:off x="1766421" y="4095596"/>
            <a:ext cx="1445" cy="22391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3" name="Rectángulo 1822">
            <a:extLst>
              <a:ext uri="{FF2B5EF4-FFF2-40B4-BE49-F238E27FC236}">
                <a16:creationId xmlns:a16="http://schemas.microsoft.com/office/drawing/2014/main" id="{921B2D24-5929-DC6D-6A6E-01C4239F9CB0}"/>
              </a:ext>
            </a:extLst>
          </p:cNvPr>
          <p:cNvSpPr/>
          <p:nvPr/>
        </p:nvSpPr>
        <p:spPr>
          <a:xfrm>
            <a:off x="111034" y="6657843"/>
            <a:ext cx="2296645" cy="181934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24" name="CuadroTexto 1823">
            <a:extLst>
              <a:ext uri="{FF2B5EF4-FFF2-40B4-BE49-F238E27FC236}">
                <a16:creationId xmlns:a16="http://schemas.microsoft.com/office/drawing/2014/main" id="{0B224D5B-93D9-BFEA-AB71-1B0EC8CFC3EF}"/>
              </a:ext>
            </a:extLst>
          </p:cNvPr>
          <p:cNvSpPr txBox="1"/>
          <p:nvPr/>
        </p:nvSpPr>
        <p:spPr>
          <a:xfrm>
            <a:off x="96035" y="6662076"/>
            <a:ext cx="1717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Hígado</a:t>
            </a:r>
          </a:p>
        </p:txBody>
      </p:sp>
      <p:sp>
        <p:nvSpPr>
          <p:cNvPr id="1827" name="CuadroTexto 1826">
            <a:extLst>
              <a:ext uri="{FF2B5EF4-FFF2-40B4-BE49-F238E27FC236}">
                <a16:creationId xmlns:a16="http://schemas.microsoft.com/office/drawing/2014/main" id="{651C6F33-5F89-649A-136B-EDCAA888842B}"/>
              </a:ext>
            </a:extLst>
          </p:cNvPr>
          <p:cNvSpPr txBox="1"/>
          <p:nvPr/>
        </p:nvSpPr>
        <p:spPr>
          <a:xfrm>
            <a:off x="296980" y="8231120"/>
            <a:ext cx="2183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Remanentes de quilomicrones</a:t>
            </a:r>
          </a:p>
        </p:txBody>
      </p:sp>
      <p:sp>
        <p:nvSpPr>
          <p:cNvPr id="1828" name="CuadroTexto 1827">
            <a:extLst>
              <a:ext uri="{FF2B5EF4-FFF2-40B4-BE49-F238E27FC236}">
                <a16:creationId xmlns:a16="http://schemas.microsoft.com/office/drawing/2014/main" id="{B02F556A-EDA6-9037-9C2B-7E864A2871A5}"/>
              </a:ext>
            </a:extLst>
          </p:cNvPr>
          <p:cNvSpPr txBox="1"/>
          <p:nvPr/>
        </p:nvSpPr>
        <p:spPr>
          <a:xfrm>
            <a:off x="1135606" y="7038698"/>
            <a:ext cx="631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VLDL</a:t>
            </a:r>
          </a:p>
        </p:txBody>
      </p:sp>
      <p:sp>
        <p:nvSpPr>
          <p:cNvPr id="1829" name="CuadroTexto 1828">
            <a:extLst>
              <a:ext uri="{FF2B5EF4-FFF2-40B4-BE49-F238E27FC236}">
                <a16:creationId xmlns:a16="http://schemas.microsoft.com/office/drawing/2014/main" id="{179A7ED2-EDB4-F5CB-E8B9-CB8B6D712C27}"/>
              </a:ext>
            </a:extLst>
          </p:cNvPr>
          <p:cNvSpPr txBox="1"/>
          <p:nvPr/>
        </p:nvSpPr>
        <p:spPr>
          <a:xfrm>
            <a:off x="2499852" y="6293723"/>
            <a:ext cx="402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IDL</a:t>
            </a:r>
          </a:p>
        </p:txBody>
      </p:sp>
      <p:cxnSp>
        <p:nvCxnSpPr>
          <p:cNvPr id="1830" name="Conector recto de flecha 1829">
            <a:extLst>
              <a:ext uri="{FF2B5EF4-FFF2-40B4-BE49-F238E27FC236}">
                <a16:creationId xmlns:a16="http://schemas.microsoft.com/office/drawing/2014/main" id="{00459C16-699C-1C9F-0E2B-2CCDD96A7EFB}"/>
              </a:ext>
            </a:extLst>
          </p:cNvPr>
          <p:cNvCxnSpPr>
            <a:cxnSpLocks/>
            <a:stCxn id="1785" idx="2"/>
            <a:endCxn id="1823" idx="0"/>
          </p:cNvCxnSpPr>
          <p:nvPr/>
        </p:nvCxnSpPr>
        <p:spPr>
          <a:xfrm flipH="1">
            <a:off x="1259357" y="6196709"/>
            <a:ext cx="1735" cy="461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3" name="CuadroTexto 1832">
            <a:extLst>
              <a:ext uri="{FF2B5EF4-FFF2-40B4-BE49-F238E27FC236}">
                <a16:creationId xmlns:a16="http://schemas.microsoft.com/office/drawing/2014/main" id="{C3AF2761-E730-AC5D-A5E1-A072F709CB2F}"/>
              </a:ext>
            </a:extLst>
          </p:cNvPr>
          <p:cNvSpPr txBox="1"/>
          <p:nvPr/>
        </p:nvSpPr>
        <p:spPr>
          <a:xfrm>
            <a:off x="697869" y="6289713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</a:p>
        </p:txBody>
      </p:sp>
      <p:cxnSp>
        <p:nvCxnSpPr>
          <p:cNvPr id="1835" name="Conector: angular 1834">
            <a:extLst>
              <a:ext uri="{FF2B5EF4-FFF2-40B4-BE49-F238E27FC236}">
                <a16:creationId xmlns:a16="http://schemas.microsoft.com/office/drawing/2014/main" id="{A4C4D99F-E6C2-BEDA-114A-08809FD7E011}"/>
              </a:ext>
            </a:extLst>
          </p:cNvPr>
          <p:cNvCxnSpPr>
            <a:cxnSpLocks/>
            <a:stCxn id="1828" idx="0"/>
            <a:endCxn id="1833" idx="2"/>
          </p:cNvCxnSpPr>
          <p:nvPr/>
        </p:nvCxnSpPr>
        <p:spPr>
          <a:xfrm rot="16200000" flipV="1">
            <a:off x="990938" y="6578215"/>
            <a:ext cx="487375" cy="43359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7" name="CuadroTexto 1836">
            <a:extLst>
              <a:ext uri="{FF2B5EF4-FFF2-40B4-BE49-F238E27FC236}">
                <a16:creationId xmlns:a16="http://schemas.microsoft.com/office/drawing/2014/main" id="{E2D442D9-3C01-C9C7-DC82-A186E23876CC}"/>
              </a:ext>
            </a:extLst>
          </p:cNvPr>
          <p:cNvSpPr txBox="1"/>
          <p:nvPr/>
        </p:nvSpPr>
        <p:spPr>
          <a:xfrm>
            <a:off x="-13102" y="6292079"/>
            <a:ext cx="8931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“Restos”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45" name="Conector recto de flecha 1844">
            <a:extLst>
              <a:ext uri="{FF2B5EF4-FFF2-40B4-BE49-F238E27FC236}">
                <a16:creationId xmlns:a16="http://schemas.microsoft.com/office/drawing/2014/main" id="{3AF6FE7C-2CDF-AAB4-2CFD-745C076BEE61}"/>
              </a:ext>
            </a:extLst>
          </p:cNvPr>
          <p:cNvCxnSpPr>
            <a:cxnSpLocks/>
            <a:stCxn id="1833" idx="3"/>
            <a:endCxn id="1829" idx="1"/>
          </p:cNvCxnSpPr>
          <p:nvPr/>
        </p:nvCxnSpPr>
        <p:spPr>
          <a:xfrm>
            <a:off x="1337788" y="6420518"/>
            <a:ext cx="1162064" cy="40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6" name="Conector: angular 1865">
            <a:extLst>
              <a:ext uri="{FF2B5EF4-FFF2-40B4-BE49-F238E27FC236}">
                <a16:creationId xmlns:a16="http://schemas.microsoft.com/office/drawing/2014/main" id="{ED1B39EE-8DF2-71A4-67D5-EFF6FF9D8E89}"/>
              </a:ext>
            </a:extLst>
          </p:cNvPr>
          <p:cNvCxnSpPr>
            <a:cxnSpLocks/>
            <a:stCxn id="1829" idx="2"/>
            <a:endCxn id="1873" idx="3"/>
          </p:cNvCxnSpPr>
          <p:nvPr/>
        </p:nvCxnSpPr>
        <p:spPr>
          <a:xfrm rot="5400000">
            <a:off x="1710819" y="6496935"/>
            <a:ext cx="931637" cy="104843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3" name="CuadroTexto 1872">
            <a:extLst>
              <a:ext uri="{FF2B5EF4-FFF2-40B4-BE49-F238E27FC236}">
                <a16:creationId xmlns:a16="http://schemas.microsoft.com/office/drawing/2014/main" id="{19FE5FE0-6F45-FE29-460B-E4013E92D7ED}"/>
              </a:ext>
            </a:extLst>
          </p:cNvPr>
          <p:cNvSpPr txBox="1"/>
          <p:nvPr/>
        </p:nvSpPr>
        <p:spPr>
          <a:xfrm>
            <a:off x="1250419" y="7356165"/>
            <a:ext cx="402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IDL</a:t>
            </a:r>
          </a:p>
        </p:txBody>
      </p:sp>
      <p:sp>
        <p:nvSpPr>
          <p:cNvPr id="1876" name="Rectángulo 1875">
            <a:extLst>
              <a:ext uri="{FF2B5EF4-FFF2-40B4-BE49-F238E27FC236}">
                <a16:creationId xmlns:a16="http://schemas.microsoft.com/office/drawing/2014/main" id="{04D75F49-CC74-830E-52CE-F210CC78A916}"/>
              </a:ext>
            </a:extLst>
          </p:cNvPr>
          <p:cNvSpPr/>
          <p:nvPr/>
        </p:nvSpPr>
        <p:spPr>
          <a:xfrm>
            <a:off x="430889" y="8579702"/>
            <a:ext cx="1717476" cy="71508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79" name="CuadroTexto 1878">
            <a:extLst>
              <a:ext uri="{FF2B5EF4-FFF2-40B4-BE49-F238E27FC236}">
                <a16:creationId xmlns:a16="http://schemas.microsoft.com/office/drawing/2014/main" id="{4EBEFC31-E90D-A88B-0A43-596DA51F7D93}"/>
              </a:ext>
            </a:extLst>
          </p:cNvPr>
          <p:cNvSpPr txBox="1"/>
          <p:nvPr/>
        </p:nvSpPr>
        <p:spPr>
          <a:xfrm>
            <a:off x="436029" y="8539168"/>
            <a:ext cx="1717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Tejidos extrahepáticos</a:t>
            </a:r>
          </a:p>
        </p:txBody>
      </p:sp>
      <p:sp>
        <p:nvSpPr>
          <p:cNvPr id="1880" name="CuadroTexto 1879">
            <a:extLst>
              <a:ext uri="{FF2B5EF4-FFF2-40B4-BE49-F238E27FC236}">
                <a16:creationId xmlns:a16="http://schemas.microsoft.com/office/drawing/2014/main" id="{DAB34AD4-5C00-0F0E-C6E7-3FF7C80A377C}"/>
              </a:ext>
            </a:extLst>
          </p:cNvPr>
          <p:cNvSpPr txBox="1"/>
          <p:nvPr/>
        </p:nvSpPr>
        <p:spPr>
          <a:xfrm>
            <a:off x="-13102" y="8756945"/>
            <a:ext cx="474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HDL</a:t>
            </a:r>
          </a:p>
        </p:txBody>
      </p:sp>
      <p:sp>
        <p:nvSpPr>
          <p:cNvPr id="1881" name="CuadroTexto 1880">
            <a:extLst>
              <a:ext uri="{FF2B5EF4-FFF2-40B4-BE49-F238E27FC236}">
                <a16:creationId xmlns:a16="http://schemas.microsoft.com/office/drawing/2014/main" id="{9A535490-8F1E-2427-38C6-7D8AE661725D}"/>
              </a:ext>
            </a:extLst>
          </p:cNvPr>
          <p:cNvSpPr txBox="1"/>
          <p:nvPr/>
        </p:nvSpPr>
        <p:spPr>
          <a:xfrm>
            <a:off x="2297441" y="8645692"/>
            <a:ext cx="475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LDL</a:t>
            </a:r>
          </a:p>
        </p:txBody>
      </p:sp>
      <p:cxnSp>
        <p:nvCxnSpPr>
          <p:cNvPr id="1883" name="Conector: angular 1882">
            <a:extLst>
              <a:ext uri="{FF2B5EF4-FFF2-40B4-BE49-F238E27FC236}">
                <a16:creationId xmlns:a16="http://schemas.microsoft.com/office/drawing/2014/main" id="{1D2B0E06-BEFC-7FCC-1E09-F00B4BF0DF72}"/>
              </a:ext>
            </a:extLst>
          </p:cNvPr>
          <p:cNvCxnSpPr>
            <a:cxnSpLocks/>
            <a:stCxn id="1829" idx="2"/>
            <a:endCxn id="1881" idx="2"/>
          </p:cNvCxnSpPr>
          <p:nvPr/>
        </p:nvCxnSpPr>
        <p:spPr>
          <a:xfrm rot="5400000">
            <a:off x="1442097" y="7648545"/>
            <a:ext cx="2351969" cy="165544"/>
          </a:xfrm>
          <a:prstGeom prst="bentConnector5">
            <a:avLst>
              <a:gd name="adj1" fmla="val 44438"/>
              <a:gd name="adj2" fmla="val 725"/>
              <a:gd name="adj3" fmla="val 1097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6" name="CuadroTexto 1895">
            <a:extLst>
              <a:ext uri="{FF2B5EF4-FFF2-40B4-BE49-F238E27FC236}">
                <a16:creationId xmlns:a16="http://schemas.microsoft.com/office/drawing/2014/main" id="{46DDB08B-1CA5-2249-1EEB-CF61CE1B850C}"/>
              </a:ext>
            </a:extLst>
          </p:cNvPr>
          <p:cNvSpPr txBox="1"/>
          <p:nvPr/>
        </p:nvSpPr>
        <p:spPr>
          <a:xfrm>
            <a:off x="1214142" y="7673916"/>
            <a:ext cx="474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LDL</a:t>
            </a:r>
          </a:p>
        </p:txBody>
      </p:sp>
      <p:sp>
        <p:nvSpPr>
          <p:cNvPr id="1897" name="CuadroTexto 1896">
            <a:extLst>
              <a:ext uri="{FF2B5EF4-FFF2-40B4-BE49-F238E27FC236}">
                <a16:creationId xmlns:a16="http://schemas.microsoft.com/office/drawing/2014/main" id="{18410506-3D52-F512-2873-7B9EB9D66979}"/>
              </a:ext>
            </a:extLst>
          </p:cNvPr>
          <p:cNvSpPr txBox="1"/>
          <p:nvPr/>
        </p:nvSpPr>
        <p:spPr>
          <a:xfrm>
            <a:off x="1214141" y="7991667"/>
            <a:ext cx="474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HDL</a:t>
            </a:r>
          </a:p>
        </p:txBody>
      </p:sp>
      <p:cxnSp>
        <p:nvCxnSpPr>
          <p:cNvPr id="1904" name="Conector: angular 1903">
            <a:extLst>
              <a:ext uri="{FF2B5EF4-FFF2-40B4-BE49-F238E27FC236}">
                <a16:creationId xmlns:a16="http://schemas.microsoft.com/office/drawing/2014/main" id="{CF1E8A53-1526-F56C-1E14-7DF21FF772C9}"/>
              </a:ext>
            </a:extLst>
          </p:cNvPr>
          <p:cNvCxnSpPr>
            <a:cxnSpLocks/>
            <a:stCxn id="1881" idx="0"/>
            <a:endCxn id="1896" idx="3"/>
          </p:cNvCxnSpPr>
          <p:nvPr/>
        </p:nvCxnSpPr>
        <p:spPr>
          <a:xfrm rot="16200000" flipV="1">
            <a:off x="1691518" y="7801901"/>
            <a:ext cx="840971" cy="8466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1" name="CuadroTexto 1910">
            <a:extLst>
              <a:ext uri="{FF2B5EF4-FFF2-40B4-BE49-F238E27FC236}">
                <a16:creationId xmlns:a16="http://schemas.microsoft.com/office/drawing/2014/main" id="{6C0B0CDA-745E-3DF3-7A9F-308E8415CDB8}"/>
              </a:ext>
            </a:extLst>
          </p:cNvPr>
          <p:cNvSpPr txBox="1"/>
          <p:nvPr/>
        </p:nvSpPr>
        <p:spPr>
          <a:xfrm>
            <a:off x="1221581" y="8738064"/>
            <a:ext cx="474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LDL</a:t>
            </a:r>
          </a:p>
        </p:txBody>
      </p:sp>
      <p:sp>
        <p:nvSpPr>
          <p:cNvPr id="1912" name="CuadroTexto 1911">
            <a:extLst>
              <a:ext uri="{FF2B5EF4-FFF2-40B4-BE49-F238E27FC236}">
                <a16:creationId xmlns:a16="http://schemas.microsoft.com/office/drawing/2014/main" id="{19A5D597-4324-FB80-F629-E98DED5DC370}"/>
              </a:ext>
            </a:extLst>
          </p:cNvPr>
          <p:cNvSpPr txBox="1"/>
          <p:nvPr/>
        </p:nvSpPr>
        <p:spPr>
          <a:xfrm>
            <a:off x="1214141" y="9040820"/>
            <a:ext cx="474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HDL</a:t>
            </a:r>
          </a:p>
        </p:txBody>
      </p:sp>
      <p:cxnSp>
        <p:nvCxnSpPr>
          <p:cNvPr id="1915" name="Conector: angular 1914">
            <a:extLst>
              <a:ext uri="{FF2B5EF4-FFF2-40B4-BE49-F238E27FC236}">
                <a16:creationId xmlns:a16="http://schemas.microsoft.com/office/drawing/2014/main" id="{2CEF3983-B3D1-1B4A-E366-FC2943B75F2C}"/>
              </a:ext>
            </a:extLst>
          </p:cNvPr>
          <p:cNvCxnSpPr>
            <a:cxnSpLocks/>
            <a:stCxn id="1912" idx="1"/>
            <a:endCxn id="1880" idx="2"/>
          </p:cNvCxnSpPr>
          <p:nvPr/>
        </p:nvCxnSpPr>
        <p:spPr>
          <a:xfrm rot="10800000">
            <a:off x="224177" y="9018555"/>
            <a:ext cx="989965" cy="15307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9" name="Conector: angular 1918">
            <a:extLst>
              <a:ext uri="{FF2B5EF4-FFF2-40B4-BE49-F238E27FC236}">
                <a16:creationId xmlns:a16="http://schemas.microsoft.com/office/drawing/2014/main" id="{9C64C4B0-90E1-1B31-E82B-1C9B6CD9BFB6}"/>
              </a:ext>
            </a:extLst>
          </p:cNvPr>
          <p:cNvCxnSpPr>
            <a:cxnSpLocks/>
            <a:stCxn id="1880" idx="0"/>
            <a:endCxn id="1897" idx="1"/>
          </p:cNvCxnSpPr>
          <p:nvPr/>
        </p:nvCxnSpPr>
        <p:spPr>
          <a:xfrm rot="5400000" flipH="1" flipV="1">
            <a:off x="401922" y="7944727"/>
            <a:ext cx="634473" cy="98996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3" name="Conector: angular 1922">
            <a:extLst>
              <a:ext uri="{FF2B5EF4-FFF2-40B4-BE49-F238E27FC236}">
                <a16:creationId xmlns:a16="http://schemas.microsoft.com/office/drawing/2014/main" id="{7A4BE1C8-FE5E-D293-74C5-5F2C31B2B92F}"/>
              </a:ext>
            </a:extLst>
          </p:cNvPr>
          <p:cNvCxnSpPr>
            <a:cxnSpLocks/>
            <a:stCxn id="1881" idx="1"/>
            <a:endCxn id="1911" idx="3"/>
          </p:cNvCxnSpPr>
          <p:nvPr/>
        </p:nvCxnSpPr>
        <p:spPr>
          <a:xfrm rot="10800000" flipV="1">
            <a:off x="1696137" y="8776497"/>
            <a:ext cx="601305" cy="92372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1" name="CuadroTexto 1940">
            <a:extLst>
              <a:ext uri="{FF2B5EF4-FFF2-40B4-BE49-F238E27FC236}">
                <a16:creationId xmlns:a16="http://schemas.microsoft.com/office/drawing/2014/main" id="{14BE6DAD-F904-B04F-2AB1-33CD908346E1}"/>
              </a:ext>
            </a:extLst>
          </p:cNvPr>
          <p:cNvSpPr txBox="1"/>
          <p:nvPr/>
        </p:nvSpPr>
        <p:spPr>
          <a:xfrm>
            <a:off x="2928491" y="1108187"/>
            <a:ext cx="8611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Glucagón/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Adrenalina</a:t>
            </a:r>
          </a:p>
        </p:txBody>
      </p:sp>
      <p:sp>
        <p:nvSpPr>
          <p:cNvPr id="1945" name="CuadroTexto 1944">
            <a:extLst>
              <a:ext uri="{FF2B5EF4-FFF2-40B4-BE49-F238E27FC236}">
                <a16:creationId xmlns:a16="http://schemas.microsoft.com/office/drawing/2014/main" id="{89D054B4-1887-9DF3-0A4E-86E403A2D9E5}"/>
              </a:ext>
            </a:extLst>
          </p:cNvPr>
          <p:cNvSpPr txBox="1"/>
          <p:nvPr/>
        </p:nvSpPr>
        <p:spPr>
          <a:xfrm>
            <a:off x="2980589" y="1672065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Receptor</a:t>
            </a:r>
          </a:p>
        </p:txBody>
      </p:sp>
      <p:sp>
        <p:nvSpPr>
          <p:cNvPr id="1949" name="Rectángulo 1948">
            <a:extLst>
              <a:ext uri="{FF2B5EF4-FFF2-40B4-BE49-F238E27FC236}">
                <a16:creationId xmlns:a16="http://schemas.microsoft.com/office/drawing/2014/main" id="{79248AD1-B822-C94F-4446-F8A07AC28CDE}"/>
              </a:ext>
            </a:extLst>
          </p:cNvPr>
          <p:cNvSpPr/>
          <p:nvPr/>
        </p:nvSpPr>
        <p:spPr>
          <a:xfrm>
            <a:off x="2665876" y="1896811"/>
            <a:ext cx="2153133" cy="351387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54" name="CuadroTexto 1953">
            <a:extLst>
              <a:ext uri="{FF2B5EF4-FFF2-40B4-BE49-F238E27FC236}">
                <a16:creationId xmlns:a16="http://schemas.microsoft.com/office/drawing/2014/main" id="{93A50325-3DBC-E537-12E3-328DD0E6C05C}"/>
              </a:ext>
            </a:extLst>
          </p:cNvPr>
          <p:cNvSpPr txBox="1"/>
          <p:nvPr/>
        </p:nvSpPr>
        <p:spPr>
          <a:xfrm>
            <a:off x="3276479" y="2049113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Proteína Gs</a:t>
            </a:r>
          </a:p>
        </p:txBody>
      </p:sp>
      <p:sp>
        <p:nvSpPr>
          <p:cNvPr id="1955" name="CuadroTexto 1954">
            <a:extLst>
              <a:ext uri="{FF2B5EF4-FFF2-40B4-BE49-F238E27FC236}">
                <a16:creationId xmlns:a16="http://schemas.microsoft.com/office/drawing/2014/main" id="{15B86B2D-D646-9F8E-CE4B-7D092910C807}"/>
              </a:ext>
            </a:extLst>
          </p:cNvPr>
          <p:cNvSpPr txBox="1"/>
          <p:nvPr/>
        </p:nvSpPr>
        <p:spPr>
          <a:xfrm>
            <a:off x="3456841" y="2700496"/>
            <a:ext cx="5613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AMPc</a:t>
            </a:r>
          </a:p>
        </p:txBody>
      </p:sp>
      <p:cxnSp>
        <p:nvCxnSpPr>
          <p:cNvPr id="1962" name="Conector recto de flecha 1961">
            <a:extLst>
              <a:ext uri="{FF2B5EF4-FFF2-40B4-BE49-F238E27FC236}">
                <a16:creationId xmlns:a16="http://schemas.microsoft.com/office/drawing/2014/main" id="{A223AB4C-B12A-D0B5-133D-5D41C60B504C}"/>
              </a:ext>
            </a:extLst>
          </p:cNvPr>
          <p:cNvCxnSpPr>
            <a:cxnSpLocks/>
            <a:stCxn id="1941" idx="2"/>
            <a:endCxn id="1945" idx="0"/>
          </p:cNvCxnSpPr>
          <p:nvPr/>
        </p:nvCxnSpPr>
        <p:spPr>
          <a:xfrm>
            <a:off x="3359058" y="1539074"/>
            <a:ext cx="0" cy="132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1" name="CuadroTexto 1970">
            <a:extLst>
              <a:ext uri="{FF2B5EF4-FFF2-40B4-BE49-F238E27FC236}">
                <a16:creationId xmlns:a16="http://schemas.microsoft.com/office/drawing/2014/main" id="{9A561563-B4F8-E24B-CBDA-DAEDCA0A5616}"/>
              </a:ext>
            </a:extLst>
          </p:cNvPr>
          <p:cNvSpPr txBox="1"/>
          <p:nvPr/>
        </p:nvSpPr>
        <p:spPr>
          <a:xfrm>
            <a:off x="2624582" y="1881225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Adipocito</a:t>
            </a:r>
          </a:p>
        </p:txBody>
      </p:sp>
      <p:cxnSp>
        <p:nvCxnSpPr>
          <p:cNvPr id="1972" name="Conector recto de flecha 1971">
            <a:extLst>
              <a:ext uri="{FF2B5EF4-FFF2-40B4-BE49-F238E27FC236}">
                <a16:creationId xmlns:a16="http://schemas.microsoft.com/office/drawing/2014/main" id="{245ECD8E-6017-95C6-4DF5-82E0568D1445}"/>
              </a:ext>
            </a:extLst>
          </p:cNvPr>
          <p:cNvCxnSpPr>
            <a:cxnSpLocks/>
            <a:stCxn id="1945" idx="2"/>
            <a:endCxn id="1954" idx="0"/>
          </p:cNvCxnSpPr>
          <p:nvPr/>
        </p:nvCxnSpPr>
        <p:spPr>
          <a:xfrm>
            <a:off x="3359058" y="1933675"/>
            <a:ext cx="384857" cy="115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8" name="Conector recto de flecha 1987">
            <a:extLst>
              <a:ext uri="{FF2B5EF4-FFF2-40B4-BE49-F238E27FC236}">
                <a16:creationId xmlns:a16="http://schemas.microsoft.com/office/drawing/2014/main" id="{C4005458-1F28-7B13-FCFA-28F9F2326D4C}"/>
              </a:ext>
            </a:extLst>
          </p:cNvPr>
          <p:cNvCxnSpPr>
            <a:cxnSpLocks/>
            <a:stCxn id="1954" idx="2"/>
          </p:cNvCxnSpPr>
          <p:nvPr/>
        </p:nvCxnSpPr>
        <p:spPr>
          <a:xfrm flipH="1">
            <a:off x="3738239" y="2310723"/>
            <a:ext cx="5676" cy="418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2" name="CuadroTexto 2001">
            <a:extLst>
              <a:ext uri="{FF2B5EF4-FFF2-40B4-BE49-F238E27FC236}">
                <a16:creationId xmlns:a16="http://schemas.microsoft.com/office/drawing/2014/main" id="{9A042C61-D523-3CB8-D1B3-EDD6D75DA315}"/>
              </a:ext>
            </a:extLst>
          </p:cNvPr>
          <p:cNvSpPr txBox="1"/>
          <p:nvPr/>
        </p:nvSpPr>
        <p:spPr>
          <a:xfrm>
            <a:off x="3713040" y="2262759"/>
            <a:ext cx="8621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Adenilato ciclasa</a:t>
            </a:r>
          </a:p>
        </p:txBody>
      </p:sp>
      <p:sp>
        <p:nvSpPr>
          <p:cNvPr id="2003" name="CuadroTexto 2002">
            <a:extLst>
              <a:ext uri="{FF2B5EF4-FFF2-40B4-BE49-F238E27FC236}">
                <a16:creationId xmlns:a16="http://schemas.microsoft.com/office/drawing/2014/main" id="{DAC1CB16-EB86-0DB4-51E6-AE2760D590AB}"/>
              </a:ext>
            </a:extLst>
          </p:cNvPr>
          <p:cNvSpPr txBox="1"/>
          <p:nvPr/>
        </p:nvSpPr>
        <p:spPr>
          <a:xfrm>
            <a:off x="3016029" y="2354748"/>
            <a:ext cx="460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2010" name="Conector: curvado 2009">
            <a:extLst>
              <a:ext uri="{FF2B5EF4-FFF2-40B4-BE49-F238E27FC236}">
                <a16:creationId xmlns:a16="http://schemas.microsoft.com/office/drawing/2014/main" id="{AB44FAE1-32F2-BFF8-700F-B9AA75E7CC46}"/>
              </a:ext>
            </a:extLst>
          </p:cNvPr>
          <p:cNvCxnSpPr>
            <a:cxnSpLocks/>
            <a:stCxn id="2003" idx="3"/>
          </p:cNvCxnSpPr>
          <p:nvPr/>
        </p:nvCxnSpPr>
        <p:spPr>
          <a:xfrm>
            <a:off x="3476411" y="2485553"/>
            <a:ext cx="261828" cy="24405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9" name="CuadroTexto 2018">
            <a:extLst>
              <a:ext uri="{FF2B5EF4-FFF2-40B4-BE49-F238E27FC236}">
                <a16:creationId xmlns:a16="http://schemas.microsoft.com/office/drawing/2014/main" id="{F07EE848-CA6F-3D07-074C-DBA26E389DE2}"/>
              </a:ext>
            </a:extLst>
          </p:cNvPr>
          <p:cNvSpPr txBox="1"/>
          <p:nvPr/>
        </p:nvSpPr>
        <p:spPr>
          <a:xfrm>
            <a:off x="3503328" y="3258114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PKA</a:t>
            </a:r>
          </a:p>
        </p:txBody>
      </p:sp>
      <p:grpSp>
        <p:nvGrpSpPr>
          <p:cNvPr id="2020" name="Grupo 2019">
            <a:extLst>
              <a:ext uri="{FF2B5EF4-FFF2-40B4-BE49-F238E27FC236}">
                <a16:creationId xmlns:a16="http://schemas.microsoft.com/office/drawing/2014/main" id="{70A8F377-A287-6DD7-90A6-8C8C59928218}"/>
              </a:ext>
            </a:extLst>
          </p:cNvPr>
          <p:cNvGrpSpPr/>
          <p:nvPr/>
        </p:nvGrpSpPr>
        <p:grpSpPr>
          <a:xfrm>
            <a:off x="3551486" y="3005503"/>
            <a:ext cx="128136" cy="128136"/>
            <a:chOff x="2606150" y="3355191"/>
            <a:chExt cx="128136" cy="128136"/>
          </a:xfrm>
        </p:grpSpPr>
        <p:sp>
          <p:nvSpPr>
            <p:cNvPr id="2021" name="Elipse 2020">
              <a:extLst>
                <a:ext uri="{FF2B5EF4-FFF2-40B4-BE49-F238E27FC236}">
                  <a16:creationId xmlns:a16="http://schemas.microsoft.com/office/drawing/2014/main" id="{E3E47C86-3128-0D76-0812-99E9EB9462D6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22" name="Triángulo isósceles 2021">
              <a:extLst>
                <a:ext uri="{FF2B5EF4-FFF2-40B4-BE49-F238E27FC236}">
                  <a16:creationId xmlns:a16="http://schemas.microsoft.com/office/drawing/2014/main" id="{9668238A-0A12-A4FF-21AF-D18CAA53809B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023" name="Conector recto de flecha 2022">
            <a:extLst>
              <a:ext uri="{FF2B5EF4-FFF2-40B4-BE49-F238E27FC236}">
                <a16:creationId xmlns:a16="http://schemas.microsoft.com/office/drawing/2014/main" id="{F1E10F10-8976-0EAC-6924-000A83E08476}"/>
              </a:ext>
            </a:extLst>
          </p:cNvPr>
          <p:cNvCxnSpPr>
            <a:cxnSpLocks/>
            <a:stCxn id="1955" idx="2"/>
            <a:endCxn id="2019" idx="0"/>
          </p:cNvCxnSpPr>
          <p:nvPr/>
        </p:nvCxnSpPr>
        <p:spPr>
          <a:xfrm>
            <a:off x="3737527" y="2962106"/>
            <a:ext cx="0" cy="2960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0" name="CuadroTexto 2069">
            <a:extLst>
              <a:ext uri="{FF2B5EF4-FFF2-40B4-BE49-F238E27FC236}">
                <a16:creationId xmlns:a16="http://schemas.microsoft.com/office/drawing/2014/main" id="{1086A069-EE5E-F671-ADE1-369E25028A34}"/>
              </a:ext>
            </a:extLst>
          </p:cNvPr>
          <p:cNvSpPr txBox="1"/>
          <p:nvPr/>
        </p:nvSpPr>
        <p:spPr>
          <a:xfrm>
            <a:off x="4288097" y="3258114"/>
            <a:ext cx="460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HSL</a:t>
            </a:r>
          </a:p>
        </p:txBody>
      </p:sp>
      <p:sp>
        <p:nvSpPr>
          <p:cNvPr id="2075" name="CuadroTexto 2074">
            <a:extLst>
              <a:ext uri="{FF2B5EF4-FFF2-40B4-BE49-F238E27FC236}">
                <a16:creationId xmlns:a16="http://schemas.microsoft.com/office/drawing/2014/main" id="{3B86C766-DDEA-6AAA-D64D-17E412FDE6E4}"/>
              </a:ext>
            </a:extLst>
          </p:cNvPr>
          <p:cNvSpPr txBox="1"/>
          <p:nvPr/>
        </p:nvSpPr>
        <p:spPr>
          <a:xfrm>
            <a:off x="4217564" y="3705083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HSL-P</a:t>
            </a:r>
          </a:p>
        </p:txBody>
      </p:sp>
      <p:cxnSp>
        <p:nvCxnSpPr>
          <p:cNvPr id="2076" name="Conector recto de flecha 2075">
            <a:extLst>
              <a:ext uri="{FF2B5EF4-FFF2-40B4-BE49-F238E27FC236}">
                <a16:creationId xmlns:a16="http://schemas.microsoft.com/office/drawing/2014/main" id="{6346CB38-5EED-108C-973B-A1BE42D069F8}"/>
              </a:ext>
            </a:extLst>
          </p:cNvPr>
          <p:cNvCxnSpPr>
            <a:cxnSpLocks/>
            <a:stCxn id="2019" idx="3"/>
          </p:cNvCxnSpPr>
          <p:nvPr/>
        </p:nvCxnSpPr>
        <p:spPr>
          <a:xfrm>
            <a:off x="3971726" y="3388919"/>
            <a:ext cx="557140" cy="186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3" name="Conector recto de flecha 2082">
            <a:extLst>
              <a:ext uri="{FF2B5EF4-FFF2-40B4-BE49-F238E27FC236}">
                <a16:creationId xmlns:a16="http://schemas.microsoft.com/office/drawing/2014/main" id="{B64BE826-5B80-4090-BC7F-7169308E493A}"/>
              </a:ext>
            </a:extLst>
          </p:cNvPr>
          <p:cNvCxnSpPr>
            <a:cxnSpLocks/>
            <a:stCxn id="2070" idx="2"/>
            <a:endCxn id="2075" idx="0"/>
          </p:cNvCxnSpPr>
          <p:nvPr/>
        </p:nvCxnSpPr>
        <p:spPr>
          <a:xfrm>
            <a:off x="4518288" y="3519724"/>
            <a:ext cx="0" cy="185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95" name="Grupo 2094">
            <a:extLst>
              <a:ext uri="{FF2B5EF4-FFF2-40B4-BE49-F238E27FC236}">
                <a16:creationId xmlns:a16="http://schemas.microsoft.com/office/drawing/2014/main" id="{585CBF71-ECF9-E1CD-00BE-292BF6794C99}"/>
              </a:ext>
            </a:extLst>
          </p:cNvPr>
          <p:cNvGrpSpPr/>
          <p:nvPr/>
        </p:nvGrpSpPr>
        <p:grpSpPr>
          <a:xfrm>
            <a:off x="4557986" y="3511059"/>
            <a:ext cx="128136" cy="128136"/>
            <a:chOff x="2606150" y="3355191"/>
            <a:chExt cx="128136" cy="128136"/>
          </a:xfrm>
        </p:grpSpPr>
        <p:sp>
          <p:nvSpPr>
            <p:cNvPr id="2096" name="Elipse 2095">
              <a:extLst>
                <a:ext uri="{FF2B5EF4-FFF2-40B4-BE49-F238E27FC236}">
                  <a16:creationId xmlns:a16="http://schemas.microsoft.com/office/drawing/2014/main" id="{3CD2C355-7661-3DAD-773F-4C31E72C63E4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01" name="Triángulo isósceles 2100">
              <a:extLst>
                <a:ext uri="{FF2B5EF4-FFF2-40B4-BE49-F238E27FC236}">
                  <a16:creationId xmlns:a16="http://schemas.microsoft.com/office/drawing/2014/main" id="{005F8E1D-4AA5-F8B1-CB40-D668EE914B43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105" name="CuadroTexto 2104">
            <a:extLst>
              <a:ext uri="{FF2B5EF4-FFF2-40B4-BE49-F238E27FC236}">
                <a16:creationId xmlns:a16="http://schemas.microsoft.com/office/drawing/2014/main" id="{DB35076F-9616-F743-1513-4EFAFC3FBDD3}"/>
              </a:ext>
            </a:extLst>
          </p:cNvPr>
          <p:cNvSpPr txBox="1"/>
          <p:nvPr/>
        </p:nvSpPr>
        <p:spPr>
          <a:xfrm>
            <a:off x="2694898" y="3258114"/>
            <a:ext cx="7681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Perilipina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7" name="CuadroTexto 2106">
            <a:extLst>
              <a:ext uri="{FF2B5EF4-FFF2-40B4-BE49-F238E27FC236}">
                <a16:creationId xmlns:a16="http://schemas.microsoft.com/office/drawing/2014/main" id="{A91F9A7B-CDA4-0168-7B6F-4D11296B8DC4}"/>
              </a:ext>
            </a:extLst>
          </p:cNvPr>
          <p:cNvSpPr txBox="1"/>
          <p:nvPr/>
        </p:nvSpPr>
        <p:spPr>
          <a:xfrm>
            <a:off x="2624365" y="3714282"/>
            <a:ext cx="9092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Perilipina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-P</a:t>
            </a:r>
          </a:p>
        </p:txBody>
      </p:sp>
      <p:cxnSp>
        <p:nvCxnSpPr>
          <p:cNvPr id="2108" name="Conector recto de flecha 2107">
            <a:extLst>
              <a:ext uri="{FF2B5EF4-FFF2-40B4-BE49-F238E27FC236}">
                <a16:creationId xmlns:a16="http://schemas.microsoft.com/office/drawing/2014/main" id="{2A8D709F-186C-B25D-9922-5623EBE08D9B}"/>
              </a:ext>
            </a:extLst>
          </p:cNvPr>
          <p:cNvCxnSpPr>
            <a:cxnSpLocks/>
            <a:stCxn id="2105" idx="2"/>
            <a:endCxn id="2107" idx="0"/>
          </p:cNvCxnSpPr>
          <p:nvPr/>
        </p:nvCxnSpPr>
        <p:spPr>
          <a:xfrm flipH="1">
            <a:off x="3078977" y="3519724"/>
            <a:ext cx="1" cy="1945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2" name="Conector recto de flecha 2111">
            <a:extLst>
              <a:ext uri="{FF2B5EF4-FFF2-40B4-BE49-F238E27FC236}">
                <a16:creationId xmlns:a16="http://schemas.microsoft.com/office/drawing/2014/main" id="{BA51AD05-80DB-73EF-DEA8-A1F8F545D014}"/>
              </a:ext>
            </a:extLst>
          </p:cNvPr>
          <p:cNvCxnSpPr>
            <a:cxnSpLocks/>
            <a:stCxn id="2019" idx="1"/>
          </p:cNvCxnSpPr>
          <p:nvPr/>
        </p:nvCxnSpPr>
        <p:spPr>
          <a:xfrm flipH="1">
            <a:off x="3078977" y="3388919"/>
            <a:ext cx="424351" cy="2104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8" name="CuadroTexto 2117">
            <a:extLst>
              <a:ext uri="{FF2B5EF4-FFF2-40B4-BE49-F238E27FC236}">
                <a16:creationId xmlns:a16="http://schemas.microsoft.com/office/drawing/2014/main" id="{F8FCA327-FB62-8BC1-2D49-5F66826EE7CC}"/>
              </a:ext>
            </a:extLst>
          </p:cNvPr>
          <p:cNvSpPr txBox="1"/>
          <p:nvPr/>
        </p:nvSpPr>
        <p:spPr>
          <a:xfrm>
            <a:off x="2610026" y="4122612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CGI-ATGL</a:t>
            </a:r>
          </a:p>
        </p:txBody>
      </p:sp>
      <p:sp>
        <p:nvSpPr>
          <p:cNvPr id="2119" name="CuadroTexto 2118">
            <a:extLst>
              <a:ext uri="{FF2B5EF4-FFF2-40B4-BE49-F238E27FC236}">
                <a16:creationId xmlns:a16="http://schemas.microsoft.com/office/drawing/2014/main" id="{D139EF57-319F-42BD-581B-54764A73EB70}"/>
              </a:ext>
            </a:extLst>
          </p:cNvPr>
          <p:cNvSpPr txBox="1"/>
          <p:nvPr/>
        </p:nvSpPr>
        <p:spPr>
          <a:xfrm>
            <a:off x="2633040" y="4505037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</a:p>
        </p:txBody>
      </p:sp>
      <p:sp>
        <p:nvSpPr>
          <p:cNvPr id="2120" name="CuadroTexto 2119">
            <a:extLst>
              <a:ext uri="{FF2B5EF4-FFF2-40B4-BE49-F238E27FC236}">
                <a16:creationId xmlns:a16="http://schemas.microsoft.com/office/drawing/2014/main" id="{164376C5-DAC6-8DA2-23D5-4E2C7DAC2F21}"/>
              </a:ext>
            </a:extLst>
          </p:cNvPr>
          <p:cNvSpPr txBox="1"/>
          <p:nvPr/>
        </p:nvSpPr>
        <p:spPr>
          <a:xfrm>
            <a:off x="3190085" y="4505037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DAG</a:t>
            </a:r>
          </a:p>
        </p:txBody>
      </p:sp>
      <p:sp>
        <p:nvSpPr>
          <p:cNvPr id="2121" name="CuadroTexto 2120">
            <a:extLst>
              <a:ext uri="{FF2B5EF4-FFF2-40B4-BE49-F238E27FC236}">
                <a16:creationId xmlns:a16="http://schemas.microsoft.com/office/drawing/2014/main" id="{14814530-0BD0-1EF7-25B0-FDB2F09BACB1}"/>
              </a:ext>
            </a:extLst>
          </p:cNvPr>
          <p:cNvSpPr txBox="1"/>
          <p:nvPr/>
        </p:nvSpPr>
        <p:spPr>
          <a:xfrm>
            <a:off x="3177588" y="4680909"/>
            <a:ext cx="5020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AC</a:t>
            </a:r>
          </a:p>
        </p:txBody>
      </p:sp>
      <p:cxnSp>
        <p:nvCxnSpPr>
          <p:cNvPr id="2123" name="Conector: curvado 2122">
            <a:extLst>
              <a:ext uri="{FF2B5EF4-FFF2-40B4-BE49-F238E27FC236}">
                <a16:creationId xmlns:a16="http://schemas.microsoft.com/office/drawing/2014/main" id="{1F3AED5B-3139-F719-C813-1CEE38B014B5}"/>
              </a:ext>
            </a:extLst>
          </p:cNvPr>
          <p:cNvCxnSpPr>
            <a:stCxn id="2119" idx="0"/>
            <a:endCxn id="2120" idx="0"/>
          </p:cNvCxnSpPr>
          <p:nvPr/>
        </p:nvCxnSpPr>
        <p:spPr>
          <a:xfrm rot="5400000" flipH="1" flipV="1">
            <a:off x="3152975" y="4222507"/>
            <a:ext cx="12700" cy="565060"/>
          </a:xfrm>
          <a:prstGeom prst="curvedConnector3">
            <a:avLst>
              <a:gd name="adj1" fmla="val 14789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5" name="CuadroTexto 2124">
            <a:extLst>
              <a:ext uri="{FF2B5EF4-FFF2-40B4-BE49-F238E27FC236}">
                <a16:creationId xmlns:a16="http://schemas.microsoft.com/office/drawing/2014/main" id="{C32AA3A5-1071-D8D9-B8F0-D24FEFE6F7CB}"/>
              </a:ext>
            </a:extLst>
          </p:cNvPr>
          <p:cNvSpPr txBox="1"/>
          <p:nvPr/>
        </p:nvSpPr>
        <p:spPr>
          <a:xfrm>
            <a:off x="4272867" y="4166317"/>
            <a:ext cx="5052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MAG</a:t>
            </a:r>
          </a:p>
        </p:txBody>
      </p:sp>
      <p:cxnSp>
        <p:nvCxnSpPr>
          <p:cNvPr id="2126" name="Conector: curvado 2125">
            <a:extLst>
              <a:ext uri="{FF2B5EF4-FFF2-40B4-BE49-F238E27FC236}">
                <a16:creationId xmlns:a16="http://schemas.microsoft.com/office/drawing/2014/main" id="{319EDEEE-7B24-213D-A059-589CE79CF83D}"/>
              </a:ext>
            </a:extLst>
          </p:cNvPr>
          <p:cNvCxnSpPr>
            <a:cxnSpLocks/>
            <a:stCxn id="2120" idx="0"/>
            <a:endCxn id="2125" idx="0"/>
          </p:cNvCxnSpPr>
          <p:nvPr/>
        </p:nvCxnSpPr>
        <p:spPr>
          <a:xfrm rot="5400000" flipH="1" flipV="1">
            <a:off x="3811143" y="3790679"/>
            <a:ext cx="338720" cy="1089996"/>
          </a:xfrm>
          <a:prstGeom prst="curvedConnector3">
            <a:avLst>
              <a:gd name="adj1" fmla="val 2018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0" name="CuadroTexto 2129">
            <a:extLst>
              <a:ext uri="{FF2B5EF4-FFF2-40B4-BE49-F238E27FC236}">
                <a16:creationId xmlns:a16="http://schemas.microsoft.com/office/drawing/2014/main" id="{FF047A94-3317-0898-F774-22EE8C18101D}"/>
              </a:ext>
            </a:extLst>
          </p:cNvPr>
          <p:cNvSpPr txBox="1"/>
          <p:nvPr/>
        </p:nvSpPr>
        <p:spPr>
          <a:xfrm>
            <a:off x="4277835" y="4357886"/>
            <a:ext cx="5020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AC</a:t>
            </a:r>
          </a:p>
        </p:txBody>
      </p:sp>
      <p:sp>
        <p:nvSpPr>
          <p:cNvPr id="2131" name="CuadroTexto 2130">
            <a:extLst>
              <a:ext uri="{FF2B5EF4-FFF2-40B4-BE49-F238E27FC236}">
                <a16:creationId xmlns:a16="http://schemas.microsoft.com/office/drawing/2014/main" id="{98DA278B-7C26-BAAA-7007-005EBFB10FC9}"/>
              </a:ext>
            </a:extLst>
          </p:cNvPr>
          <p:cNvSpPr txBox="1"/>
          <p:nvPr/>
        </p:nvSpPr>
        <p:spPr>
          <a:xfrm>
            <a:off x="3886272" y="5095502"/>
            <a:ext cx="10198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 + Glicerol</a:t>
            </a:r>
          </a:p>
        </p:txBody>
      </p:sp>
      <p:sp>
        <p:nvSpPr>
          <p:cNvPr id="2132" name="CuadroTexto 2131">
            <a:extLst>
              <a:ext uri="{FF2B5EF4-FFF2-40B4-BE49-F238E27FC236}">
                <a16:creationId xmlns:a16="http://schemas.microsoft.com/office/drawing/2014/main" id="{639E50EE-A4CD-F55F-6D6B-93120F5A26EA}"/>
              </a:ext>
            </a:extLst>
          </p:cNvPr>
          <p:cNvSpPr txBox="1"/>
          <p:nvPr/>
        </p:nvSpPr>
        <p:spPr>
          <a:xfrm>
            <a:off x="3826249" y="4680909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MGL</a:t>
            </a:r>
          </a:p>
        </p:txBody>
      </p:sp>
      <p:cxnSp>
        <p:nvCxnSpPr>
          <p:cNvPr id="2133" name="Conector: curvado 2132">
            <a:extLst>
              <a:ext uri="{FF2B5EF4-FFF2-40B4-BE49-F238E27FC236}">
                <a16:creationId xmlns:a16="http://schemas.microsoft.com/office/drawing/2014/main" id="{F8320D7F-B676-B2D6-C64F-1588FF055193}"/>
              </a:ext>
            </a:extLst>
          </p:cNvPr>
          <p:cNvCxnSpPr>
            <a:cxnSpLocks/>
            <a:stCxn id="2125" idx="1"/>
            <a:endCxn id="2131" idx="1"/>
          </p:cNvCxnSpPr>
          <p:nvPr/>
        </p:nvCxnSpPr>
        <p:spPr>
          <a:xfrm rot="10800000" flipV="1">
            <a:off x="3886273" y="4297121"/>
            <a:ext cx="386595" cy="929185"/>
          </a:xfrm>
          <a:prstGeom prst="curvedConnector3">
            <a:avLst>
              <a:gd name="adj1" fmla="val 1124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3" name="Conector: angular 2142">
            <a:extLst>
              <a:ext uri="{FF2B5EF4-FFF2-40B4-BE49-F238E27FC236}">
                <a16:creationId xmlns:a16="http://schemas.microsoft.com/office/drawing/2014/main" id="{F43192FA-6252-7E70-D776-B341ABB7E737}"/>
              </a:ext>
            </a:extLst>
          </p:cNvPr>
          <p:cNvCxnSpPr>
            <a:cxnSpLocks/>
            <a:stCxn id="1949" idx="2"/>
          </p:cNvCxnSpPr>
          <p:nvPr/>
        </p:nvCxnSpPr>
        <p:spPr>
          <a:xfrm rot="5400000">
            <a:off x="2861945" y="4961071"/>
            <a:ext cx="430886" cy="133011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6" name="CuadroTexto 2145">
            <a:extLst>
              <a:ext uri="{FF2B5EF4-FFF2-40B4-BE49-F238E27FC236}">
                <a16:creationId xmlns:a16="http://schemas.microsoft.com/office/drawing/2014/main" id="{7464DBF2-9E33-D317-8CFB-5B6533E853C5}"/>
              </a:ext>
            </a:extLst>
          </p:cNvPr>
          <p:cNvSpPr txBox="1"/>
          <p:nvPr/>
        </p:nvSpPr>
        <p:spPr>
          <a:xfrm>
            <a:off x="2367240" y="5816804"/>
            <a:ext cx="1481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 (Albúmina)</a:t>
            </a:r>
          </a:p>
        </p:txBody>
      </p:sp>
      <p:sp>
        <p:nvSpPr>
          <p:cNvPr id="2147" name="CuadroTexto 2146">
            <a:extLst>
              <a:ext uri="{FF2B5EF4-FFF2-40B4-BE49-F238E27FC236}">
                <a16:creationId xmlns:a16="http://schemas.microsoft.com/office/drawing/2014/main" id="{7AFC370C-7F30-C090-47E3-8BDDE04FF194}"/>
              </a:ext>
            </a:extLst>
          </p:cNvPr>
          <p:cNvSpPr txBox="1"/>
          <p:nvPr/>
        </p:nvSpPr>
        <p:spPr>
          <a:xfrm>
            <a:off x="4210573" y="1201538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</a:p>
        </p:txBody>
      </p:sp>
      <p:sp>
        <p:nvSpPr>
          <p:cNvPr id="2148" name="CuadroTexto 2147">
            <a:extLst>
              <a:ext uri="{FF2B5EF4-FFF2-40B4-BE49-F238E27FC236}">
                <a16:creationId xmlns:a16="http://schemas.microsoft.com/office/drawing/2014/main" id="{0286FD31-A7A2-38F5-494D-3FD5E2373634}"/>
              </a:ext>
            </a:extLst>
          </p:cNvPr>
          <p:cNvSpPr txBox="1"/>
          <p:nvPr/>
        </p:nvSpPr>
        <p:spPr>
          <a:xfrm>
            <a:off x="3908972" y="2700496"/>
            <a:ext cx="499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PDE</a:t>
            </a:r>
          </a:p>
        </p:txBody>
      </p:sp>
      <p:cxnSp>
        <p:nvCxnSpPr>
          <p:cNvPr id="2150" name="Conector recto de flecha 2149">
            <a:extLst>
              <a:ext uri="{FF2B5EF4-FFF2-40B4-BE49-F238E27FC236}">
                <a16:creationId xmlns:a16="http://schemas.microsoft.com/office/drawing/2014/main" id="{9505D7BF-6B71-10D6-CB63-616589CE5963}"/>
              </a:ext>
            </a:extLst>
          </p:cNvPr>
          <p:cNvCxnSpPr>
            <a:cxnSpLocks/>
            <a:stCxn id="2147" idx="2"/>
            <a:endCxn id="2153" idx="0"/>
          </p:cNvCxnSpPr>
          <p:nvPr/>
        </p:nvCxnSpPr>
        <p:spPr>
          <a:xfrm>
            <a:off x="4546563" y="1463148"/>
            <a:ext cx="0" cy="203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" name="CuadroTexto 2152">
            <a:extLst>
              <a:ext uri="{FF2B5EF4-FFF2-40B4-BE49-F238E27FC236}">
                <a16:creationId xmlns:a16="http://schemas.microsoft.com/office/drawing/2014/main" id="{8B1B8027-27B1-8622-CAC2-5F9E8A63BE31}"/>
              </a:ext>
            </a:extLst>
          </p:cNvPr>
          <p:cNvSpPr txBox="1"/>
          <p:nvPr/>
        </p:nvSpPr>
        <p:spPr>
          <a:xfrm>
            <a:off x="4168094" y="1666190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Receptor</a:t>
            </a:r>
          </a:p>
        </p:txBody>
      </p:sp>
      <p:cxnSp>
        <p:nvCxnSpPr>
          <p:cNvPr id="2169" name="Conector: curvado 2168">
            <a:extLst>
              <a:ext uri="{FF2B5EF4-FFF2-40B4-BE49-F238E27FC236}">
                <a16:creationId xmlns:a16="http://schemas.microsoft.com/office/drawing/2014/main" id="{D1165D25-787C-6137-C436-9683A4B25764}"/>
              </a:ext>
            </a:extLst>
          </p:cNvPr>
          <p:cNvCxnSpPr>
            <a:cxnSpLocks/>
            <a:stCxn id="2148" idx="2"/>
            <a:endCxn id="1955" idx="2"/>
          </p:cNvCxnSpPr>
          <p:nvPr/>
        </p:nvCxnSpPr>
        <p:spPr>
          <a:xfrm rot="5400000">
            <a:off x="3948027" y="2751606"/>
            <a:ext cx="12700" cy="421000"/>
          </a:xfrm>
          <a:prstGeom prst="curvedConnector3">
            <a:avLst>
              <a:gd name="adj1" fmla="val 180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72" name="Grupo 2171">
            <a:extLst>
              <a:ext uri="{FF2B5EF4-FFF2-40B4-BE49-F238E27FC236}">
                <a16:creationId xmlns:a16="http://schemas.microsoft.com/office/drawing/2014/main" id="{B5B4CB34-D7D5-1E2C-64F1-34865427E1F8}"/>
              </a:ext>
            </a:extLst>
          </p:cNvPr>
          <p:cNvGrpSpPr/>
          <p:nvPr/>
        </p:nvGrpSpPr>
        <p:grpSpPr>
          <a:xfrm>
            <a:off x="3973196" y="2971160"/>
            <a:ext cx="128136" cy="128136"/>
            <a:chOff x="908127" y="1162591"/>
            <a:chExt cx="128136" cy="128136"/>
          </a:xfrm>
        </p:grpSpPr>
        <p:sp>
          <p:nvSpPr>
            <p:cNvPr id="2173" name="Elipse 2172">
              <a:extLst>
                <a:ext uri="{FF2B5EF4-FFF2-40B4-BE49-F238E27FC236}">
                  <a16:creationId xmlns:a16="http://schemas.microsoft.com/office/drawing/2014/main" id="{78F1871E-764E-5EEA-7BB3-C65EF6AE7186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74" name="Cruz 2173">
              <a:extLst>
                <a:ext uri="{FF2B5EF4-FFF2-40B4-BE49-F238E27FC236}">
                  <a16:creationId xmlns:a16="http://schemas.microsoft.com/office/drawing/2014/main" id="{7F2E5D27-2CA2-2263-520B-DB76DC597CDB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175" name="CuadroTexto 2174">
            <a:extLst>
              <a:ext uri="{FF2B5EF4-FFF2-40B4-BE49-F238E27FC236}">
                <a16:creationId xmlns:a16="http://schemas.microsoft.com/office/drawing/2014/main" id="{183752F1-70D5-57B6-BFA9-616D9DF0BA44}"/>
              </a:ext>
            </a:extLst>
          </p:cNvPr>
          <p:cNvSpPr txBox="1"/>
          <p:nvPr/>
        </p:nvSpPr>
        <p:spPr>
          <a:xfrm>
            <a:off x="5811181" y="1417843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6" name="CuadroTexto 2175">
            <a:extLst>
              <a:ext uri="{FF2B5EF4-FFF2-40B4-BE49-F238E27FC236}">
                <a16:creationId xmlns:a16="http://schemas.microsoft.com/office/drawing/2014/main" id="{FE9F7A80-0248-7071-02A0-1C5A7121B7A1}"/>
              </a:ext>
            </a:extLst>
          </p:cNvPr>
          <p:cNvSpPr txBox="1"/>
          <p:nvPr/>
        </p:nvSpPr>
        <p:spPr>
          <a:xfrm>
            <a:off x="5759885" y="2443677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1" name="CuadroTexto 2180">
            <a:extLst>
              <a:ext uri="{FF2B5EF4-FFF2-40B4-BE49-F238E27FC236}">
                <a16:creationId xmlns:a16="http://schemas.microsoft.com/office/drawing/2014/main" id="{8D06B9AC-3CA3-96CD-7097-A069AF49E909}"/>
              </a:ext>
            </a:extLst>
          </p:cNvPr>
          <p:cNvSpPr txBox="1"/>
          <p:nvPr/>
        </p:nvSpPr>
        <p:spPr>
          <a:xfrm>
            <a:off x="5753313" y="1957321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</a:p>
        </p:txBody>
      </p:sp>
      <p:sp>
        <p:nvSpPr>
          <p:cNvPr id="2183" name="CuadroTexto 2182">
            <a:extLst>
              <a:ext uri="{FF2B5EF4-FFF2-40B4-BE49-F238E27FC236}">
                <a16:creationId xmlns:a16="http://schemas.microsoft.com/office/drawing/2014/main" id="{E3582B91-6FB5-A378-CC42-B2BA0B067DC1}"/>
              </a:ext>
            </a:extLst>
          </p:cNvPr>
          <p:cNvSpPr txBox="1"/>
          <p:nvPr/>
        </p:nvSpPr>
        <p:spPr>
          <a:xfrm>
            <a:off x="6444909" y="1679453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2184" name="CuadroTexto 2183">
            <a:extLst>
              <a:ext uri="{FF2B5EF4-FFF2-40B4-BE49-F238E27FC236}">
                <a16:creationId xmlns:a16="http://schemas.microsoft.com/office/drawing/2014/main" id="{75CA491D-892D-4055-06AD-084568207F85}"/>
              </a:ext>
            </a:extLst>
          </p:cNvPr>
          <p:cNvSpPr txBox="1"/>
          <p:nvPr/>
        </p:nvSpPr>
        <p:spPr>
          <a:xfrm>
            <a:off x="6417867" y="1979535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2186" name="Conector: curvado 2185">
            <a:extLst>
              <a:ext uri="{FF2B5EF4-FFF2-40B4-BE49-F238E27FC236}">
                <a16:creationId xmlns:a16="http://schemas.microsoft.com/office/drawing/2014/main" id="{090B9A59-8829-910B-1510-05F16FFB6E2B}"/>
              </a:ext>
            </a:extLst>
          </p:cNvPr>
          <p:cNvCxnSpPr>
            <a:cxnSpLocks/>
            <a:stCxn id="2183" idx="1"/>
          </p:cNvCxnSpPr>
          <p:nvPr/>
        </p:nvCxnSpPr>
        <p:spPr>
          <a:xfrm rot="10800000" flipV="1">
            <a:off x="6237741" y="1810257"/>
            <a:ext cx="207168" cy="23471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1" name="Conector: curvado 2190">
            <a:extLst>
              <a:ext uri="{FF2B5EF4-FFF2-40B4-BE49-F238E27FC236}">
                <a16:creationId xmlns:a16="http://schemas.microsoft.com/office/drawing/2014/main" id="{F1DA9185-4914-8FF5-6531-CD064726ACFC}"/>
              </a:ext>
            </a:extLst>
          </p:cNvPr>
          <p:cNvCxnSpPr>
            <a:cxnSpLocks/>
            <a:stCxn id="2184" idx="1"/>
          </p:cNvCxnSpPr>
          <p:nvPr/>
        </p:nvCxnSpPr>
        <p:spPr>
          <a:xfrm rot="10800000" flipV="1">
            <a:off x="6237741" y="2110340"/>
            <a:ext cx="180126" cy="23939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7" name="Conector recto de flecha 2176">
            <a:extLst>
              <a:ext uri="{FF2B5EF4-FFF2-40B4-BE49-F238E27FC236}">
                <a16:creationId xmlns:a16="http://schemas.microsoft.com/office/drawing/2014/main" id="{840D3DAD-6962-8909-E44A-1FDE25538D01}"/>
              </a:ext>
            </a:extLst>
          </p:cNvPr>
          <p:cNvCxnSpPr>
            <a:cxnSpLocks/>
            <a:stCxn id="2175" idx="2"/>
            <a:endCxn id="2176" idx="0"/>
          </p:cNvCxnSpPr>
          <p:nvPr/>
        </p:nvCxnSpPr>
        <p:spPr>
          <a:xfrm>
            <a:off x="6237741" y="1679453"/>
            <a:ext cx="0" cy="764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4" name="Conector: angular 2193">
            <a:extLst>
              <a:ext uri="{FF2B5EF4-FFF2-40B4-BE49-F238E27FC236}">
                <a16:creationId xmlns:a16="http://schemas.microsoft.com/office/drawing/2014/main" id="{9857CDAD-CD36-50BD-21F6-9EB6953FDD0F}"/>
              </a:ext>
            </a:extLst>
          </p:cNvPr>
          <p:cNvCxnSpPr>
            <a:cxnSpLocks/>
            <a:stCxn id="2147" idx="3"/>
            <a:endCxn id="2181" idx="1"/>
          </p:cNvCxnSpPr>
          <p:nvPr/>
        </p:nvCxnSpPr>
        <p:spPr>
          <a:xfrm>
            <a:off x="4882552" y="1332343"/>
            <a:ext cx="870761" cy="75578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7" name="Grupo 2196">
            <a:extLst>
              <a:ext uri="{FF2B5EF4-FFF2-40B4-BE49-F238E27FC236}">
                <a16:creationId xmlns:a16="http://schemas.microsoft.com/office/drawing/2014/main" id="{FCB08E6B-D4D2-714A-5129-FCDE51BA9D70}"/>
              </a:ext>
            </a:extLst>
          </p:cNvPr>
          <p:cNvGrpSpPr/>
          <p:nvPr/>
        </p:nvGrpSpPr>
        <p:grpSpPr>
          <a:xfrm>
            <a:off x="5534573" y="1927326"/>
            <a:ext cx="128136" cy="128136"/>
            <a:chOff x="2606150" y="3355191"/>
            <a:chExt cx="128136" cy="128136"/>
          </a:xfrm>
        </p:grpSpPr>
        <p:sp>
          <p:nvSpPr>
            <p:cNvPr id="2198" name="Elipse 2197">
              <a:extLst>
                <a:ext uri="{FF2B5EF4-FFF2-40B4-BE49-F238E27FC236}">
                  <a16:creationId xmlns:a16="http://schemas.microsoft.com/office/drawing/2014/main" id="{C8B430D3-B95E-B7B2-3C87-F6BABA0BC61E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99" name="Triángulo isósceles 2198">
              <a:extLst>
                <a:ext uri="{FF2B5EF4-FFF2-40B4-BE49-F238E27FC236}">
                  <a16:creationId xmlns:a16="http://schemas.microsoft.com/office/drawing/2014/main" id="{D3F8FC02-48F0-EDA4-5A4F-5702AD0F3C85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203" name="CuadroTexto 2202">
            <a:extLst>
              <a:ext uri="{FF2B5EF4-FFF2-40B4-BE49-F238E27FC236}">
                <a16:creationId xmlns:a16="http://schemas.microsoft.com/office/drawing/2014/main" id="{B3609464-2C6D-A5E2-2279-67E47850FA69}"/>
              </a:ext>
            </a:extLst>
          </p:cNvPr>
          <p:cNvSpPr txBox="1"/>
          <p:nvPr/>
        </p:nvSpPr>
        <p:spPr>
          <a:xfrm>
            <a:off x="4825070" y="3714282"/>
            <a:ext cx="11641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Palmitato (16C)</a:t>
            </a:r>
          </a:p>
        </p:txBody>
      </p:sp>
      <p:sp>
        <p:nvSpPr>
          <p:cNvPr id="2208" name="CuadroTexto 2207">
            <a:extLst>
              <a:ext uri="{FF2B5EF4-FFF2-40B4-BE49-F238E27FC236}">
                <a16:creationId xmlns:a16="http://schemas.microsoft.com/office/drawing/2014/main" id="{033E8011-52CB-2F59-3778-F0273F3B1556}"/>
              </a:ext>
            </a:extLst>
          </p:cNvPr>
          <p:cNvSpPr txBox="1"/>
          <p:nvPr/>
        </p:nvSpPr>
        <p:spPr>
          <a:xfrm>
            <a:off x="5365571" y="3222860"/>
            <a:ext cx="13175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Complejo ácido graso sintasa</a:t>
            </a:r>
          </a:p>
        </p:txBody>
      </p:sp>
      <p:sp>
        <p:nvSpPr>
          <p:cNvPr id="2209" name="CuadroTexto 2208">
            <a:extLst>
              <a:ext uri="{FF2B5EF4-FFF2-40B4-BE49-F238E27FC236}">
                <a16:creationId xmlns:a16="http://schemas.microsoft.com/office/drawing/2014/main" id="{317B5067-26E2-4AB2-DEF8-76EE4D9C22CA}"/>
              </a:ext>
            </a:extLst>
          </p:cNvPr>
          <p:cNvSpPr txBox="1"/>
          <p:nvPr/>
        </p:nvSpPr>
        <p:spPr>
          <a:xfrm>
            <a:off x="6457529" y="2695332"/>
            <a:ext cx="974630" cy="43088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7ATP, 8ATP</a:t>
            </a:r>
          </a:p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NADPH</a:t>
            </a:r>
          </a:p>
        </p:txBody>
      </p:sp>
      <p:cxnSp>
        <p:nvCxnSpPr>
          <p:cNvPr id="2213" name="Conector: curvado 2212">
            <a:extLst>
              <a:ext uri="{FF2B5EF4-FFF2-40B4-BE49-F238E27FC236}">
                <a16:creationId xmlns:a16="http://schemas.microsoft.com/office/drawing/2014/main" id="{5FE59E4C-FB2F-6EA3-791E-7C7BC5FE8A1E}"/>
              </a:ext>
            </a:extLst>
          </p:cNvPr>
          <p:cNvCxnSpPr>
            <a:cxnSpLocks/>
            <a:stCxn id="2209" idx="1"/>
          </p:cNvCxnSpPr>
          <p:nvPr/>
        </p:nvCxnSpPr>
        <p:spPr>
          <a:xfrm rot="10800000" flipV="1">
            <a:off x="6232801" y="2910776"/>
            <a:ext cx="224729" cy="25002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3" name="CuadroTexto 2222">
            <a:extLst>
              <a:ext uri="{FF2B5EF4-FFF2-40B4-BE49-F238E27FC236}">
                <a16:creationId xmlns:a16="http://schemas.microsoft.com/office/drawing/2014/main" id="{56418FC1-2B8C-8A60-12B6-62E259282790}"/>
              </a:ext>
            </a:extLst>
          </p:cNvPr>
          <p:cNvSpPr txBox="1"/>
          <p:nvPr/>
        </p:nvSpPr>
        <p:spPr>
          <a:xfrm>
            <a:off x="5498529" y="2898581"/>
            <a:ext cx="552452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26" name="Conector: curvado 2225">
            <a:extLst>
              <a:ext uri="{FF2B5EF4-FFF2-40B4-BE49-F238E27FC236}">
                <a16:creationId xmlns:a16="http://schemas.microsoft.com/office/drawing/2014/main" id="{1A624FA7-8E38-C10C-15A0-CF3939EDEE06}"/>
              </a:ext>
            </a:extLst>
          </p:cNvPr>
          <p:cNvCxnSpPr>
            <a:cxnSpLocks/>
            <a:endCxn id="2223" idx="3"/>
          </p:cNvCxnSpPr>
          <p:nvPr/>
        </p:nvCxnSpPr>
        <p:spPr>
          <a:xfrm rot="5400000">
            <a:off x="6006467" y="2797513"/>
            <a:ext cx="276387" cy="18735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9" name="CuadroTexto 2228">
            <a:extLst>
              <a:ext uri="{FF2B5EF4-FFF2-40B4-BE49-F238E27FC236}">
                <a16:creationId xmlns:a16="http://schemas.microsoft.com/office/drawing/2014/main" id="{D0E4419D-B423-E30C-6364-63B78098DCE5}"/>
              </a:ext>
            </a:extLst>
          </p:cNvPr>
          <p:cNvSpPr txBox="1"/>
          <p:nvPr/>
        </p:nvSpPr>
        <p:spPr>
          <a:xfrm>
            <a:off x="4660031" y="1449842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</a:p>
        </p:txBody>
      </p:sp>
      <p:cxnSp>
        <p:nvCxnSpPr>
          <p:cNvPr id="2230" name="Conector: angular 2229">
            <a:extLst>
              <a:ext uri="{FF2B5EF4-FFF2-40B4-BE49-F238E27FC236}">
                <a16:creationId xmlns:a16="http://schemas.microsoft.com/office/drawing/2014/main" id="{0E8117DB-42C7-F15E-8E6A-1F77580EA642}"/>
              </a:ext>
            </a:extLst>
          </p:cNvPr>
          <p:cNvCxnSpPr>
            <a:cxnSpLocks/>
            <a:stCxn id="2229" idx="3"/>
            <a:endCxn id="2181" idx="1"/>
          </p:cNvCxnSpPr>
          <p:nvPr/>
        </p:nvCxnSpPr>
        <p:spPr>
          <a:xfrm>
            <a:off x="5259875" y="1580647"/>
            <a:ext cx="493438" cy="50747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4" name="CuadroTexto 2233">
            <a:extLst>
              <a:ext uri="{FF2B5EF4-FFF2-40B4-BE49-F238E27FC236}">
                <a16:creationId xmlns:a16="http://schemas.microsoft.com/office/drawing/2014/main" id="{E1823E4D-936C-47E3-2561-94A3033DE46F}"/>
              </a:ext>
            </a:extLst>
          </p:cNvPr>
          <p:cNvSpPr txBox="1"/>
          <p:nvPr/>
        </p:nvSpPr>
        <p:spPr>
          <a:xfrm>
            <a:off x="5173489" y="5134008"/>
            <a:ext cx="1837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 &gt;16C + Insaturaciones</a:t>
            </a:r>
          </a:p>
        </p:txBody>
      </p:sp>
      <p:sp>
        <p:nvSpPr>
          <p:cNvPr id="2238" name="CuadroTexto 2237">
            <a:extLst>
              <a:ext uri="{FF2B5EF4-FFF2-40B4-BE49-F238E27FC236}">
                <a16:creationId xmlns:a16="http://schemas.microsoft.com/office/drawing/2014/main" id="{38B44400-0927-7EBE-A11C-33F19019319A}"/>
              </a:ext>
            </a:extLst>
          </p:cNvPr>
          <p:cNvSpPr txBox="1"/>
          <p:nvPr/>
        </p:nvSpPr>
        <p:spPr>
          <a:xfrm>
            <a:off x="4911978" y="4577989"/>
            <a:ext cx="23995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Elongasas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Desaturasas  (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(+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Cloroplasto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</p:txBody>
      </p:sp>
      <p:sp>
        <p:nvSpPr>
          <p:cNvPr id="2245" name="CuadroTexto 2244">
            <a:extLst>
              <a:ext uri="{FF2B5EF4-FFF2-40B4-BE49-F238E27FC236}">
                <a16:creationId xmlns:a16="http://schemas.microsoft.com/office/drawing/2014/main" id="{F25D34C0-3B63-51B4-427E-B00C727A54B9}"/>
              </a:ext>
            </a:extLst>
          </p:cNvPr>
          <p:cNvSpPr txBox="1"/>
          <p:nvPr/>
        </p:nvSpPr>
        <p:spPr>
          <a:xfrm>
            <a:off x="5351006" y="7935127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araquidónico (20:4ω6)</a:t>
            </a:r>
          </a:p>
        </p:txBody>
      </p:sp>
      <p:cxnSp>
        <p:nvCxnSpPr>
          <p:cNvPr id="2254" name="Conector: angular 2253">
            <a:extLst>
              <a:ext uri="{FF2B5EF4-FFF2-40B4-BE49-F238E27FC236}">
                <a16:creationId xmlns:a16="http://schemas.microsoft.com/office/drawing/2014/main" id="{8E5B22CE-39A3-0C99-8DE1-FAFC7396C599}"/>
              </a:ext>
            </a:extLst>
          </p:cNvPr>
          <p:cNvCxnSpPr>
            <a:cxnSpLocks/>
            <a:stCxn id="2234" idx="3"/>
            <a:endCxn id="2245" idx="3"/>
          </p:cNvCxnSpPr>
          <p:nvPr/>
        </p:nvCxnSpPr>
        <p:spPr>
          <a:xfrm>
            <a:off x="7010851" y="5264813"/>
            <a:ext cx="321788" cy="2801119"/>
          </a:xfrm>
          <a:prstGeom prst="bentConnector3">
            <a:avLst>
              <a:gd name="adj1" fmla="val 151099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60" name="CuadroTexto 2259">
            <a:extLst>
              <a:ext uri="{FF2B5EF4-FFF2-40B4-BE49-F238E27FC236}">
                <a16:creationId xmlns:a16="http://schemas.microsoft.com/office/drawing/2014/main" id="{75503450-0411-B919-D14C-01BDFDDD0C5E}"/>
              </a:ext>
            </a:extLst>
          </p:cNvPr>
          <p:cNvSpPr txBox="1"/>
          <p:nvPr/>
        </p:nvSpPr>
        <p:spPr>
          <a:xfrm>
            <a:off x="3904092" y="8657803"/>
            <a:ext cx="1223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Prostaglandinas y tromboxanos</a:t>
            </a:r>
          </a:p>
        </p:txBody>
      </p:sp>
      <p:sp>
        <p:nvSpPr>
          <p:cNvPr id="2261" name="CuadroTexto 2260">
            <a:extLst>
              <a:ext uri="{FF2B5EF4-FFF2-40B4-BE49-F238E27FC236}">
                <a16:creationId xmlns:a16="http://schemas.microsoft.com/office/drawing/2014/main" id="{A5E69393-9355-73B7-EE51-3FB976C3DFFE}"/>
              </a:ext>
            </a:extLst>
          </p:cNvPr>
          <p:cNvSpPr txBox="1"/>
          <p:nvPr/>
        </p:nvSpPr>
        <p:spPr>
          <a:xfrm>
            <a:off x="6719516" y="8655603"/>
            <a:ext cx="765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Epóxidos y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dioles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2" name="CuadroTexto 2261">
            <a:extLst>
              <a:ext uri="{FF2B5EF4-FFF2-40B4-BE49-F238E27FC236}">
                <a16:creationId xmlns:a16="http://schemas.microsoft.com/office/drawing/2014/main" id="{7FCDFD2B-F62D-0095-00CA-9E43C50A502F}"/>
              </a:ext>
            </a:extLst>
          </p:cNvPr>
          <p:cNvSpPr txBox="1"/>
          <p:nvPr/>
        </p:nvSpPr>
        <p:spPr>
          <a:xfrm>
            <a:off x="5402849" y="8654038"/>
            <a:ext cx="10204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Leucotrienos y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lipoxinas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63" name="Conector: angular 2262">
            <a:extLst>
              <a:ext uri="{FF2B5EF4-FFF2-40B4-BE49-F238E27FC236}">
                <a16:creationId xmlns:a16="http://schemas.microsoft.com/office/drawing/2014/main" id="{74D59F08-8FA9-3256-3938-6BB21BC6421C}"/>
              </a:ext>
            </a:extLst>
          </p:cNvPr>
          <p:cNvCxnSpPr>
            <a:cxnSpLocks/>
            <a:stCxn id="2245" idx="2"/>
            <a:endCxn id="2260" idx="0"/>
          </p:cNvCxnSpPr>
          <p:nvPr/>
        </p:nvCxnSpPr>
        <p:spPr>
          <a:xfrm rot="5400000">
            <a:off x="5198213" y="7514193"/>
            <a:ext cx="461066" cy="1826154"/>
          </a:xfrm>
          <a:prstGeom prst="bentConnector3">
            <a:avLst>
              <a:gd name="adj1" fmla="val 31749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66" name="CuadroTexto 2265">
            <a:extLst>
              <a:ext uri="{FF2B5EF4-FFF2-40B4-BE49-F238E27FC236}">
                <a16:creationId xmlns:a16="http://schemas.microsoft.com/office/drawing/2014/main" id="{BA0C95CC-72E8-12D1-4D46-4CEBF800899D}"/>
              </a:ext>
            </a:extLst>
          </p:cNvPr>
          <p:cNvSpPr txBox="1"/>
          <p:nvPr/>
        </p:nvSpPr>
        <p:spPr>
          <a:xfrm>
            <a:off x="3515394" y="836849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COX1, COX2</a:t>
            </a:r>
          </a:p>
        </p:txBody>
      </p:sp>
      <p:cxnSp>
        <p:nvCxnSpPr>
          <p:cNvPr id="2267" name="Conector: angular 2266">
            <a:extLst>
              <a:ext uri="{FF2B5EF4-FFF2-40B4-BE49-F238E27FC236}">
                <a16:creationId xmlns:a16="http://schemas.microsoft.com/office/drawing/2014/main" id="{A7AA569C-8DA1-2728-EBBA-4CD5D192FC00}"/>
              </a:ext>
            </a:extLst>
          </p:cNvPr>
          <p:cNvCxnSpPr>
            <a:cxnSpLocks/>
            <a:stCxn id="2245" idx="2"/>
            <a:endCxn id="2262" idx="0"/>
          </p:cNvCxnSpPr>
          <p:nvPr/>
        </p:nvCxnSpPr>
        <p:spPr>
          <a:xfrm rot="5400000">
            <a:off x="5898809" y="8211023"/>
            <a:ext cx="457301" cy="428728"/>
          </a:xfrm>
          <a:prstGeom prst="bentConnector3">
            <a:avLst>
              <a:gd name="adj1" fmla="val 316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0" name="CuadroTexto 2269">
            <a:extLst>
              <a:ext uri="{FF2B5EF4-FFF2-40B4-BE49-F238E27FC236}">
                <a16:creationId xmlns:a16="http://schemas.microsoft.com/office/drawing/2014/main" id="{C490E64C-D711-A494-EED8-938794D8AC0F}"/>
              </a:ext>
            </a:extLst>
          </p:cNvPr>
          <p:cNvSpPr txBox="1"/>
          <p:nvPr/>
        </p:nvSpPr>
        <p:spPr>
          <a:xfrm>
            <a:off x="5468570" y="8388880"/>
            <a:ext cx="4667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LOX</a:t>
            </a:r>
          </a:p>
        </p:txBody>
      </p:sp>
      <p:cxnSp>
        <p:nvCxnSpPr>
          <p:cNvPr id="2271" name="Conector: angular 2270">
            <a:extLst>
              <a:ext uri="{FF2B5EF4-FFF2-40B4-BE49-F238E27FC236}">
                <a16:creationId xmlns:a16="http://schemas.microsoft.com/office/drawing/2014/main" id="{62DBD270-89A6-857A-D81E-EEC2AF05099D}"/>
              </a:ext>
            </a:extLst>
          </p:cNvPr>
          <p:cNvCxnSpPr>
            <a:cxnSpLocks/>
            <a:stCxn id="2245" idx="2"/>
            <a:endCxn id="2261" idx="0"/>
          </p:cNvCxnSpPr>
          <p:nvPr/>
        </p:nvCxnSpPr>
        <p:spPr>
          <a:xfrm rot="16200000" flipH="1">
            <a:off x="6492565" y="8045995"/>
            <a:ext cx="458866" cy="760350"/>
          </a:xfrm>
          <a:prstGeom prst="bentConnector3">
            <a:avLst>
              <a:gd name="adj1" fmla="val 30439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4" name="CuadroTexto 2273">
            <a:extLst>
              <a:ext uri="{FF2B5EF4-FFF2-40B4-BE49-F238E27FC236}">
                <a16:creationId xmlns:a16="http://schemas.microsoft.com/office/drawing/2014/main" id="{F196F938-6CCC-BDB3-4812-06475E62F8A7}"/>
              </a:ext>
            </a:extLst>
          </p:cNvPr>
          <p:cNvSpPr txBox="1"/>
          <p:nvPr/>
        </p:nvSpPr>
        <p:spPr>
          <a:xfrm>
            <a:off x="6400119" y="8379739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CytP450</a:t>
            </a:r>
          </a:p>
        </p:txBody>
      </p:sp>
      <p:sp>
        <p:nvSpPr>
          <p:cNvPr id="2287" name="CuadroTexto 2286">
            <a:extLst>
              <a:ext uri="{FF2B5EF4-FFF2-40B4-BE49-F238E27FC236}">
                <a16:creationId xmlns:a16="http://schemas.microsoft.com/office/drawing/2014/main" id="{1AA05F9F-09A1-263B-13DB-74597BFB29B2}"/>
              </a:ext>
            </a:extLst>
          </p:cNvPr>
          <p:cNvSpPr txBox="1"/>
          <p:nvPr/>
        </p:nvSpPr>
        <p:spPr>
          <a:xfrm>
            <a:off x="5586626" y="6036787"/>
            <a:ext cx="12618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fosfatídico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(diacilglicerol-3P)</a:t>
            </a:r>
          </a:p>
        </p:txBody>
      </p:sp>
      <p:sp>
        <p:nvSpPr>
          <p:cNvPr id="2288" name="CuadroTexto 2287">
            <a:extLst>
              <a:ext uri="{FF2B5EF4-FFF2-40B4-BE49-F238E27FC236}">
                <a16:creationId xmlns:a16="http://schemas.microsoft.com/office/drawing/2014/main" id="{14AA8C11-B14C-04B6-1D49-EB925D901148}"/>
              </a:ext>
            </a:extLst>
          </p:cNvPr>
          <p:cNvSpPr txBox="1"/>
          <p:nvPr/>
        </p:nvSpPr>
        <p:spPr>
          <a:xfrm>
            <a:off x="5094464" y="5592700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Glicerol-3P</a:t>
            </a:r>
          </a:p>
        </p:txBody>
      </p:sp>
      <p:cxnSp>
        <p:nvCxnSpPr>
          <p:cNvPr id="2289" name="Conector: angular 2288">
            <a:extLst>
              <a:ext uri="{FF2B5EF4-FFF2-40B4-BE49-F238E27FC236}">
                <a16:creationId xmlns:a16="http://schemas.microsoft.com/office/drawing/2014/main" id="{9C1DE22B-1EE3-BECE-B3DF-EBEE984F79BF}"/>
              </a:ext>
            </a:extLst>
          </p:cNvPr>
          <p:cNvCxnSpPr>
            <a:cxnSpLocks/>
            <a:stCxn id="2234" idx="2"/>
            <a:endCxn id="2287" idx="0"/>
          </p:cNvCxnSpPr>
          <p:nvPr/>
        </p:nvCxnSpPr>
        <p:spPr>
          <a:xfrm rot="16200000" flipH="1">
            <a:off x="5834285" y="5653503"/>
            <a:ext cx="641169" cy="125398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6" name="Conector: curvado 2295">
            <a:extLst>
              <a:ext uri="{FF2B5EF4-FFF2-40B4-BE49-F238E27FC236}">
                <a16:creationId xmlns:a16="http://schemas.microsoft.com/office/drawing/2014/main" id="{CE7ED7E7-4910-3967-A48B-C182157B9993}"/>
              </a:ext>
            </a:extLst>
          </p:cNvPr>
          <p:cNvCxnSpPr>
            <a:cxnSpLocks/>
            <a:stCxn id="2288" idx="3"/>
            <a:endCxn id="2287" idx="0"/>
          </p:cNvCxnSpPr>
          <p:nvPr/>
        </p:nvCxnSpPr>
        <p:spPr>
          <a:xfrm>
            <a:off x="5978039" y="5723505"/>
            <a:ext cx="239529" cy="31328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9" name="CuadroTexto 2298">
            <a:extLst>
              <a:ext uri="{FF2B5EF4-FFF2-40B4-BE49-F238E27FC236}">
                <a16:creationId xmlns:a16="http://schemas.microsoft.com/office/drawing/2014/main" id="{152A8383-E756-4EC8-CA93-D84D636C5EA3}"/>
              </a:ext>
            </a:extLst>
          </p:cNvPr>
          <p:cNvSpPr txBox="1"/>
          <p:nvPr/>
        </p:nvSpPr>
        <p:spPr>
          <a:xfrm>
            <a:off x="6151472" y="5517743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s-ES" sz="900" dirty="0" err="1">
                <a:latin typeface="Arial" panose="020B0604020202020204" pitchFamily="34" charset="0"/>
                <a:cs typeface="Arial" panose="020B0604020202020204" pitchFamily="34" charset="0"/>
              </a:rPr>
              <a:t>Acil-CoAs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0" name="CuadroTexto 2299">
            <a:extLst>
              <a:ext uri="{FF2B5EF4-FFF2-40B4-BE49-F238E27FC236}">
                <a16:creationId xmlns:a16="http://schemas.microsoft.com/office/drawing/2014/main" id="{9CBDA36C-918C-427A-0456-C8961419D17B}"/>
              </a:ext>
            </a:extLst>
          </p:cNvPr>
          <p:cNvSpPr txBox="1"/>
          <p:nvPr/>
        </p:nvSpPr>
        <p:spPr>
          <a:xfrm>
            <a:off x="3629120" y="6466302"/>
            <a:ext cx="946093" cy="26161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Fosfolípidos</a:t>
            </a:r>
          </a:p>
        </p:txBody>
      </p:sp>
      <p:sp>
        <p:nvSpPr>
          <p:cNvPr id="2301" name="CuadroTexto 2300">
            <a:extLst>
              <a:ext uri="{FF2B5EF4-FFF2-40B4-BE49-F238E27FC236}">
                <a16:creationId xmlns:a16="http://schemas.microsoft.com/office/drawing/2014/main" id="{4904E941-15DF-5D2C-6342-FA026BC16C53}"/>
              </a:ext>
            </a:extLst>
          </p:cNvPr>
          <p:cNvSpPr txBox="1"/>
          <p:nvPr/>
        </p:nvSpPr>
        <p:spPr>
          <a:xfrm>
            <a:off x="5972148" y="702115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DAG</a:t>
            </a:r>
          </a:p>
        </p:txBody>
      </p:sp>
      <p:sp>
        <p:nvSpPr>
          <p:cNvPr id="2302" name="CuadroTexto 2301">
            <a:extLst>
              <a:ext uri="{FF2B5EF4-FFF2-40B4-BE49-F238E27FC236}">
                <a16:creationId xmlns:a16="http://schemas.microsoft.com/office/drawing/2014/main" id="{6D7207BA-FE8D-A870-67BE-C78B4928D5F4}"/>
              </a:ext>
            </a:extLst>
          </p:cNvPr>
          <p:cNvSpPr txBox="1"/>
          <p:nvPr/>
        </p:nvSpPr>
        <p:spPr>
          <a:xfrm>
            <a:off x="5980163" y="7673916"/>
            <a:ext cx="474810" cy="26161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</a:p>
        </p:txBody>
      </p:sp>
      <p:sp>
        <p:nvSpPr>
          <p:cNvPr id="2303" name="CuadroTexto 2302">
            <a:extLst>
              <a:ext uri="{FF2B5EF4-FFF2-40B4-BE49-F238E27FC236}">
                <a16:creationId xmlns:a16="http://schemas.microsoft.com/office/drawing/2014/main" id="{A6F7366E-511B-4EB1-E281-E4B517541AF1}"/>
              </a:ext>
            </a:extLst>
          </p:cNvPr>
          <p:cNvSpPr txBox="1"/>
          <p:nvPr/>
        </p:nvSpPr>
        <p:spPr>
          <a:xfrm>
            <a:off x="6369905" y="7300308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05" name="Conector recto de flecha 2304">
            <a:extLst>
              <a:ext uri="{FF2B5EF4-FFF2-40B4-BE49-F238E27FC236}">
                <a16:creationId xmlns:a16="http://schemas.microsoft.com/office/drawing/2014/main" id="{FBBC5313-44FF-EB0B-E6DC-62B1C67D97BE}"/>
              </a:ext>
            </a:extLst>
          </p:cNvPr>
          <p:cNvCxnSpPr>
            <a:cxnSpLocks/>
            <a:stCxn id="2287" idx="2"/>
            <a:endCxn id="2301" idx="0"/>
          </p:cNvCxnSpPr>
          <p:nvPr/>
        </p:nvCxnSpPr>
        <p:spPr>
          <a:xfrm>
            <a:off x="6217568" y="6467674"/>
            <a:ext cx="0" cy="5534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8" name="CuadroTexto 2307">
            <a:extLst>
              <a:ext uri="{FF2B5EF4-FFF2-40B4-BE49-F238E27FC236}">
                <a16:creationId xmlns:a16="http://schemas.microsoft.com/office/drawing/2014/main" id="{C1AF5BDF-0B39-6A55-66CE-3688A690F8D9}"/>
              </a:ext>
            </a:extLst>
          </p:cNvPr>
          <p:cNvSpPr txBox="1"/>
          <p:nvPr/>
        </p:nvSpPr>
        <p:spPr>
          <a:xfrm>
            <a:off x="6372342" y="6712688"/>
            <a:ext cx="304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cxnSp>
        <p:nvCxnSpPr>
          <p:cNvPr id="2309" name="Conector: curvado 2308">
            <a:extLst>
              <a:ext uri="{FF2B5EF4-FFF2-40B4-BE49-F238E27FC236}">
                <a16:creationId xmlns:a16="http://schemas.microsoft.com/office/drawing/2014/main" id="{7F6F7E11-AB06-60C0-45F9-3E25842F774A}"/>
              </a:ext>
            </a:extLst>
          </p:cNvPr>
          <p:cNvCxnSpPr>
            <a:cxnSpLocks/>
            <a:endCxn id="2308" idx="1"/>
          </p:cNvCxnSpPr>
          <p:nvPr/>
        </p:nvCxnSpPr>
        <p:spPr>
          <a:xfrm rot="16200000" flipH="1">
            <a:off x="6189650" y="6660801"/>
            <a:ext cx="214090" cy="15129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8" name="Conector recto de flecha 2317">
            <a:extLst>
              <a:ext uri="{FF2B5EF4-FFF2-40B4-BE49-F238E27FC236}">
                <a16:creationId xmlns:a16="http://schemas.microsoft.com/office/drawing/2014/main" id="{7A8DA35C-6709-8E43-6319-45B25F284BFD}"/>
              </a:ext>
            </a:extLst>
          </p:cNvPr>
          <p:cNvCxnSpPr>
            <a:cxnSpLocks/>
            <a:stCxn id="2301" idx="2"/>
            <a:endCxn id="2302" idx="0"/>
          </p:cNvCxnSpPr>
          <p:nvPr/>
        </p:nvCxnSpPr>
        <p:spPr>
          <a:xfrm>
            <a:off x="6217568" y="7282761"/>
            <a:ext cx="0" cy="391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1" name="Conector: curvado 2320">
            <a:extLst>
              <a:ext uri="{FF2B5EF4-FFF2-40B4-BE49-F238E27FC236}">
                <a16:creationId xmlns:a16="http://schemas.microsoft.com/office/drawing/2014/main" id="{6A4791DE-7DF1-5F47-7C9A-F7559FA1C5C3}"/>
              </a:ext>
            </a:extLst>
          </p:cNvPr>
          <p:cNvCxnSpPr>
            <a:cxnSpLocks/>
            <a:stCxn id="2303" idx="1"/>
            <a:endCxn id="2302" idx="0"/>
          </p:cNvCxnSpPr>
          <p:nvPr/>
        </p:nvCxnSpPr>
        <p:spPr>
          <a:xfrm rot="10800000" flipV="1">
            <a:off x="6217569" y="7431112"/>
            <a:ext cx="152337" cy="24280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6" name="Conector: angular 2325">
            <a:extLst>
              <a:ext uri="{FF2B5EF4-FFF2-40B4-BE49-F238E27FC236}">
                <a16:creationId xmlns:a16="http://schemas.microsoft.com/office/drawing/2014/main" id="{CD232748-E8F1-4EAC-93A1-C44ABF4E89F9}"/>
              </a:ext>
            </a:extLst>
          </p:cNvPr>
          <p:cNvCxnSpPr>
            <a:cxnSpLocks/>
            <a:stCxn id="2287" idx="1"/>
            <a:endCxn id="2300" idx="0"/>
          </p:cNvCxnSpPr>
          <p:nvPr/>
        </p:nvCxnSpPr>
        <p:spPr>
          <a:xfrm rot="10800000" flipV="1">
            <a:off x="4102168" y="6252230"/>
            <a:ext cx="1484459" cy="2140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9" name="CuadroTexto 2328">
            <a:extLst>
              <a:ext uri="{FF2B5EF4-FFF2-40B4-BE49-F238E27FC236}">
                <a16:creationId xmlns:a16="http://schemas.microsoft.com/office/drawing/2014/main" id="{10C41053-12F7-3DD7-4DB2-A4EECBFA34FE}"/>
              </a:ext>
            </a:extLst>
          </p:cNvPr>
          <p:cNvSpPr txBox="1"/>
          <p:nvPr/>
        </p:nvSpPr>
        <p:spPr>
          <a:xfrm>
            <a:off x="5325232" y="6427276"/>
            <a:ext cx="8923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fosfatídico fosfatasa</a:t>
            </a:r>
          </a:p>
        </p:txBody>
      </p:sp>
      <p:sp>
        <p:nvSpPr>
          <p:cNvPr id="2330" name="CuadroTexto 2329">
            <a:extLst>
              <a:ext uri="{FF2B5EF4-FFF2-40B4-BE49-F238E27FC236}">
                <a16:creationId xmlns:a16="http://schemas.microsoft.com/office/drawing/2014/main" id="{AD4831E6-205F-75D5-A4EA-36391F860415}"/>
              </a:ext>
            </a:extLst>
          </p:cNvPr>
          <p:cNvSpPr txBox="1"/>
          <p:nvPr/>
        </p:nvSpPr>
        <p:spPr>
          <a:xfrm>
            <a:off x="5325232" y="7231786"/>
            <a:ext cx="8923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</a:p>
        </p:txBody>
      </p:sp>
      <p:sp>
        <p:nvSpPr>
          <p:cNvPr id="2341" name="CuadroTexto 2340">
            <a:extLst>
              <a:ext uri="{FF2B5EF4-FFF2-40B4-BE49-F238E27FC236}">
                <a16:creationId xmlns:a16="http://schemas.microsoft.com/office/drawing/2014/main" id="{78D27743-B52D-AF81-2437-78A9F4AEF024}"/>
              </a:ext>
            </a:extLst>
          </p:cNvPr>
          <p:cNvSpPr txBox="1"/>
          <p:nvPr/>
        </p:nvSpPr>
        <p:spPr>
          <a:xfrm>
            <a:off x="2692701" y="6890346"/>
            <a:ext cx="12790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Fosfolípidos aniónicos 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(vía CDP-DAG)</a:t>
            </a:r>
          </a:p>
        </p:txBody>
      </p:sp>
      <p:sp>
        <p:nvSpPr>
          <p:cNvPr id="2342" name="CuadroTexto 2341">
            <a:extLst>
              <a:ext uri="{FF2B5EF4-FFF2-40B4-BE49-F238E27FC236}">
                <a16:creationId xmlns:a16="http://schemas.microsoft.com/office/drawing/2014/main" id="{110FC8FC-DB62-162E-2323-E4B50C7FC303}"/>
              </a:ext>
            </a:extLst>
          </p:cNvPr>
          <p:cNvSpPr txBox="1"/>
          <p:nvPr/>
        </p:nvSpPr>
        <p:spPr>
          <a:xfrm>
            <a:off x="4108966" y="6918873"/>
            <a:ext cx="12790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Fosfolípidos mayores 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(vía DAG)</a:t>
            </a:r>
          </a:p>
        </p:txBody>
      </p:sp>
      <p:sp>
        <p:nvSpPr>
          <p:cNvPr id="2343" name="CuadroTexto 2342">
            <a:extLst>
              <a:ext uri="{FF2B5EF4-FFF2-40B4-BE49-F238E27FC236}">
                <a16:creationId xmlns:a16="http://schemas.microsoft.com/office/drawing/2014/main" id="{8B8E330E-1A71-E50D-BDF5-98F0655F8718}"/>
              </a:ext>
            </a:extLst>
          </p:cNvPr>
          <p:cNvSpPr txBox="1"/>
          <p:nvPr/>
        </p:nvSpPr>
        <p:spPr>
          <a:xfrm>
            <a:off x="2719545" y="7431235"/>
            <a:ext cx="12790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 Fosfatidilinositol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Fosfatidilglicerol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Cardiolipina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4" name="CuadroTexto 2343">
            <a:extLst>
              <a:ext uri="{FF2B5EF4-FFF2-40B4-BE49-F238E27FC236}">
                <a16:creationId xmlns:a16="http://schemas.microsoft.com/office/drawing/2014/main" id="{4DFAFBFB-CD5C-60F3-688F-CD433A838066}"/>
              </a:ext>
            </a:extLst>
          </p:cNvPr>
          <p:cNvSpPr txBox="1"/>
          <p:nvPr/>
        </p:nvSpPr>
        <p:spPr>
          <a:xfrm>
            <a:off x="3943717" y="7431235"/>
            <a:ext cx="160952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Fosfatidilcolina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 Fosfatidiletanolamina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 Fosfatidilserina</a:t>
            </a:r>
          </a:p>
        </p:txBody>
      </p:sp>
      <p:cxnSp>
        <p:nvCxnSpPr>
          <p:cNvPr id="2345" name="Conector: angular 2344">
            <a:extLst>
              <a:ext uri="{FF2B5EF4-FFF2-40B4-BE49-F238E27FC236}">
                <a16:creationId xmlns:a16="http://schemas.microsoft.com/office/drawing/2014/main" id="{3E77D457-B14A-CAC2-8BF2-D4B1D1763A9C}"/>
              </a:ext>
            </a:extLst>
          </p:cNvPr>
          <p:cNvCxnSpPr>
            <a:cxnSpLocks/>
            <a:stCxn id="2300" idx="1"/>
            <a:endCxn id="2341" idx="0"/>
          </p:cNvCxnSpPr>
          <p:nvPr/>
        </p:nvCxnSpPr>
        <p:spPr>
          <a:xfrm rot="10800000" flipV="1">
            <a:off x="3332214" y="6597106"/>
            <a:ext cx="296906" cy="2932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8" name="Conector: angular 2347">
            <a:extLst>
              <a:ext uri="{FF2B5EF4-FFF2-40B4-BE49-F238E27FC236}">
                <a16:creationId xmlns:a16="http://schemas.microsoft.com/office/drawing/2014/main" id="{669C7884-4AB0-C156-A685-8F42A76E29D7}"/>
              </a:ext>
            </a:extLst>
          </p:cNvPr>
          <p:cNvCxnSpPr>
            <a:cxnSpLocks/>
            <a:stCxn id="2300" idx="3"/>
            <a:endCxn id="2342" idx="0"/>
          </p:cNvCxnSpPr>
          <p:nvPr/>
        </p:nvCxnSpPr>
        <p:spPr>
          <a:xfrm>
            <a:off x="4575213" y="6597107"/>
            <a:ext cx="173266" cy="32176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1" name="CuadroTexto 2350">
            <a:extLst>
              <a:ext uri="{FF2B5EF4-FFF2-40B4-BE49-F238E27FC236}">
                <a16:creationId xmlns:a16="http://schemas.microsoft.com/office/drawing/2014/main" id="{E1EBCFE6-F8A3-5157-768D-331D01A52E29}"/>
              </a:ext>
            </a:extLst>
          </p:cNvPr>
          <p:cNvSpPr txBox="1"/>
          <p:nvPr/>
        </p:nvSpPr>
        <p:spPr>
          <a:xfrm>
            <a:off x="6706556" y="1132587"/>
            <a:ext cx="821059" cy="261610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Colesterol</a:t>
            </a:r>
          </a:p>
        </p:txBody>
      </p:sp>
      <p:cxnSp>
        <p:nvCxnSpPr>
          <p:cNvPr id="2353" name="Conector: angular 2352">
            <a:extLst>
              <a:ext uri="{FF2B5EF4-FFF2-40B4-BE49-F238E27FC236}">
                <a16:creationId xmlns:a16="http://schemas.microsoft.com/office/drawing/2014/main" id="{B72E28D3-C717-854D-09AB-221A7B69E7B4}"/>
              </a:ext>
            </a:extLst>
          </p:cNvPr>
          <p:cNvCxnSpPr>
            <a:stCxn id="2175" idx="0"/>
            <a:endCxn id="2351" idx="1"/>
          </p:cNvCxnSpPr>
          <p:nvPr/>
        </p:nvCxnSpPr>
        <p:spPr>
          <a:xfrm rot="5400000" flipH="1" flipV="1">
            <a:off x="6394923" y="1106211"/>
            <a:ext cx="154451" cy="46881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4" name="CuadroTexto 2353">
            <a:extLst>
              <a:ext uri="{FF2B5EF4-FFF2-40B4-BE49-F238E27FC236}">
                <a16:creationId xmlns:a16="http://schemas.microsoft.com/office/drawing/2014/main" id="{0344E193-604C-647B-33A7-933A1FE1A440}"/>
              </a:ext>
            </a:extLst>
          </p:cNvPr>
          <p:cNvSpPr txBox="1"/>
          <p:nvPr/>
        </p:nvSpPr>
        <p:spPr>
          <a:xfrm>
            <a:off x="5504466" y="1009408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(vía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mevalonato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2355" name="Conector: angular 2354">
            <a:extLst>
              <a:ext uri="{FF2B5EF4-FFF2-40B4-BE49-F238E27FC236}">
                <a16:creationId xmlns:a16="http://schemas.microsoft.com/office/drawing/2014/main" id="{C2E8CE6B-2A04-3AB0-5BF9-1959BE504736}"/>
              </a:ext>
            </a:extLst>
          </p:cNvPr>
          <p:cNvCxnSpPr>
            <a:cxnSpLocks/>
            <a:stCxn id="2147" idx="3"/>
            <a:endCxn id="2354" idx="1"/>
          </p:cNvCxnSpPr>
          <p:nvPr/>
        </p:nvCxnSpPr>
        <p:spPr>
          <a:xfrm flipV="1">
            <a:off x="4882552" y="1140213"/>
            <a:ext cx="621914" cy="1921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60" name="Grupo 2359">
            <a:extLst>
              <a:ext uri="{FF2B5EF4-FFF2-40B4-BE49-F238E27FC236}">
                <a16:creationId xmlns:a16="http://schemas.microsoft.com/office/drawing/2014/main" id="{E6097033-002C-213A-6A68-2BD2C154ABDC}"/>
              </a:ext>
            </a:extLst>
          </p:cNvPr>
          <p:cNvGrpSpPr/>
          <p:nvPr/>
        </p:nvGrpSpPr>
        <p:grpSpPr>
          <a:xfrm>
            <a:off x="5255526" y="1167631"/>
            <a:ext cx="128136" cy="128136"/>
            <a:chOff x="2606150" y="3355191"/>
            <a:chExt cx="128136" cy="128136"/>
          </a:xfrm>
        </p:grpSpPr>
        <p:sp>
          <p:nvSpPr>
            <p:cNvPr id="2361" name="Elipse 2360">
              <a:extLst>
                <a:ext uri="{FF2B5EF4-FFF2-40B4-BE49-F238E27FC236}">
                  <a16:creationId xmlns:a16="http://schemas.microsoft.com/office/drawing/2014/main" id="{0A8DF169-3F1A-24CD-7194-C0A6501FE404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62" name="Triángulo isósceles 2361">
              <a:extLst>
                <a:ext uri="{FF2B5EF4-FFF2-40B4-BE49-F238E27FC236}">
                  <a16:creationId xmlns:a16="http://schemas.microsoft.com/office/drawing/2014/main" id="{6001CAFE-34D6-3E4F-ECD7-C9DF107C51E6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366" name="Conector: angular 2365">
            <a:extLst>
              <a:ext uri="{FF2B5EF4-FFF2-40B4-BE49-F238E27FC236}">
                <a16:creationId xmlns:a16="http://schemas.microsoft.com/office/drawing/2014/main" id="{D000C94C-CB0F-5F93-D9C1-33A75AD55B4E}"/>
              </a:ext>
            </a:extLst>
          </p:cNvPr>
          <p:cNvCxnSpPr>
            <a:stCxn id="1713" idx="1"/>
            <a:endCxn id="1714" idx="0"/>
          </p:cNvCxnSpPr>
          <p:nvPr/>
        </p:nvCxnSpPr>
        <p:spPr>
          <a:xfrm rot="10800000" flipV="1">
            <a:off x="1438695" y="241746"/>
            <a:ext cx="1989925" cy="2659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7" name="Conector: angular 2366">
            <a:extLst>
              <a:ext uri="{FF2B5EF4-FFF2-40B4-BE49-F238E27FC236}">
                <a16:creationId xmlns:a16="http://schemas.microsoft.com/office/drawing/2014/main" id="{D7E37D7B-6D2D-2333-D7DE-BAD46957F74C}"/>
              </a:ext>
            </a:extLst>
          </p:cNvPr>
          <p:cNvCxnSpPr>
            <a:cxnSpLocks/>
            <a:stCxn id="1713" idx="3"/>
            <a:endCxn id="1716" idx="0"/>
          </p:cNvCxnSpPr>
          <p:nvPr/>
        </p:nvCxnSpPr>
        <p:spPr>
          <a:xfrm>
            <a:off x="4068538" y="241747"/>
            <a:ext cx="2149031" cy="2679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1" name="Conector recto de flecha 2370">
            <a:extLst>
              <a:ext uri="{FF2B5EF4-FFF2-40B4-BE49-F238E27FC236}">
                <a16:creationId xmlns:a16="http://schemas.microsoft.com/office/drawing/2014/main" id="{9D0D9C2C-D40F-9714-C4F8-6C0510DAA488}"/>
              </a:ext>
            </a:extLst>
          </p:cNvPr>
          <p:cNvCxnSpPr>
            <a:stCxn id="1713" idx="2"/>
            <a:endCxn id="1715" idx="0"/>
          </p:cNvCxnSpPr>
          <p:nvPr/>
        </p:nvCxnSpPr>
        <p:spPr>
          <a:xfrm flipH="1">
            <a:off x="3746525" y="372552"/>
            <a:ext cx="2054" cy="129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74" name="CuadroTexto 2373">
            <a:extLst>
              <a:ext uri="{FF2B5EF4-FFF2-40B4-BE49-F238E27FC236}">
                <a16:creationId xmlns:a16="http://schemas.microsoft.com/office/drawing/2014/main" id="{A4F221AB-C02B-1841-A8D8-C7582E87ACCF}"/>
              </a:ext>
            </a:extLst>
          </p:cNvPr>
          <p:cNvSpPr txBox="1"/>
          <p:nvPr/>
        </p:nvSpPr>
        <p:spPr>
          <a:xfrm>
            <a:off x="4795200" y="2227398"/>
            <a:ext cx="878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 cadena larga</a:t>
            </a:r>
          </a:p>
        </p:txBody>
      </p:sp>
      <p:cxnSp>
        <p:nvCxnSpPr>
          <p:cNvPr id="2375" name="Conector: angular 2374">
            <a:extLst>
              <a:ext uri="{FF2B5EF4-FFF2-40B4-BE49-F238E27FC236}">
                <a16:creationId xmlns:a16="http://schemas.microsoft.com/office/drawing/2014/main" id="{86A42CC5-EF2A-0B9D-8043-440BA075AB20}"/>
              </a:ext>
            </a:extLst>
          </p:cNvPr>
          <p:cNvCxnSpPr>
            <a:cxnSpLocks/>
            <a:stCxn id="2374" idx="3"/>
            <a:endCxn id="2181" idx="2"/>
          </p:cNvCxnSpPr>
          <p:nvPr/>
        </p:nvCxnSpPr>
        <p:spPr>
          <a:xfrm flipV="1">
            <a:off x="5674117" y="2218931"/>
            <a:ext cx="321410" cy="223911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81" name="Grupo 2380">
            <a:extLst>
              <a:ext uri="{FF2B5EF4-FFF2-40B4-BE49-F238E27FC236}">
                <a16:creationId xmlns:a16="http://schemas.microsoft.com/office/drawing/2014/main" id="{441E6EA3-86F3-9E89-1003-3E5982ACF01B}"/>
              </a:ext>
            </a:extLst>
          </p:cNvPr>
          <p:cNvGrpSpPr/>
          <p:nvPr/>
        </p:nvGrpSpPr>
        <p:grpSpPr>
          <a:xfrm>
            <a:off x="5746278" y="2262759"/>
            <a:ext cx="128136" cy="128136"/>
            <a:chOff x="908127" y="1162591"/>
            <a:chExt cx="128136" cy="128136"/>
          </a:xfrm>
        </p:grpSpPr>
        <p:sp>
          <p:nvSpPr>
            <p:cNvPr id="2382" name="Elipse 2381">
              <a:extLst>
                <a:ext uri="{FF2B5EF4-FFF2-40B4-BE49-F238E27FC236}">
                  <a16:creationId xmlns:a16="http://schemas.microsoft.com/office/drawing/2014/main" id="{34DC274B-DDC5-F7B4-0C42-4D4AB5822911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83" name="Cruz 2382">
              <a:extLst>
                <a:ext uri="{FF2B5EF4-FFF2-40B4-BE49-F238E27FC236}">
                  <a16:creationId xmlns:a16="http://schemas.microsoft.com/office/drawing/2014/main" id="{4F73923D-3187-93E3-A974-145A24034D5B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384" name="CuadroTexto 2383">
            <a:extLst>
              <a:ext uri="{FF2B5EF4-FFF2-40B4-BE49-F238E27FC236}">
                <a16:creationId xmlns:a16="http://schemas.microsoft.com/office/drawing/2014/main" id="{551A4AFC-8FEF-4CA5-8B28-BE77CC2E8511}"/>
              </a:ext>
            </a:extLst>
          </p:cNvPr>
          <p:cNvSpPr txBox="1"/>
          <p:nvPr/>
        </p:nvSpPr>
        <p:spPr>
          <a:xfrm>
            <a:off x="6721946" y="2179918"/>
            <a:ext cx="7898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Hormonas esteroideas</a:t>
            </a:r>
          </a:p>
          <a:p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Membranas</a:t>
            </a:r>
          </a:p>
        </p:txBody>
      </p:sp>
      <p:cxnSp>
        <p:nvCxnSpPr>
          <p:cNvPr id="2385" name="Conector recto de flecha 2384">
            <a:extLst>
              <a:ext uri="{FF2B5EF4-FFF2-40B4-BE49-F238E27FC236}">
                <a16:creationId xmlns:a16="http://schemas.microsoft.com/office/drawing/2014/main" id="{C09B2556-C020-6107-1E66-4FE041CAA5F8}"/>
              </a:ext>
            </a:extLst>
          </p:cNvPr>
          <p:cNvCxnSpPr>
            <a:cxnSpLocks/>
            <a:stCxn id="2351" idx="2"/>
            <a:endCxn id="2384" idx="0"/>
          </p:cNvCxnSpPr>
          <p:nvPr/>
        </p:nvCxnSpPr>
        <p:spPr>
          <a:xfrm flipH="1">
            <a:off x="7116864" y="1394197"/>
            <a:ext cx="222" cy="785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3" name="Conector: angular 2392">
            <a:extLst>
              <a:ext uri="{FF2B5EF4-FFF2-40B4-BE49-F238E27FC236}">
                <a16:creationId xmlns:a16="http://schemas.microsoft.com/office/drawing/2014/main" id="{C0EF7D92-1464-0912-C1E9-37275614D626}"/>
              </a:ext>
            </a:extLst>
          </p:cNvPr>
          <p:cNvCxnSpPr>
            <a:stCxn id="2203" idx="2"/>
            <a:endCxn id="2234" idx="1"/>
          </p:cNvCxnSpPr>
          <p:nvPr/>
        </p:nvCxnSpPr>
        <p:spPr>
          <a:xfrm rot="5400000">
            <a:off x="4645845" y="4503536"/>
            <a:ext cx="1288921" cy="233632"/>
          </a:xfrm>
          <a:prstGeom prst="bentConnector4">
            <a:avLst>
              <a:gd name="adj1" fmla="val 44926"/>
              <a:gd name="adj2" fmla="val 1978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5" name="Conector: angular 2394">
            <a:extLst>
              <a:ext uri="{FF2B5EF4-FFF2-40B4-BE49-F238E27FC236}">
                <a16:creationId xmlns:a16="http://schemas.microsoft.com/office/drawing/2014/main" id="{5C2C806E-5DA5-CDEA-2D7C-434C2391D0F0}"/>
              </a:ext>
            </a:extLst>
          </p:cNvPr>
          <p:cNvCxnSpPr>
            <a:cxnSpLocks/>
            <a:stCxn id="2176" idx="2"/>
            <a:endCxn id="2203" idx="0"/>
          </p:cNvCxnSpPr>
          <p:nvPr/>
        </p:nvCxnSpPr>
        <p:spPr>
          <a:xfrm rot="5400000">
            <a:off x="5317934" y="2794474"/>
            <a:ext cx="1008995" cy="8306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01" name="CuadroTexto 2400">
            <a:extLst>
              <a:ext uri="{FF2B5EF4-FFF2-40B4-BE49-F238E27FC236}">
                <a16:creationId xmlns:a16="http://schemas.microsoft.com/office/drawing/2014/main" id="{1CAEE2E8-296C-7C11-DF21-079413944104}"/>
              </a:ext>
            </a:extLst>
          </p:cNvPr>
          <p:cNvSpPr txBox="1"/>
          <p:nvPr/>
        </p:nvSpPr>
        <p:spPr>
          <a:xfrm>
            <a:off x="6477028" y="3714282"/>
            <a:ext cx="1064715" cy="261610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Esfingolípidos</a:t>
            </a:r>
          </a:p>
        </p:txBody>
      </p:sp>
      <p:cxnSp>
        <p:nvCxnSpPr>
          <p:cNvPr id="2402" name="Conector recto de flecha 2401">
            <a:extLst>
              <a:ext uri="{FF2B5EF4-FFF2-40B4-BE49-F238E27FC236}">
                <a16:creationId xmlns:a16="http://schemas.microsoft.com/office/drawing/2014/main" id="{E9B664F9-DE38-F505-B615-77EDD21D0FAD}"/>
              </a:ext>
            </a:extLst>
          </p:cNvPr>
          <p:cNvCxnSpPr>
            <a:cxnSpLocks/>
            <a:stCxn id="2203" idx="3"/>
            <a:endCxn id="2401" idx="1"/>
          </p:cNvCxnSpPr>
          <p:nvPr/>
        </p:nvCxnSpPr>
        <p:spPr>
          <a:xfrm>
            <a:off x="5989171" y="3845087"/>
            <a:ext cx="487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0" name="CuadroTexto 2409">
            <a:extLst>
              <a:ext uri="{FF2B5EF4-FFF2-40B4-BE49-F238E27FC236}">
                <a16:creationId xmlns:a16="http://schemas.microsoft.com/office/drawing/2014/main" id="{0D9DD5E4-7669-ACF6-869D-DA15EA3255B1}"/>
              </a:ext>
            </a:extLst>
          </p:cNvPr>
          <p:cNvSpPr txBox="1"/>
          <p:nvPr/>
        </p:nvSpPr>
        <p:spPr>
          <a:xfrm>
            <a:off x="5534561" y="3907168"/>
            <a:ext cx="15905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 +</a:t>
            </a:r>
          </a:p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cadena larga</a:t>
            </a:r>
          </a:p>
        </p:txBody>
      </p:sp>
      <p:cxnSp>
        <p:nvCxnSpPr>
          <p:cNvPr id="2413" name="Conector: curvado 2412">
            <a:extLst>
              <a:ext uri="{FF2B5EF4-FFF2-40B4-BE49-F238E27FC236}">
                <a16:creationId xmlns:a16="http://schemas.microsoft.com/office/drawing/2014/main" id="{2357ED2D-C2BF-2621-299B-5B408949D47D}"/>
              </a:ext>
            </a:extLst>
          </p:cNvPr>
          <p:cNvCxnSpPr>
            <a:cxnSpLocks/>
          </p:cNvCxnSpPr>
          <p:nvPr/>
        </p:nvCxnSpPr>
        <p:spPr>
          <a:xfrm flipV="1">
            <a:off x="6026644" y="3845087"/>
            <a:ext cx="266064" cy="13080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4" name="Conector: angular 2433">
            <a:extLst>
              <a:ext uri="{FF2B5EF4-FFF2-40B4-BE49-F238E27FC236}">
                <a16:creationId xmlns:a16="http://schemas.microsoft.com/office/drawing/2014/main" id="{36522747-B72D-555E-6153-9E83328F83EB}"/>
              </a:ext>
            </a:extLst>
          </p:cNvPr>
          <p:cNvCxnSpPr>
            <a:cxnSpLocks/>
            <a:stCxn id="2153" idx="2"/>
            <a:endCxn id="2148" idx="3"/>
          </p:cNvCxnSpPr>
          <p:nvPr/>
        </p:nvCxnSpPr>
        <p:spPr>
          <a:xfrm rot="5400000">
            <a:off x="4025573" y="2310310"/>
            <a:ext cx="903501" cy="138481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49" name="Grupo 2448">
            <a:extLst>
              <a:ext uri="{FF2B5EF4-FFF2-40B4-BE49-F238E27FC236}">
                <a16:creationId xmlns:a16="http://schemas.microsoft.com/office/drawing/2014/main" id="{36680F69-2CFA-E681-1F86-FFDB0E9E894F}"/>
              </a:ext>
            </a:extLst>
          </p:cNvPr>
          <p:cNvGrpSpPr/>
          <p:nvPr/>
        </p:nvGrpSpPr>
        <p:grpSpPr>
          <a:xfrm>
            <a:off x="4373797" y="2636428"/>
            <a:ext cx="128136" cy="128136"/>
            <a:chOff x="2606150" y="3355191"/>
            <a:chExt cx="128136" cy="128136"/>
          </a:xfrm>
        </p:grpSpPr>
        <p:sp>
          <p:nvSpPr>
            <p:cNvPr id="2450" name="Elipse 2449">
              <a:extLst>
                <a:ext uri="{FF2B5EF4-FFF2-40B4-BE49-F238E27FC236}">
                  <a16:creationId xmlns:a16="http://schemas.microsoft.com/office/drawing/2014/main" id="{E8786E67-E5FE-D7BA-52E6-3CC150425361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51" name="Triángulo isósceles 2450">
              <a:extLst>
                <a:ext uri="{FF2B5EF4-FFF2-40B4-BE49-F238E27FC236}">
                  <a16:creationId xmlns:a16="http://schemas.microsoft.com/office/drawing/2014/main" id="{78A2CFB2-BA46-179B-A167-25D6B354EF0F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478" name="CuadroTexto 2477">
            <a:extLst>
              <a:ext uri="{FF2B5EF4-FFF2-40B4-BE49-F238E27FC236}">
                <a16:creationId xmlns:a16="http://schemas.microsoft.com/office/drawing/2014/main" id="{E8396D77-5AE7-9742-C452-6615A802465B}"/>
              </a:ext>
            </a:extLst>
          </p:cNvPr>
          <p:cNvSpPr txBox="1"/>
          <p:nvPr/>
        </p:nvSpPr>
        <p:spPr>
          <a:xfrm>
            <a:off x="3971726" y="9102279"/>
            <a:ext cx="3447748" cy="261610"/>
          </a:xfrm>
          <a:prstGeom prst="rect">
            <a:avLst/>
          </a:prstGeom>
          <a:solidFill>
            <a:schemeClr val="tx2">
              <a:lumMod val="50000"/>
              <a:lumOff val="50000"/>
              <a:alpha val="10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Eicosanoides</a:t>
            </a:r>
          </a:p>
        </p:txBody>
      </p:sp>
      <p:sp>
        <p:nvSpPr>
          <p:cNvPr id="2481" name="CuadroTexto 2480">
            <a:extLst>
              <a:ext uri="{FF2B5EF4-FFF2-40B4-BE49-F238E27FC236}">
                <a16:creationId xmlns:a16="http://schemas.microsoft.com/office/drawing/2014/main" id="{0B7C6B06-E55D-9892-09F6-28C7974CDAC5}"/>
              </a:ext>
            </a:extLst>
          </p:cNvPr>
          <p:cNvSpPr txBox="1"/>
          <p:nvPr/>
        </p:nvSpPr>
        <p:spPr>
          <a:xfrm>
            <a:off x="5310060" y="717951"/>
            <a:ext cx="181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(Citosol en animales y cloroplasto en vegetales)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CA6FFC2-CC1E-CE00-E14E-C5CDF8BC43F9}"/>
              </a:ext>
            </a:extLst>
          </p:cNvPr>
          <p:cNvCxnSpPr>
            <a:cxnSpLocks/>
            <a:stCxn id="2301" idx="1"/>
          </p:cNvCxnSpPr>
          <p:nvPr/>
        </p:nvCxnSpPr>
        <p:spPr>
          <a:xfrm flipH="1">
            <a:off x="5231876" y="7151956"/>
            <a:ext cx="740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41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234</Words>
  <Application>Microsoft Office PowerPoint</Application>
  <PresentationFormat>Personalizado</PresentationFormat>
  <Paragraphs>111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26</cp:revision>
  <dcterms:created xsi:type="dcterms:W3CDTF">2025-10-09T08:39:27Z</dcterms:created>
  <dcterms:modified xsi:type="dcterms:W3CDTF">2025-11-02T19:19:37Z</dcterms:modified>
</cp:coreProperties>
</file>