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59" r:id="rId2"/>
  </p:sldIdLst>
  <p:sldSz cx="7559675" cy="106918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796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82" d="100"/>
          <a:sy n="82" d="100"/>
        </p:scale>
        <p:origin x="1838" y="-228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69CE80-116F-4159-B286-4C5C2607F6BE}" type="datetimeFigureOut">
              <a:rPr lang="es-ES" smtClean="0"/>
              <a:t>02/11/2025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57179C-2F26-461F-B024-F4C4747A62B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749158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57179C-2F26-461F-B024-F4C4747A62BF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870156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6976" y="1749795"/>
            <a:ext cx="6425724" cy="3722335"/>
          </a:xfrm>
        </p:spPr>
        <p:txBody>
          <a:bodyPr anchor="b"/>
          <a:lstStyle>
            <a:lvl1pPr algn="ctr">
              <a:defRPr sz="496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4960" y="5615678"/>
            <a:ext cx="5669756" cy="2581379"/>
          </a:xfrm>
        </p:spPr>
        <p:txBody>
          <a:bodyPr/>
          <a:lstStyle>
            <a:lvl1pPr marL="0" indent="0" algn="ctr">
              <a:buNone/>
              <a:defRPr sz="1984"/>
            </a:lvl1pPr>
            <a:lvl2pPr marL="377967" indent="0" algn="ctr">
              <a:buNone/>
              <a:defRPr sz="1653"/>
            </a:lvl2pPr>
            <a:lvl3pPr marL="755934" indent="0" algn="ctr">
              <a:buNone/>
              <a:defRPr sz="1488"/>
            </a:lvl3pPr>
            <a:lvl4pPr marL="1133902" indent="0" algn="ctr">
              <a:buNone/>
              <a:defRPr sz="1323"/>
            </a:lvl4pPr>
            <a:lvl5pPr marL="1511869" indent="0" algn="ctr">
              <a:buNone/>
              <a:defRPr sz="1323"/>
            </a:lvl5pPr>
            <a:lvl6pPr marL="1889836" indent="0" algn="ctr">
              <a:buNone/>
              <a:defRPr sz="1323"/>
            </a:lvl6pPr>
            <a:lvl7pPr marL="2267803" indent="0" algn="ctr">
              <a:buNone/>
              <a:defRPr sz="1323"/>
            </a:lvl7pPr>
            <a:lvl8pPr marL="2645771" indent="0" algn="ctr">
              <a:buNone/>
              <a:defRPr sz="1323"/>
            </a:lvl8pPr>
            <a:lvl9pPr marL="3023738" indent="0" algn="ctr">
              <a:buNone/>
              <a:defRPr sz="1323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30/10/2025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65640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30/10/2025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726785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791" y="2665532"/>
            <a:ext cx="6520220" cy="4447496"/>
          </a:xfrm>
        </p:spPr>
        <p:txBody>
          <a:bodyPr anchor="b"/>
          <a:lstStyle>
            <a:lvl1pPr>
              <a:defRPr sz="496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5791" y="7155103"/>
            <a:ext cx="6520220" cy="2338833"/>
          </a:xfrm>
        </p:spPr>
        <p:txBody>
          <a:bodyPr/>
          <a:lstStyle>
            <a:lvl1pPr marL="0" indent="0">
              <a:buNone/>
              <a:defRPr sz="1984">
                <a:solidFill>
                  <a:schemeClr val="tx1">
                    <a:tint val="82000"/>
                  </a:schemeClr>
                </a:solidFill>
              </a:defRPr>
            </a:lvl1pPr>
            <a:lvl2pPr marL="377967" indent="0">
              <a:buNone/>
              <a:defRPr sz="1653">
                <a:solidFill>
                  <a:schemeClr val="tx1">
                    <a:tint val="82000"/>
                  </a:schemeClr>
                </a:solidFill>
              </a:defRPr>
            </a:lvl2pPr>
            <a:lvl3pPr marL="755934" indent="0">
              <a:buNone/>
              <a:defRPr sz="1488">
                <a:solidFill>
                  <a:schemeClr val="tx1">
                    <a:tint val="82000"/>
                  </a:schemeClr>
                </a:solidFill>
              </a:defRPr>
            </a:lvl3pPr>
            <a:lvl4pPr marL="1133902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4pPr>
            <a:lvl5pPr marL="1511869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5pPr>
            <a:lvl6pPr marL="1889836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6pPr>
            <a:lvl7pPr marL="2267803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7pPr>
            <a:lvl8pPr marL="2645771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8pPr>
            <a:lvl9pPr marL="3023738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30/10/2025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150004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9728" y="2846200"/>
            <a:ext cx="3212862" cy="678385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27085" y="2846200"/>
            <a:ext cx="3212862" cy="678385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30/10/2025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08171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569242"/>
            <a:ext cx="6520220" cy="206659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0713" y="2620980"/>
            <a:ext cx="3198096" cy="1284502"/>
          </a:xfrm>
        </p:spPr>
        <p:txBody>
          <a:bodyPr anchor="b"/>
          <a:lstStyle>
            <a:lvl1pPr marL="0" indent="0">
              <a:buNone/>
              <a:defRPr sz="1984" b="1"/>
            </a:lvl1pPr>
            <a:lvl2pPr marL="377967" indent="0">
              <a:buNone/>
              <a:defRPr sz="1653" b="1"/>
            </a:lvl2pPr>
            <a:lvl3pPr marL="755934" indent="0">
              <a:buNone/>
              <a:defRPr sz="1488" b="1"/>
            </a:lvl3pPr>
            <a:lvl4pPr marL="1133902" indent="0">
              <a:buNone/>
              <a:defRPr sz="1323" b="1"/>
            </a:lvl4pPr>
            <a:lvl5pPr marL="1511869" indent="0">
              <a:buNone/>
              <a:defRPr sz="1323" b="1"/>
            </a:lvl5pPr>
            <a:lvl6pPr marL="1889836" indent="0">
              <a:buNone/>
              <a:defRPr sz="1323" b="1"/>
            </a:lvl6pPr>
            <a:lvl7pPr marL="2267803" indent="0">
              <a:buNone/>
              <a:defRPr sz="1323" b="1"/>
            </a:lvl7pPr>
            <a:lvl8pPr marL="2645771" indent="0">
              <a:buNone/>
              <a:defRPr sz="1323" b="1"/>
            </a:lvl8pPr>
            <a:lvl9pPr marL="3023738" indent="0">
              <a:buNone/>
              <a:defRPr sz="1323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0713" y="3905482"/>
            <a:ext cx="3198096" cy="574437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27086" y="2620980"/>
            <a:ext cx="3213847" cy="1284502"/>
          </a:xfrm>
        </p:spPr>
        <p:txBody>
          <a:bodyPr anchor="b"/>
          <a:lstStyle>
            <a:lvl1pPr marL="0" indent="0">
              <a:buNone/>
              <a:defRPr sz="1984" b="1"/>
            </a:lvl1pPr>
            <a:lvl2pPr marL="377967" indent="0">
              <a:buNone/>
              <a:defRPr sz="1653" b="1"/>
            </a:lvl2pPr>
            <a:lvl3pPr marL="755934" indent="0">
              <a:buNone/>
              <a:defRPr sz="1488" b="1"/>
            </a:lvl3pPr>
            <a:lvl4pPr marL="1133902" indent="0">
              <a:buNone/>
              <a:defRPr sz="1323" b="1"/>
            </a:lvl4pPr>
            <a:lvl5pPr marL="1511869" indent="0">
              <a:buNone/>
              <a:defRPr sz="1323" b="1"/>
            </a:lvl5pPr>
            <a:lvl6pPr marL="1889836" indent="0">
              <a:buNone/>
              <a:defRPr sz="1323" b="1"/>
            </a:lvl6pPr>
            <a:lvl7pPr marL="2267803" indent="0">
              <a:buNone/>
              <a:defRPr sz="1323" b="1"/>
            </a:lvl7pPr>
            <a:lvl8pPr marL="2645771" indent="0">
              <a:buNone/>
              <a:defRPr sz="1323" b="1"/>
            </a:lvl8pPr>
            <a:lvl9pPr marL="3023738" indent="0">
              <a:buNone/>
              <a:defRPr sz="1323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27086" y="3905482"/>
            <a:ext cx="3213847" cy="574437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30/10/2025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539634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30/10/2025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06557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30/10/2025</a:t>
            </a:fld>
            <a:endParaRPr lang="es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288766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712788"/>
            <a:ext cx="2438192" cy="2494756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13847" y="1539425"/>
            <a:ext cx="3827085" cy="7598117"/>
          </a:xfrm>
        </p:spPr>
        <p:txBody>
          <a:bodyPr/>
          <a:lstStyle>
            <a:lvl1pPr>
              <a:defRPr sz="2645"/>
            </a:lvl1pPr>
            <a:lvl2pPr>
              <a:defRPr sz="2315"/>
            </a:lvl2pPr>
            <a:lvl3pPr>
              <a:defRPr sz="1984"/>
            </a:lvl3pPr>
            <a:lvl4pPr>
              <a:defRPr sz="1653"/>
            </a:lvl4pPr>
            <a:lvl5pPr>
              <a:defRPr sz="1653"/>
            </a:lvl5pPr>
            <a:lvl6pPr>
              <a:defRPr sz="1653"/>
            </a:lvl6pPr>
            <a:lvl7pPr>
              <a:defRPr sz="1653"/>
            </a:lvl7pPr>
            <a:lvl8pPr>
              <a:defRPr sz="1653"/>
            </a:lvl8pPr>
            <a:lvl9pPr>
              <a:defRPr sz="1653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3207544"/>
            <a:ext cx="2438192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7967" indent="0">
              <a:buNone/>
              <a:defRPr sz="1157"/>
            </a:lvl2pPr>
            <a:lvl3pPr marL="755934" indent="0">
              <a:buNone/>
              <a:defRPr sz="992"/>
            </a:lvl3pPr>
            <a:lvl4pPr marL="1133902" indent="0">
              <a:buNone/>
              <a:defRPr sz="827"/>
            </a:lvl4pPr>
            <a:lvl5pPr marL="1511869" indent="0">
              <a:buNone/>
              <a:defRPr sz="827"/>
            </a:lvl5pPr>
            <a:lvl6pPr marL="1889836" indent="0">
              <a:buNone/>
              <a:defRPr sz="827"/>
            </a:lvl6pPr>
            <a:lvl7pPr marL="2267803" indent="0">
              <a:buNone/>
              <a:defRPr sz="827"/>
            </a:lvl7pPr>
            <a:lvl8pPr marL="2645771" indent="0">
              <a:buNone/>
              <a:defRPr sz="827"/>
            </a:lvl8pPr>
            <a:lvl9pPr marL="3023738" indent="0">
              <a:buNone/>
              <a:defRPr sz="827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30/10/2025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197398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712788"/>
            <a:ext cx="2438192" cy="2494756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213847" y="1539425"/>
            <a:ext cx="3827085" cy="7598117"/>
          </a:xfrm>
        </p:spPr>
        <p:txBody>
          <a:bodyPr anchor="t"/>
          <a:lstStyle>
            <a:lvl1pPr marL="0" indent="0">
              <a:buNone/>
              <a:defRPr sz="2645"/>
            </a:lvl1pPr>
            <a:lvl2pPr marL="377967" indent="0">
              <a:buNone/>
              <a:defRPr sz="2315"/>
            </a:lvl2pPr>
            <a:lvl3pPr marL="755934" indent="0">
              <a:buNone/>
              <a:defRPr sz="1984"/>
            </a:lvl3pPr>
            <a:lvl4pPr marL="1133902" indent="0">
              <a:buNone/>
              <a:defRPr sz="1653"/>
            </a:lvl4pPr>
            <a:lvl5pPr marL="1511869" indent="0">
              <a:buNone/>
              <a:defRPr sz="1653"/>
            </a:lvl5pPr>
            <a:lvl6pPr marL="1889836" indent="0">
              <a:buNone/>
              <a:defRPr sz="1653"/>
            </a:lvl6pPr>
            <a:lvl7pPr marL="2267803" indent="0">
              <a:buNone/>
              <a:defRPr sz="1653"/>
            </a:lvl7pPr>
            <a:lvl8pPr marL="2645771" indent="0">
              <a:buNone/>
              <a:defRPr sz="1653"/>
            </a:lvl8pPr>
            <a:lvl9pPr marL="3023738" indent="0">
              <a:buNone/>
              <a:defRPr sz="1653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3207544"/>
            <a:ext cx="2438192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7967" indent="0">
              <a:buNone/>
              <a:defRPr sz="1157"/>
            </a:lvl2pPr>
            <a:lvl3pPr marL="755934" indent="0">
              <a:buNone/>
              <a:defRPr sz="992"/>
            </a:lvl3pPr>
            <a:lvl4pPr marL="1133902" indent="0">
              <a:buNone/>
              <a:defRPr sz="827"/>
            </a:lvl4pPr>
            <a:lvl5pPr marL="1511869" indent="0">
              <a:buNone/>
              <a:defRPr sz="827"/>
            </a:lvl5pPr>
            <a:lvl6pPr marL="1889836" indent="0">
              <a:buNone/>
              <a:defRPr sz="827"/>
            </a:lvl6pPr>
            <a:lvl7pPr marL="2267803" indent="0">
              <a:buNone/>
              <a:defRPr sz="827"/>
            </a:lvl7pPr>
            <a:lvl8pPr marL="2645771" indent="0">
              <a:buNone/>
              <a:defRPr sz="827"/>
            </a:lvl8pPr>
            <a:lvl9pPr marL="3023738" indent="0">
              <a:buNone/>
              <a:defRPr sz="827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30/10/2025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174720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30/10/2025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170259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409893" y="569240"/>
            <a:ext cx="1630055" cy="9060817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9728" y="569240"/>
            <a:ext cx="4795669" cy="9060817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30/10/2025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986803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9728" y="569242"/>
            <a:ext cx="6520220" cy="20665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9728" y="2846200"/>
            <a:ext cx="6520220" cy="6783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9728" y="9909729"/>
            <a:ext cx="170092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140DB7-FBAF-4D24-8F29-EB1A91FE30CB}" type="datetimeFigureOut">
              <a:rPr lang="es-ES" smtClean="0"/>
              <a:t>30/10/2025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4143" y="9909729"/>
            <a:ext cx="2551390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39020" y="9909729"/>
            <a:ext cx="170092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755614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55934" rtl="0" eaLnBrk="1" latinLnBrk="0" hangingPunct="1">
        <a:lnSpc>
          <a:spcPct val="90000"/>
        </a:lnSpc>
        <a:spcBef>
          <a:spcPct val="0"/>
        </a:spcBef>
        <a:buNone/>
        <a:defRPr sz="363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8984" indent="-188984" algn="l" defTabSz="755934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315" kern="1200">
          <a:solidFill>
            <a:schemeClr val="tx1"/>
          </a:solidFill>
          <a:latin typeface="+mn-lt"/>
          <a:ea typeface="+mn-ea"/>
          <a:cs typeface="+mn-cs"/>
        </a:defRPr>
      </a:lvl1pPr>
      <a:lvl2pPr marL="566951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944918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653" kern="1200">
          <a:solidFill>
            <a:schemeClr val="tx1"/>
          </a:solidFill>
          <a:latin typeface="+mn-lt"/>
          <a:ea typeface="+mn-ea"/>
          <a:cs typeface="+mn-cs"/>
        </a:defRPr>
      </a:lvl3pPr>
      <a:lvl4pPr marL="1322885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700853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2078820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456787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834754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212722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1pPr>
      <a:lvl2pPr marL="377967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2pPr>
      <a:lvl3pPr marL="755934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3pPr>
      <a:lvl4pPr marL="1133902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511869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1889836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267803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645771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023738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9" name="CuadroTexto 1578">
            <a:extLst>
              <a:ext uri="{FF2B5EF4-FFF2-40B4-BE49-F238E27FC236}">
                <a16:creationId xmlns:a16="http://schemas.microsoft.com/office/drawing/2014/main" id="{85ADD00F-753E-1168-F26A-51CCFFBC86C1}"/>
              </a:ext>
            </a:extLst>
          </p:cNvPr>
          <p:cNvSpPr txBox="1"/>
          <p:nvPr/>
        </p:nvSpPr>
        <p:spPr>
          <a:xfrm>
            <a:off x="4322082" y="241511"/>
            <a:ext cx="37178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s-ES" sz="11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1580" name="CuadroTexto 1579">
            <a:extLst>
              <a:ext uri="{FF2B5EF4-FFF2-40B4-BE49-F238E27FC236}">
                <a16:creationId xmlns:a16="http://schemas.microsoft.com/office/drawing/2014/main" id="{7C2F1329-A16A-C5A6-9228-4E4685060E41}"/>
              </a:ext>
            </a:extLst>
          </p:cNvPr>
          <p:cNvSpPr txBox="1"/>
          <p:nvPr/>
        </p:nvSpPr>
        <p:spPr>
          <a:xfrm>
            <a:off x="4914748" y="241511"/>
            <a:ext cx="4531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s-ES" sz="11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</a:p>
        </p:txBody>
      </p:sp>
      <p:sp>
        <p:nvSpPr>
          <p:cNvPr id="1581" name="CuadroTexto 1580">
            <a:extLst>
              <a:ext uri="{FF2B5EF4-FFF2-40B4-BE49-F238E27FC236}">
                <a16:creationId xmlns:a16="http://schemas.microsoft.com/office/drawing/2014/main" id="{64C082FB-BDEF-794E-F083-F42369E75ABC}"/>
              </a:ext>
            </a:extLst>
          </p:cNvPr>
          <p:cNvSpPr txBox="1"/>
          <p:nvPr/>
        </p:nvSpPr>
        <p:spPr>
          <a:xfrm>
            <a:off x="5588754" y="241511"/>
            <a:ext cx="4531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NO</a:t>
            </a:r>
          </a:p>
        </p:txBody>
      </p:sp>
      <p:sp>
        <p:nvSpPr>
          <p:cNvPr id="1582" name="CuadroTexto 1581">
            <a:extLst>
              <a:ext uri="{FF2B5EF4-FFF2-40B4-BE49-F238E27FC236}">
                <a16:creationId xmlns:a16="http://schemas.microsoft.com/office/drawing/2014/main" id="{40E2E504-F61D-DAE3-9B86-CBA53BFCA797}"/>
              </a:ext>
            </a:extLst>
          </p:cNvPr>
          <p:cNvSpPr txBox="1"/>
          <p:nvPr/>
        </p:nvSpPr>
        <p:spPr>
          <a:xfrm>
            <a:off x="6262760" y="241511"/>
            <a:ext cx="51904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NO</a:t>
            </a:r>
            <a:r>
              <a:rPr lang="es-ES" sz="11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ES" sz="1100" baseline="3000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</a:p>
        </p:txBody>
      </p:sp>
      <p:sp>
        <p:nvSpPr>
          <p:cNvPr id="1583" name="CuadroTexto 1582">
            <a:extLst>
              <a:ext uri="{FF2B5EF4-FFF2-40B4-BE49-F238E27FC236}">
                <a16:creationId xmlns:a16="http://schemas.microsoft.com/office/drawing/2014/main" id="{9E6D25DE-2751-510C-2B9E-E9E9105C4759}"/>
              </a:ext>
            </a:extLst>
          </p:cNvPr>
          <p:cNvSpPr txBox="1"/>
          <p:nvPr/>
        </p:nvSpPr>
        <p:spPr>
          <a:xfrm>
            <a:off x="7134827" y="861099"/>
            <a:ext cx="51904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NO</a:t>
            </a:r>
            <a:r>
              <a:rPr lang="es-ES" sz="1100" baseline="-25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s-ES" sz="1100" baseline="3000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</a:p>
        </p:txBody>
      </p:sp>
      <p:cxnSp>
        <p:nvCxnSpPr>
          <p:cNvPr id="1585" name="Conector: curvado 1584">
            <a:extLst>
              <a:ext uri="{FF2B5EF4-FFF2-40B4-BE49-F238E27FC236}">
                <a16:creationId xmlns:a16="http://schemas.microsoft.com/office/drawing/2014/main" id="{6B419C53-F1C1-947B-FBC4-6252FB18885C}"/>
              </a:ext>
            </a:extLst>
          </p:cNvPr>
          <p:cNvCxnSpPr>
            <a:stCxn id="1583" idx="0"/>
            <a:endCxn id="1582" idx="3"/>
          </p:cNvCxnSpPr>
          <p:nvPr/>
        </p:nvCxnSpPr>
        <p:spPr>
          <a:xfrm rot="16200000" flipV="1">
            <a:off x="6843684" y="310435"/>
            <a:ext cx="488783" cy="612546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87" name="Conector recto de flecha 1586">
            <a:extLst>
              <a:ext uri="{FF2B5EF4-FFF2-40B4-BE49-F238E27FC236}">
                <a16:creationId xmlns:a16="http://schemas.microsoft.com/office/drawing/2014/main" id="{ED8E3438-FA2A-B001-41AB-D10713DDC4C2}"/>
              </a:ext>
            </a:extLst>
          </p:cNvPr>
          <p:cNvCxnSpPr>
            <a:stCxn id="1582" idx="1"/>
            <a:endCxn id="1581" idx="3"/>
          </p:cNvCxnSpPr>
          <p:nvPr/>
        </p:nvCxnSpPr>
        <p:spPr>
          <a:xfrm flipH="1">
            <a:off x="6041874" y="372316"/>
            <a:ext cx="22088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88" name="Conector recto de flecha 1587">
            <a:extLst>
              <a:ext uri="{FF2B5EF4-FFF2-40B4-BE49-F238E27FC236}">
                <a16:creationId xmlns:a16="http://schemas.microsoft.com/office/drawing/2014/main" id="{82E71CE1-29D8-2A56-5CDA-E91398372A78}"/>
              </a:ext>
            </a:extLst>
          </p:cNvPr>
          <p:cNvCxnSpPr>
            <a:cxnSpLocks/>
            <a:stCxn id="1581" idx="1"/>
            <a:endCxn id="1580" idx="3"/>
          </p:cNvCxnSpPr>
          <p:nvPr/>
        </p:nvCxnSpPr>
        <p:spPr>
          <a:xfrm flipH="1">
            <a:off x="5367868" y="372316"/>
            <a:ext cx="22088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91" name="Conector recto de flecha 1590">
            <a:extLst>
              <a:ext uri="{FF2B5EF4-FFF2-40B4-BE49-F238E27FC236}">
                <a16:creationId xmlns:a16="http://schemas.microsoft.com/office/drawing/2014/main" id="{738378E8-7DF0-E149-77D1-8142A80F698A}"/>
              </a:ext>
            </a:extLst>
          </p:cNvPr>
          <p:cNvCxnSpPr>
            <a:cxnSpLocks/>
            <a:stCxn id="1580" idx="1"/>
            <a:endCxn id="1579" idx="3"/>
          </p:cNvCxnSpPr>
          <p:nvPr/>
        </p:nvCxnSpPr>
        <p:spPr>
          <a:xfrm flipH="1">
            <a:off x="4693862" y="372316"/>
            <a:ext cx="22088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94" name="CuadroTexto 1593">
            <a:extLst>
              <a:ext uri="{FF2B5EF4-FFF2-40B4-BE49-F238E27FC236}">
                <a16:creationId xmlns:a16="http://schemas.microsoft.com/office/drawing/2014/main" id="{05925104-3AB9-24B4-639F-E9E3C1B47006}"/>
              </a:ext>
            </a:extLst>
          </p:cNvPr>
          <p:cNvSpPr txBox="1"/>
          <p:nvPr/>
        </p:nvSpPr>
        <p:spPr>
          <a:xfrm>
            <a:off x="3472840" y="861099"/>
            <a:ext cx="51904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NH</a:t>
            </a:r>
            <a:r>
              <a:rPr lang="es-ES" sz="1100" baseline="-250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s-ES" sz="1100" baseline="30000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</a:p>
        </p:txBody>
      </p:sp>
      <p:cxnSp>
        <p:nvCxnSpPr>
          <p:cNvPr id="1595" name="Conector: curvado 1594">
            <a:extLst>
              <a:ext uri="{FF2B5EF4-FFF2-40B4-BE49-F238E27FC236}">
                <a16:creationId xmlns:a16="http://schemas.microsoft.com/office/drawing/2014/main" id="{432DDFDE-8BD6-3CF6-8BBE-DBB9F15C8F91}"/>
              </a:ext>
            </a:extLst>
          </p:cNvPr>
          <p:cNvCxnSpPr>
            <a:cxnSpLocks/>
            <a:stCxn id="1579" idx="1"/>
            <a:endCxn id="1594" idx="0"/>
          </p:cNvCxnSpPr>
          <p:nvPr/>
        </p:nvCxnSpPr>
        <p:spPr>
          <a:xfrm rot="10800000" flipV="1">
            <a:off x="3732362" y="372315"/>
            <a:ext cx="589721" cy="488783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99" name="CuadroTexto 1598">
            <a:extLst>
              <a:ext uri="{FF2B5EF4-FFF2-40B4-BE49-F238E27FC236}">
                <a16:creationId xmlns:a16="http://schemas.microsoft.com/office/drawing/2014/main" id="{5F3B1F25-2CF4-BBA3-AD74-CCF3A1CA43C8}"/>
              </a:ext>
            </a:extLst>
          </p:cNvPr>
          <p:cNvSpPr txBox="1"/>
          <p:nvPr/>
        </p:nvSpPr>
        <p:spPr>
          <a:xfrm>
            <a:off x="4285262" y="1838663"/>
            <a:ext cx="70160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NH</a:t>
            </a:r>
            <a:r>
              <a:rPr lang="es-ES" sz="11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OH</a:t>
            </a:r>
            <a:endParaRPr lang="es-ES" sz="11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00" name="CuadroTexto 1599">
            <a:extLst>
              <a:ext uri="{FF2B5EF4-FFF2-40B4-BE49-F238E27FC236}">
                <a16:creationId xmlns:a16="http://schemas.microsoft.com/office/drawing/2014/main" id="{24ADE17D-328D-7659-1064-70F5C32AACC3}"/>
              </a:ext>
            </a:extLst>
          </p:cNvPr>
          <p:cNvSpPr txBox="1"/>
          <p:nvPr/>
        </p:nvSpPr>
        <p:spPr>
          <a:xfrm>
            <a:off x="6262760" y="1838663"/>
            <a:ext cx="51904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NO</a:t>
            </a:r>
            <a:r>
              <a:rPr lang="es-ES" sz="11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ES" sz="1100" baseline="3000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</a:p>
        </p:txBody>
      </p:sp>
      <p:cxnSp>
        <p:nvCxnSpPr>
          <p:cNvPr id="1601" name="Conector: curvado 1600">
            <a:extLst>
              <a:ext uri="{FF2B5EF4-FFF2-40B4-BE49-F238E27FC236}">
                <a16:creationId xmlns:a16="http://schemas.microsoft.com/office/drawing/2014/main" id="{153D2A62-8547-66EE-B409-BA345437B01E}"/>
              </a:ext>
            </a:extLst>
          </p:cNvPr>
          <p:cNvCxnSpPr>
            <a:cxnSpLocks/>
            <a:stCxn id="1600" idx="3"/>
            <a:endCxn id="1583" idx="2"/>
          </p:cNvCxnSpPr>
          <p:nvPr/>
        </p:nvCxnSpPr>
        <p:spPr>
          <a:xfrm flipV="1">
            <a:off x="6781802" y="1122709"/>
            <a:ext cx="612546" cy="846759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04" name="Conector: curvado 1603">
            <a:extLst>
              <a:ext uri="{FF2B5EF4-FFF2-40B4-BE49-F238E27FC236}">
                <a16:creationId xmlns:a16="http://schemas.microsoft.com/office/drawing/2014/main" id="{6BE9D7C8-7E29-FBD1-9C80-CE74FA3198EA}"/>
              </a:ext>
            </a:extLst>
          </p:cNvPr>
          <p:cNvCxnSpPr>
            <a:cxnSpLocks/>
            <a:stCxn id="1594" idx="2"/>
            <a:endCxn id="1599" idx="1"/>
          </p:cNvCxnSpPr>
          <p:nvPr/>
        </p:nvCxnSpPr>
        <p:spPr>
          <a:xfrm rot="16200000" flipH="1">
            <a:off x="3585432" y="1269637"/>
            <a:ext cx="846759" cy="552901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07" name="Conector recto de flecha 1606">
            <a:extLst>
              <a:ext uri="{FF2B5EF4-FFF2-40B4-BE49-F238E27FC236}">
                <a16:creationId xmlns:a16="http://schemas.microsoft.com/office/drawing/2014/main" id="{4CE23B4F-1C42-8DE7-3ACA-98279F3926D2}"/>
              </a:ext>
            </a:extLst>
          </p:cNvPr>
          <p:cNvCxnSpPr>
            <a:cxnSpLocks/>
            <a:stCxn id="1599" idx="3"/>
            <a:endCxn id="1600" idx="1"/>
          </p:cNvCxnSpPr>
          <p:nvPr/>
        </p:nvCxnSpPr>
        <p:spPr>
          <a:xfrm>
            <a:off x="4986867" y="1969468"/>
            <a:ext cx="127589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10" name="CuadroTexto 1609">
            <a:extLst>
              <a:ext uri="{FF2B5EF4-FFF2-40B4-BE49-F238E27FC236}">
                <a16:creationId xmlns:a16="http://schemas.microsoft.com/office/drawing/2014/main" id="{F6547B5F-F0C6-76A8-F166-E1AFA4DAAAD6}"/>
              </a:ext>
            </a:extLst>
          </p:cNvPr>
          <p:cNvSpPr txBox="1"/>
          <p:nvPr/>
        </p:nvSpPr>
        <p:spPr>
          <a:xfrm>
            <a:off x="6329397" y="45304"/>
            <a:ext cx="118053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Desnitrificación</a:t>
            </a:r>
            <a:endParaRPr lang="es-ES" sz="11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11" name="CuadroTexto 1610">
            <a:extLst>
              <a:ext uri="{FF2B5EF4-FFF2-40B4-BE49-F238E27FC236}">
                <a16:creationId xmlns:a16="http://schemas.microsoft.com/office/drawing/2014/main" id="{56B4E824-3F8E-FD2E-379B-F6BF77B2F2B0}"/>
              </a:ext>
            </a:extLst>
          </p:cNvPr>
          <p:cNvSpPr txBox="1"/>
          <p:nvPr/>
        </p:nvSpPr>
        <p:spPr>
          <a:xfrm>
            <a:off x="2874880" y="14341"/>
            <a:ext cx="128174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Fijación biológica de nitrógeno</a:t>
            </a:r>
            <a:endParaRPr lang="es-ES" sz="11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12" name="CuadroTexto 1611">
            <a:extLst>
              <a:ext uri="{FF2B5EF4-FFF2-40B4-BE49-F238E27FC236}">
                <a16:creationId xmlns:a16="http://schemas.microsoft.com/office/drawing/2014/main" id="{DFD50AF2-6496-30C5-6213-06F9AF7E9594}"/>
              </a:ext>
            </a:extLst>
          </p:cNvPr>
          <p:cNvSpPr txBox="1"/>
          <p:nvPr/>
        </p:nvSpPr>
        <p:spPr>
          <a:xfrm>
            <a:off x="5039887" y="1690639"/>
            <a:ext cx="118053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Nitrificación</a:t>
            </a:r>
            <a:endParaRPr lang="es-ES" sz="11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13" name="CuadroTexto 1612">
            <a:extLst>
              <a:ext uri="{FF2B5EF4-FFF2-40B4-BE49-F238E27FC236}">
                <a16:creationId xmlns:a16="http://schemas.microsoft.com/office/drawing/2014/main" id="{5ECBD465-06FF-A000-636B-AB812FCEF7BD}"/>
              </a:ext>
            </a:extLst>
          </p:cNvPr>
          <p:cNvSpPr txBox="1"/>
          <p:nvPr/>
        </p:nvSpPr>
        <p:spPr>
          <a:xfrm>
            <a:off x="4544784" y="733642"/>
            <a:ext cx="51904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s-ES" sz="11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s-ES" sz="1100" baseline="-250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endParaRPr lang="es-ES" sz="11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614" name="Conector: curvado 1613">
            <a:extLst>
              <a:ext uri="{FF2B5EF4-FFF2-40B4-BE49-F238E27FC236}">
                <a16:creationId xmlns:a16="http://schemas.microsoft.com/office/drawing/2014/main" id="{74D09959-B25E-5458-B742-A84F92FA376A}"/>
              </a:ext>
            </a:extLst>
          </p:cNvPr>
          <p:cNvCxnSpPr>
            <a:cxnSpLocks/>
            <a:stCxn id="1594" idx="2"/>
            <a:endCxn id="1613" idx="2"/>
          </p:cNvCxnSpPr>
          <p:nvPr/>
        </p:nvCxnSpPr>
        <p:spPr>
          <a:xfrm rot="5400000" flipH="1" flipV="1">
            <a:off x="4204604" y="523009"/>
            <a:ext cx="127457" cy="1071944"/>
          </a:xfrm>
          <a:prstGeom prst="curvedConnector3">
            <a:avLst>
              <a:gd name="adj1" fmla="val -179355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17" name="Conector: curvado 1616">
            <a:extLst>
              <a:ext uri="{FF2B5EF4-FFF2-40B4-BE49-F238E27FC236}">
                <a16:creationId xmlns:a16="http://schemas.microsoft.com/office/drawing/2014/main" id="{79D6206A-3B8A-B896-36F3-F6833251C54F}"/>
              </a:ext>
            </a:extLst>
          </p:cNvPr>
          <p:cNvCxnSpPr>
            <a:cxnSpLocks/>
            <a:stCxn id="1613" idx="0"/>
            <a:endCxn id="1579" idx="2"/>
          </p:cNvCxnSpPr>
          <p:nvPr/>
        </p:nvCxnSpPr>
        <p:spPr>
          <a:xfrm rot="16200000" flipV="1">
            <a:off x="4540879" y="470215"/>
            <a:ext cx="230521" cy="296333"/>
          </a:xfrm>
          <a:prstGeom prst="curvedConnector3">
            <a:avLst>
              <a:gd name="adj1" fmla="val 20617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23" name="Conector: curvado 1622">
            <a:extLst>
              <a:ext uri="{FF2B5EF4-FFF2-40B4-BE49-F238E27FC236}">
                <a16:creationId xmlns:a16="http://schemas.microsoft.com/office/drawing/2014/main" id="{D0544C95-9F4A-105D-9F26-48C9874C7425}"/>
              </a:ext>
            </a:extLst>
          </p:cNvPr>
          <p:cNvCxnSpPr>
            <a:cxnSpLocks/>
            <a:stCxn id="1582" idx="2"/>
          </p:cNvCxnSpPr>
          <p:nvPr/>
        </p:nvCxnSpPr>
        <p:spPr>
          <a:xfrm rot="5400000">
            <a:off x="4968491" y="-197037"/>
            <a:ext cx="853633" cy="2253949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27" name="CuadroTexto 1626">
            <a:extLst>
              <a:ext uri="{FF2B5EF4-FFF2-40B4-BE49-F238E27FC236}">
                <a16:creationId xmlns:a16="http://schemas.microsoft.com/office/drawing/2014/main" id="{B6016709-8CA7-8677-5D16-412A6C951829}"/>
              </a:ext>
            </a:extLst>
          </p:cNvPr>
          <p:cNvSpPr txBox="1"/>
          <p:nvPr/>
        </p:nvSpPr>
        <p:spPr>
          <a:xfrm>
            <a:off x="5618195" y="1099443"/>
            <a:ext cx="118053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DNRA</a:t>
            </a:r>
            <a:endParaRPr lang="es-ES" sz="11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28" name="CuadroTexto 1627">
            <a:extLst>
              <a:ext uri="{FF2B5EF4-FFF2-40B4-BE49-F238E27FC236}">
                <a16:creationId xmlns:a16="http://schemas.microsoft.com/office/drawing/2014/main" id="{2CB61BD3-7ABE-0C42-1C25-1D24DBD2FF44}"/>
              </a:ext>
            </a:extLst>
          </p:cNvPr>
          <p:cNvSpPr txBox="1"/>
          <p:nvPr/>
        </p:nvSpPr>
        <p:spPr>
          <a:xfrm>
            <a:off x="3983791" y="935614"/>
            <a:ext cx="118053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Anammox</a:t>
            </a:r>
            <a:endParaRPr lang="es-ES" sz="11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630" name="Conector: curvado 1629">
            <a:extLst>
              <a:ext uri="{FF2B5EF4-FFF2-40B4-BE49-F238E27FC236}">
                <a16:creationId xmlns:a16="http://schemas.microsoft.com/office/drawing/2014/main" id="{AA66BF00-67D7-B48D-982E-694251890F1D}"/>
              </a:ext>
            </a:extLst>
          </p:cNvPr>
          <p:cNvCxnSpPr>
            <a:cxnSpLocks/>
            <a:stCxn id="1581" idx="2"/>
            <a:endCxn id="1579" idx="2"/>
          </p:cNvCxnSpPr>
          <p:nvPr/>
        </p:nvCxnSpPr>
        <p:spPr>
          <a:xfrm rot="5400000">
            <a:off x="5161643" y="-150550"/>
            <a:ext cx="12700" cy="1307342"/>
          </a:xfrm>
          <a:prstGeom prst="curvedConnector3">
            <a:avLst>
              <a:gd name="adj1" fmla="val 180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33" name="CuadroTexto 1632">
            <a:extLst>
              <a:ext uri="{FF2B5EF4-FFF2-40B4-BE49-F238E27FC236}">
                <a16:creationId xmlns:a16="http://schemas.microsoft.com/office/drawing/2014/main" id="{3F84F2BD-C865-867C-05C5-A9D095708FCB}"/>
              </a:ext>
            </a:extLst>
          </p:cNvPr>
          <p:cNvSpPr txBox="1"/>
          <p:nvPr/>
        </p:nvSpPr>
        <p:spPr>
          <a:xfrm>
            <a:off x="4951445" y="668014"/>
            <a:ext cx="118053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Dismutación del óxido nítrico</a:t>
            </a:r>
            <a:endParaRPr lang="es-ES" sz="11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34" name="Elipse 1633">
            <a:extLst>
              <a:ext uri="{FF2B5EF4-FFF2-40B4-BE49-F238E27FC236}">
                <a16:creationId xmlns:a16="http://schemas.microsoft.com/office/drawing/2014/main" id="{EDBFEE5E-45C7-DCAD-541A-D6B13EDDFC62}"/>
              </a:ext>
            </a:extLst>
          </p:cNvPr>
          <p:cNvSpPr/>
          <p:nvPr/>
        </p:nvSpPr>
        <p:spPr>
          <a:xfrm>
            <a:off x="-1968975" y="-2740276"/>
            <a:ext cx="3911600" cy="3623733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635" name="CuadroTexto 1634">
            <a:extLst>
              <a:ext uri="{FF2B5EF4-FFF2-40B4-BE49-F238E27FC236}">
                <a16:creationId xmlns:a16="http://schemas.microsoft.com/office/drawing/2014/main" id="{06D513B9-BC06-29CB-C21F-3276D0D5D25A}"/>
              </a:ext>
            </a:extLst>
          </p:cNvPr>
          <p:cNvSpPr txBox="1"/>
          <p:nvPr/>
        </p:nvSpPr>
        <p:spPr>
          <a:xfrm>
            <a:off x="163206" y="53386"/>
            <a:ext cx="70160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Ciclo de Krebs</a:t>
            </a:r>
            <a:endParaRPr lang="es-ES" sz="11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39" name="CuadroTexto 1638">
            <a:extLst>
              <a:ext uri="{FF2B5EF4-FFF2-40B4-BE49-F238E27FC236}">
                <a16:creationId xmlns:a16="http://schemas.microsoft.com/office/drawing/2014/main" id="{870479A3-9A8D-BB61-6CBB-CE4A99B785C6}"/>
              </a:ext>
            </a:extLst>
          </p:cNvPr>
          <p:cNvSpPr txBox="1"/>
          <p:nvPr/>
        </p:nvSpPr>
        <p:spPr>
          <a:xfrm>
            <a:off x="253017" y="599133"/>
            <a:ext cx="1139299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l-GR" sz="1100" dirty="0">
                <a:latin typeface="Arial" panose="020B0604020202020204" pitchFamily="34" charset="0"/>
                <a:cs typeface="Arial" panose="020B0604020202020204" pitchFamily="34" charset="0"/>
              </a:rPr>
              <a:t>α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cetoglutarato</a:t>
            </a:r>
            <a:endParaRPr lang="es-ES" sz="11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40" name="CuadroTexto 1639">
            <a:extLst>
              <a:ext uri="{FF2B5EF4-FFF2-40B4-BE49-F238E27FC236}">
                <a16:creationId xmlns:a16="http://schemas.microsoft.com/office/drawing/2014/main" id="{066D5CED-1268-DE8E-AADC-D873718020AE}"/>
              </a:ext>
            </a:extLst>
          </p:cNvPr>
          <p:cNvSpPr txBox="1"/>
          <p:nvPr/>
        </p:nvSpPr>
        <p:spPr>
          <a:xfrm>
            <a:off x="2225380" y="599133"/>
            <a:ext cx="869101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Glutamato</a:t>
            </a:r>
            <a:endParaRPr lang="es-ES" sz="11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41" name="CuadroTexto 1640">
            <a:extLst>
              <a:ext uri="{FF2B5EF4-FFF2-40B4-BE49-F238E27FC236}">
                <a16:creationId xmlns:a16="http://schemas.microsoft.com/office/drawing/2014/main" id="{0E39D1EF-2B50-57FD-78C7-C22665794E0C}"/>
              </a:ext>
            </a:extLst>
          </p:cNvPr>
          <p:cNvSpPr txBox="1"/>
          <p:nvPr/>
        </p:nvSpPr>
        <p:spPr>
          <a:xfrm>
            <a:off x="447003" y="1838663"/>
            <a:ext cx="835616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Glutamato</a:t>
            </a:r>
            <a:endParaRPr lang="es-ES" sz="11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42" name="CuadroTexto 1641">
            <a:extLst>
              <a:ext uri="{FF2B5EF4-FFF2-40B4-BE49-F238E27FC236}">
                <a16:creationId xmlns:a16="http://schemas.microsoft.com/office/drawing/2014/main" id="{83DDD770-EC65-6114-1CDA-12EFD249150C}"/>
              </a:ext>
            </a:extLst>
          </p:cNvPr>
          <p:cNvSpPr txBox="1"/>
          <p:nvPr/>
        </p:nvSpPr>
        <p:spPr>
          <a:xfrm>
            <a:off x="2242122" y="1838663"/>
            <a:ext cx="83561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Glutamina</a:t>
            </a:r>
            <a:endParaRPr lang="es-ES" sz="11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86" name="CuadroTexto 1685">
            <a:extLst>
              <a:ext uri="{FF2B5EF4-FFF2-40B4-BE49-F238E27FC236}">
                <a16:creationId xmlns:a16="http://schemas.microsoft.com/office/drawing/2014/main" id="{07BCA10F-02A5-17D6-B54A-C6E97BF43475}"/>
              </a:ext>
            </a:extLst>
          </p:cNvPr>
          <p:cNvSpPr txBox="1"/>
          <p:nvPr/>
        </p:nvSpPr>
        <p:spPr>
          <a:xfrm>
            <a:off x="3042452" y="1238551"/>
            <a:ext cx="40084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GS</a:t>
            </a:r>
            <a:endParaRPr lang="es-ES" sz="11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687" name="Conector: curvado 1686">
            <a:extLst>
              <a:ext uri="{FF2B5EF4-FFF2-40B4-BE49-F238E27FC236}">
                <a16:creationId xmlns:a16="http://schemas.microsoft.com/office/drawing/2014/main" id="{92B6D73C-81DC-0643-5559-36A355643ABB}"/>
              </a:ext>
            </a:extLst>
          </p:cNvPr>
          <p:cNvCxnSpPr>
            <a:cxnSpLocks/>
            <a:stCxn id="1639" idx="3"/>
            <a:endCxn id="1641" idx="3"/>
          </p:cNvCxnSpPr>
          <p:nvPr/>
        </p:nvCxnSpPr>
        <p:spPr>
          <a:xfrm flipH="1">
            <a:off x="1282619" y="729938"/>
            <a:ext cx="109697" cy="1239530"/>
          </a:xfrm>
          <a:prstGeom prst="curvedConnector3">
            <a:avLst>
              <a:gd name="adj1" fmla="val -37771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90" name="Conector: curvado 1689">
            <a:extLst>
              <a:ext uri="{FF2B5EF4-FFF2-40B4-BE49-F238E27FC236}">
                <a16:creationId xmlns:a16="http://schemas.microsoft.com/office/drawing/2014/main" id="{1DCE8F18-3F27-B054-C2EF-2132F5672704}"/>
              </a:ext>
            </a:extLst>
          </p:cNvPr>
          <p:cNvCxnSpPr>
            <a:cxnSpLocks/>
            <a:stCxn id="1640" idx="1"/>
            <a:endCxn id="1642" idx="1"/>
          </p:cNvCxnSpPr>
          <p:nvPr/>
        </p:nvCxnSpPr>
        <p:spPr>
          <a:xfrm rot="10800000" flipH="1" flipV="1">
            <a:off x="2225380" y="729938"/>
            <a:ext cx="16742" cy="1239530"/>
          </a:xfrm>
          <a:prstGeom prst="curvedConnector3">
            <a:avLst>
              <a:gd name="adj1" fmla="val -2481263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98" name="CuadroTexto 1697">
            <a:extLst>
              <a:ext uri="{FF2B5EF4-FFF2-40B4-BE49-F238E27FC236}">
                <a16:creationId xmlns:a16="http://schemas.microsoft.com/office/drawing/2014/main" id="{38D83056-A413-4455-D101-EE11A22638DA}"/>
              </a:ext>
            </a:extLst>
          </p:cNvPr>
          <p:cNvSpPr txBox="1"/>
          <p:nvPr/>
        </p:nvSpPr>
        <p:spPr>
          <a:xfrm>
            <a:off x="692530" y="992435"/>
            <a:ext cx="828488" cy="26161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2700000" scaled="1"/>
            <a:tileRect/>
          </a:gradFill>
        </p:spPr>
        <p:txBody>
          <a:bodyPr wrap="square" rtlCol="0">
            <a:spAutoFit/>
          </a:bodyPr>
          <a:lstStyle/>
          <a:p>
            <a:pPr algn="r"/>
            <a:r>
              <a:rPr lang="es-ES" sz="11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NAD(P)H</a:t>
            </a:r>
          </a:p>
        </p:txBody>
      </p:sp>
      <p:sp>
        <p:nvSpPr>
          <p:cNvPr id="1699" name="CuadroTexto 1698">
            <a:extLst>
              <a:ext uri="{FF2B5EF4-FFF2-40B4-BE49-F238E27FC236}">
                <a16:creationId xmlns:a16="http://schemas.microsoft.com/office/drawing/2014/main" id="{9B9A88EB-BCC1-C9E7-6557-CF81CF91B2B3}"/>
              </a:ext>
            </a:extLst>
          </p:cNvPr>
          <p:cNvSpPr txBox="1"/>
          <p:nvPr/>
        </p:nvSpPr>
        <p:spPr>
          <a:xfrm>
            <a:off x="920104" y="1283689"/>
            <a:ext cx="597953" cy="26161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2700000" scaled="1"/>
            <a:tileRect/>
          </a:gradFill>
        </p:spPr>
        <p:txBody>
          <a:bodyPr wrap="square" rtlCol="0">
            <a:spAutoFit/>
          </a:bodyPr>
          <a:lstStyle/>
          <a:p>
            <a:pPr algn="r"/>
            <a:r>
              <a:rPr lang="es-ES" sz="11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Fd</a:t>
            </a:r>
            <a:r>
              <a:rPr lang="es-ES" sz="1100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(red)</a:t>
            </a:r>
          </a:p>
        </p:txBody>
      </p:sp>
      <p:cxnSp>
        <p:nvCxnSpPr>
          <p:cNvPr id="1700" name="Conector: curvado 1699">
            <a:extLst>
              <a:ext uri="{FF2B5EF4-FFF2-40B4-BE49-F238E27FC236}">
                <a16:creationId xmlns:a16="http://schemas.microsoft.com/office/drawing/2014/main" id="{81A4D5E6-324E-72C5-A36A-25717E54E8A3}"/>
              </a:ext>
            </a:extLst>
          </p:cNvPr>
          <p:cNvCxnSpPr>
            <a:cxnSpLocks/>
            <a:stCxn id="1698" idx="3"/>
          </p:cNvCxnSpPr>
          <p:nvPr/>
        </p:nvCxnSpPr>
        <p:spPr>
          <a:xfrm>
            <a:off x="1521018" y="1123240"/>
            <a:ext cx="279792" cy="291254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07" name="Conector recto de flecha 1706">
            <a:extLst>
              <a:ext uri="{FF2B5EF4-FFF2-40B4-BE49-F238E27FC236}">
                <a16:creationId xmlns:a16="http://schemas.microsoft.com/office/drawing/2014/main" id="{F12B14E2-9A48-EE76-971F-7F9CB82E67BB}"/>
              </a:ext>
            </a:extLst>
          </p:cNvPr>
          <p:cNvCxnSpPr>
            <a:cxnSpLocks/>
            <a:stCxn id="1699" idx="3"/>
          </p:cNvCxnSpPr>
          <p:nvPr/>
        </p:nvCxnSpPr>
        <p:spPr>
          <a:xfrm>
            <a:off x="1518057" y="1414494"/>
            <a:ext cx="2734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10" name="CuadroTexto 1709">
            <a:extLst>
              <a:ext uri="{FF2B5EF4-FFF2-40B4-BE49-F238E27FC236}">
                <a16:creationId xmlns:a16="http://schemas.microsoft.com/office/drawing/2014/main" id="{AA8B28BB-086A-BF37-F0CE-9FD1C9EDB920}"/>
              </a:ext>
            </a:extLst>
          </p:cNvPr>
          <p:cNvSpPr txBox="1"/>
          <p:nvPr/>
        </p:nvSpPr>
        <p:spPr>
          <a:xfrm>
            <a:off x="1804528" y="1240622"/>
            <a:ext cx="72138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GOGAT</a:t>
            </a:r>
            <a:endParaRPr lang="es-ES" sz="11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711" name="Conector: curvado 1710">
            <a:extLst>
              <a:ext uri="{FF2B5EF4-FFF2-40B4-BE49-F238E27FC236}">
                <a16:creationId xmlns:a16="http://schemas.microsoft.com/office/drawing/2014/main" id="{A80447E5-DF45-8615-2BF4-F0CD08D72D27}"/>
              </a:ext>
            </a:extLst>
          </p:cNvPr>
          <p:cNvCxnSpPr>
            <a:cxnSpLocks/>
            <a:stCxn id="1640" idx="3"/>
            <a:endCxn id="1642" idx="3"/>
          </p:cNvCxnSpPr>
          <p:nvPr/>
        </p:nvCxnSpPr>
        <p:spPr>
          <a:xfrm flipH="1">
            <a:off x="3077738" y="729938"/>
            <a:ext cx="16743" cy="1239530"/>
          </a:xfrm>
          <a:prstGeom prst="curvedConnector3">
            <a:avLst>
              <a:gd name="adj1" fmla="val -1952589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19" name="Conector: curvado 1718">
            <a:extLst>
              <a:ext uri="{FF2B5EF4-FFF2-40B4-BE49-F238E27FC236}">
                <a16:creationId xmlns:a16="http://schemas.microsoft.com/office/drawing/2014/main" id="{1B656F1B-CB93-6D76-50E3-25EB0D4CC35A}"/>
              </a:ext>
            </a:extLst>
          </p:cNvPr>
          <p:cNvCxnSpPr>
            <a:cxnSpLocks/>
            <a:stCxn id="1594" idx="1"/>
          </p:cNvCxnSpPr>
          <p:nvPr/>
        </p:nvCxnSpPr>
        <p:spPr>
          <a:xfrm rot="10800000" flipV="1">
            <a:off x="3402980" y="991904"/>
            <a:ext cx="69861" cy="205320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28" name="CuadroTexto 1727">
            <a:extLst>
              <a:ext uri="{FF2B5EF4-FFF2-40B4-BE49-F238E27FC236}">
                <a16:creationId xmlns:a16="http://schemas.microsoft.com/office/drawing/2014/main" id="{ABCFFFEE-87C9-B14D-D4AE-58C08A25DB08}"/>
              </a:ext>
            </a:extLst>
          </p:cNvPr>
          <p:cNvSpPr txBox="1"/>
          <p:nvPr/>
        </p:nvSpPr>
        <p:spPr>
          <a:xfrm>
            <a:off x="771854" y="2295555"/>
            <a:ext cx="83561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Proteínas de la dieta</a:t>
            </a:r>
            <a:endParaRPr lang="es-ES" sz="11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29" name="CuadroTexto 1728">
            <a:extLst>
              <a:ext uri="{FF2B5EF4-FFF2-40B4-BE49-F238E27FC236}">
                <a16:creationId xmlns:a16="http://schemas.microsoft.com/office/drawing/2014/main" id="{796E9A5E-4AE3-2958-466F-7DF5FEEA8E23}"/>
              </a:ext>
            </a:extLst>
          </p:cNvPr>
          <p:cNvSpPr txBox="1"/>
          <p:nvPr/>
        </p:nvSpPr>
        <p:spPr>
          <a:xfrm>
            <a:off x="1910809" y="2295555"/>
            <a:ext cx="123897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Ácidos nucleicos de la dieta</a:t>
            </a:r>
            <a:endParaRPr lang="es-ES" sz="11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30" name="CuadroTexto 1729">
            <a:extLst>
              <a:ext uri="{FF2B5EF4-FFF2-40B4-BE49-F238E27FC236}">
                <a16:creationId xmlns:a16="http://schemas.microsoft.com/office/drawing/2014/main" id="{3AAFA36A-CA34-BC24-14B3-62541CB7CE9B}"/>
              </a:ext>
            </a:extLst>
          </p:cNvPr>
          <p:cNvSpPr txBox="1"/>
          <p:nvPr/>
        </p:nvSpPr>
        <p:spPr>
          <a:xfrm>
            <a:off x="3198921" y="2375774"/>
            <a:ext cx="123897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Turnover</a:t>
            </a:r>
            <a:endParaRPr lang="es-ES" sz="11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31" name="CuadroTexto 1730">
            <a:extLst>
              <a:ext uri="{FF2B5EF4-FFF2-40B4-BE49-F238E27FC236}">
                <a16:creationId xmlns:a16="http://schemas.microsoft.com/office/drawing/2014/main" id="{281B573F-7AEF-19C9-34EC-E108C143CCF6}"/>
              </a:ext>
            </a:extLst>
          </p:cNvPr>
          <p:cNvSpPr txBox="1"/>
          <p:nvPr/>
        </p:nvSpPr>
        <p:spPr>
          <a:xfrm>
            <a:off x="61789" y="2375774"/>
            <a:ext cx="83561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b="1" dirty="0">
                <a:latin typeface="Arial" panose="020B0604020202020204" pitchFamily="34" charset="0"/>
                <a:cs typeface="Arial" panose="020B0604020202020204" pitchFamily="34" charset="0"/>
              </a:rPr>
              <a:t>Fuentes</a:t>
            </a:r>
            <a:endParaRPr lang="es-ES" sz="1100" b="1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32" name="CuadroTexto 1731">
            <a:extLst>
              <a:ext uri="{FF2B5EF4-FFF2-40B4-BE49-F238E27FC236}">
                <a16:creationId xmlns:a16="http://schemas.microsoft.com/office/drawing/2014/main" id="{80C6FA81-1EF3-96E5-416C-43F8ABC17E21}"/>
              </a:ext>
            </a:extLst>
          </p:cNvPr>
          <p:cNvSpPr txBox="1"/>
          <p:nvPr/>
        </p:nvSpPr>
        <p:spPr>
          <a:xfrm>
            <a:off x="749374" y="2814928"/>
            <a:ext cx="177563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b="1" i="1" dirty="0">
                <a:latin typeface="Arial" panose="020B0604020202020204" pitchFamily="34" charset="0"/>
                <a:cs typeface="Arial" panose="020B0604020202020204" pitchFamily="34" charset="0"/>
              </a:rPr>
              <a:t>Transaminación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 (Transaminasas)-Asimilación y recolección</a:t>
            </a:r>
          </a:p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Citosol</a:t>
            </a:r>
          </a:p>
        </p:txBody>
      </p:sp>
      <p:sp>
        <p:nvSpPr>
          <p:cNvPr id="1733" name="CuadroTexto 1732">
            <a:extLst>
              <a:ext uri="{FF2B5EF4-FFF2-40B4-BE49-F238E27FC236}">
                <a16:creationId xmlns:a16="http://schemas.microsoft.com/office/drawing/2014/main" id="{2941ECC6-55C9-1599-DCE1-A282E84FEE0E}"/>
              </a:ext>
            </a:extLst>
          </p:cNvPr>
          <p:cNvSpPr txBox="1"/>
          <p:nvPr/>
        </p:nvSpPr>
        <p:spPr>
          <a:xfrm>
            <a:off x="2403095" y="2816529"/>
            <a:ext cx="177563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b="1" i="1" dirty="0">
                <a:latin typeface="Arial" panose="020B0604020202020204" pitchFamily="34" charset="0"/>
                <a:cs typeface="Arial" panose="020B0604020202020204" pitchFamily="34" charset="0"/>
              </a:rPr>
              <a:t>Glutamato deshidrogenasa 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(Entrada/salida de NH</a:t>
            </a:r>
            <a:r>
              <a:rPr lang="es-ES" sz="1100" baseline="-250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s-ES" sz="1100" baseline="30000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Mitocondria</a:t>
            </a:r>
          </a:p>
        </p:txBody>
      </p:sp>
      <p:sp>
        <p:nvSpPr>
          <p:cNvPr id="1734" name="CuadroTexto 1733">
            <a:extLst>
              <a:ext uri="{FF2B5EF4-FFF2-40B4-BE49-F238E27FC236}">
                <a16:creationId xmlns:a16="http://schemas.microsoft.com/office/drawing/2014/main" id="{61F77F57-AE44-B768-38E0-66DBDDFB431A}"/>
              </a:ext>
            </a:extLst>
          </p:cNvPr>
          <p:cNvSpPr txBox="1"/>
          <p:nvPr/>
        </p:nvSpPr>
        <p:spPr>
          <a:xfrm>
            <a:off x="253016" y="3766196"/>
            <a:ext cx="113929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sz="1100" dirty="0">
                <a:latin typeface="Arial" panose="020B0604020202020204" pitchFamily="34" charset="0"/>
                <a:cs typeface="Arial" panose="020B0604020202020204" pitchFamily="34" charset="0"/>
              </a:rPr>
              <a:t>α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cetoglutarato</a:t>
            </a:r>
            <a:endParaRPr lang="es-ES" sz="11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35" name="CuadroTexto 1734">
            <a:extLst>
              <a:ext uri="{FF2B5EF4-FFF2-40B4-BE49-F238E27FC236}">
                <a16:creationId xmlns:a16="http://schemas.microsoft.com/office/drawing/2014/main" id="{9D829918-74D7-954D-4683-EA0DFC91188F}"/>
              </a:ext>
            </a:extLst>
          </p:cNvPr>
          <p:cNvSpPr txBox="1"/>
          <p:nvPr/>
        </p:nvSpPr>
        <p:spPr>
          <a:xfrm>
            <a:off x="1905745" y="3766196"/>
            <a:ext cx="113929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L-glutamato</a:t>
            </a:r>
            <a:endParaRPr lang="es-ES" sz="11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36" name="CuadroTexto 1735">
            <a:extLst>
              <a:ext uri="{FF2B5EF4-FFF2-40B4-BE49-F238E27FC236}">
                <a16:creationId xmlns:a16="http://schemas.microsoft.com/office/drawing/2014/main" id="{1E50D7D5-12CE-6EF7-2748-86A5EF6D2E72}"/>
              </a:ext>
            </a:extLst>
          </p:cNvPr>
          <p:cNvSpPr txBox="1"/>
          <p:nvPr/>
        </p:nvSpPr>
        <p:spPr>
          <a:xfrm>
            <a:off x="253015" y="4661546"/>
            <a:ext cx="113929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L-aminoácidos</a:t>
            </a:r>
            <a:endParaRPr lang="es-ES" sz="11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37" name="CuadroTexto 1736">
            <a:extLst>
              <a:ext uri="{FF2B5EF4-FFF2-40B4-BE49-F238E27FC236}">
                <a16:creationId xmlns:a16="http://schemas.microsoft.com/office/drawing/2014/main" id="{BC236112-12D6-17CB-3596-30A026C422F6}"/>
              </a:ext>
            </a:extLst>
          </p:cNvPr>
          <p:cNvSpPr txBox="1"/>
          <p:nvPr/>
        </p:nvSpPr>
        <p:spPr>
          <a:xfrm>
            <a:off x="1905745" y="4661546"/>
            <a:ext cx="113929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sz="1100" dirty="0">
                <a:latin typeface="Arial" panose="020B0604020202020204" pitchFamily="34" charset="0"/>
                <a:cs typeface="Arial" panose="020B0604020202020204" pitchFamily="34" charset="0"/>
              </a:rPr>
              <a:t>α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-cetoácidos</a:t>
            </a:r>
            <a:endParaRPr lang="es-ES" sz="11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738" name="Conector: curvado 1737">
            <a:extLst>
              <a:ext uri="{FF2B5EF4-FFF2-40B4-BE49-F238E27FC236}">
                <a16:creationId xmlns:a16="http://schemas.microsoft.com/office/drawing/2014/main" id="{E22DBF0B-DE0D-0AD4-3922-730F10617140}"/>
              </a:ext>
            </a:extLst>
          </p:cNvPr>
          <p:cNvCxnSpPr>
            <a:cxnSpLocks/>
            <a:stCxn id="1734" idx="2"/>
            <a:endCxn id="1735" idx="2"/>
          </p:cNvCxnSpPr>
          <p:nvPr/>
        </p:nvCxnSpPr>
        <p:spPr>
          <a:xfrm rot="16200000" flipH="1">
            <a:off x="1649030" y="3201441"/>
            <a:ext cx="12700" cy="1652729"/>
          </a:xfrm>
          <a:prstGeom prst="curvedConnector3">
            <a:avLst>
              <a:gd name="adj1" fmla="val 2643748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41" name="Conector: curvado 1740">
            <a:extLst>
              <a:ext uri="{FF2B5EF4-FFF2-40B4-BE49-F238E27FC236}">
                <a16:creationId xmlns:a16="http://schemas.microsoft.com/office/drawing/2014/main" id="{0E6D1D28-397F-4C36-D321-29BDD825B714}"/>
              </a:ext>
            </a:extLst>
          </p:cNvPr>
          <p:cNvCxnSpPr>
            <a:cxnSpLocks/>
            <a:stCxn id="1736" idx="0"/>
            <a:endCxn id="1737" idx="0"/>
          </p:cNvCxnSpPr>
          <p:nvPr/>
        </p:nvCxnSpPr>
        <p:spPr>
          <a:xfrm rot="5400000" flipH="1" flipV="1">
            <a:off x="1649030" y="3835181"/>
            <a:ext cx="12700" cy="1652730"/>
          </a:xfrm>
          <a:prstGeom prst="curvedConnector3">
            <a:avLst>
              <a:gd name="adj1" fmla="val 2418748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46" name="CuadroTexto 1745">
            <a:extLst>
              <a:ext uri="{FF2B5EF4-FFF2-40B4-BE49-F238E27FC236}">
                <a16:creationId xmlns:a16="http://schemas.microsoft.com/office/drawing/2014/main" id="{4CE39120-5E27-DCE0-31C7-44E06A2D7A48}"/>
              </a:ext>
            </a:extLst>
          </p:cNvPr>
          <p:cNvSpPr txBox="1"/>
          <p:nvPr/>
        </p:nvSpPr>
        <p:spPr>
          <a:xfrm>
            <a:off x="983168" y="4400341"/>
            <a:ext cx="138604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Aminotransferasas</a:t>
            </a:r>
            <a:endParaRPr lang="es-ES" sz="11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47" name="CuadroTexto 1746">
            <a:extLst>
              <a:ext uri="{FF2B5EF4-FFF2-40B4-BE49-F238E27FC236}">
                <a16:creationId xmlns:a16="http://schemas.microsoft.com/office/drawing/2014/main" id="{9F34EBEC-1C5F-6DC2-C6F8-87201705D683}"/>
              </a:ext>
            </a:extLst>
          </p:cNvPr>
          <p:cNvSpPr txBox="1"/>
          <p:nvPr/>
        </p:nvSpPr>
        <p:spPr>
          <a:xfrm>
            <a:off x="4135355" y="3764926"/>
            <a:ext cx="9531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L-glutamato</a:t>
            </a:r>
            <a:endParaRPr lang="es-ES" sz="11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48" name="CuadroTexto 1747">
            <a:extLst>
              <a:ext uri="{FF2B5EF4-FFF2-40B4-BE49-F238E27FC236}">
                <a16:creationId xmlns:a16="http://schemas.microsoft.com/office/drawing/2014/main" id="{A4E0AA3B-EF9D-2F5C-8C23-B4FA81720943}"/>
              </a:ext>
            </a:extLst>
          </p:cNvPr>
          <p:cNvSpPr txBox="1"/>
          <p:nvPr/>
        </p:nvSpPr>
        <p:spPr>
          <a:xfrm>
            <a:off x="4064799" y="4669008"/>
            <a:ext cx="113929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sz="1100" dirty="0">
                <a:latin typeface="Arial" panose="020B0604020202020204" pitchFamily="34" charset="0"/>
                <a:cs typeface="Arial" panose="020B0604020202020204" pitchFamily="34" charset="0"/>
              </a:rPr>
              <a:t>α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cetoglutarato</a:t>
            </a:r>
            <a:endParaRPr lang="es-ES" sz="11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754" name="Conector recto de flecha 1753">
            <a:extLst>
              <a:ext uri="{FF2B5EF4-FFF2-40B4-BE49-F238E27FC236}">
                <a16:creationId xmlns:a16="http://schemas.microsoft.com/office/drawing/2014/main" id="{FB83D85D-F91C-A3CD-11EB-16323068556D}"/>
              </a:ext>
            </a:extLst>
          </p:cNvPr>
          <p:cNvCxnSpPr>
            <a:cxnSpLocks/>
            <a:stCxn id="1735" idx="3"/>
            <a:endCxn id="1747" idx="1"/>
          </p:cNvCxnSpPr>
          <p:nvPr/>
        </p:nvCxnSpPr>
        <p:spPr>
          <a:xfrm flipV="1">
            <a:off x="3045044" y="3895731"/>
            <a:ext cx="1090311" cy="1270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57" name="Conector recto de flecha 1756">
            <a:extLst>
              <a:ext uri="{FF2B5EF4-FFF2-40B4-BE49-F238E27FC236}">
                <a16:creationId xmlns:a16="http://schemas.microsoft.com/office/drawing/2014/main" id="{C8A7D959-293F-85EB-4F67-D42B3833B1C5}"/>
              </a:ext>
            </a:extLst>
          </p:cNvPr>
          <p:cNvCxnSpPr>
            <a:cxnSpLocks/>
            <a:stCxn id="1748" idx="1"/>
            <a:endCxn id="1734" idx="2"/>
          </p:cNvCxnSpPr>
          <p:nvPr/>
        </p:nvCxnSpPr>
        <p:spPr>
          <a:xfrm flipH="1" flipV="1">
            <a:off x="822666" y="4027806"/>
            <a:ext cx="3242133" cy="772007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60" name="Abrir llave 1759">
            <a:extLst>
              <a:ext uri="{FF2B5EF4-FFF2-40B4-BE49-F238E27FC236}">
                <a16:creationId xmlns:a16="http://schemas.microsoft.com/office/drawing/2014/main" id="{C4AB4ED3-E0F6-992F-5C7D-7B372731FFF1}"/>
              </a:ext>
            </a:extLst>
          </p:cNvPr>
          <p:cNvSpPr/>
          <p:nvPr/>
        </p:nvSpPr>
        <p:spPr>
          <a:xfrm rot="16200000">
            <a:off x="2373860" y="1534941"/>
            <a:ext cx="257799" cy="2554155"/>
          </a:xfrm>
          <a:prstGeom prst="lef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762" name="CuadroTexto 1761">
            <a:extLst>
              <a:ext uri="{FF2B5EF4-FFF2-40B4-BE49-F238E27FC236}">
                <a16:creationId xmlns:a16="http://schemas.microsoft.com/office/drawing/2014/main" id="{03D41D5F-424C-27D7-A413-68F1BEBE7CB4}"/>
              </a:ext>
            </a:extLst>
          </p:cNvPr>
          <p:cNvSpPr txBox="1"/>
          <p:nvPr/>
        </p:nvSpPr>
        <p:spPr>
          <a:xfrm>
            <a:off x="5521975" y="3759845"/>
            <a:ext cx="7228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Piruvato</a:t>
            </a:r>
            <a:endParaRPr lang="es-ES" sz="11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63" name="CuadroTexto 1762">
            <a:extLst>
              <a:ext uri="{FF2B5EF4-FFF2-40B4-BE49-F238E27FC236}">
                <a16:creationId xmlns:a16="http://schemas.microsoft.com/office/drawing/2014/main" id="{831DDC38-39B7-C043-BDEA-F2128CF0F205}"/>
              </a:ext>
            </a:extLst>
          </p:cNvPr>
          <p:cNvSpPr txBox="1"/>
          <p:nvPr/>
        </p:nvSpPr>
        <p:spPr>
          <a:xfrm>
            <a:off x="5558672" y="4669008"/>
            <a:ext cx="6666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Alanina</a:t>
            </a:r>
            <a:endParaRPr lang="es-ES" sz="11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64" name="CuadroTexto 1763">
            <a:extLst>
              <a:ext uri="{FF2B5EF4-FFF2-40B4-BE49-F238E27FC236}">
                <a16:creationId xmlns:a16="http://schemas.microsoft.com/office/drawing/2014/main" id="{BB8B0E61-7C25-F193-9465-4CF681799EB6}"/>
              </a:ext>
            </a:extLst>
          </p:cNvPr>
          <p:cNvSpPr txBox="1"/>
          <p:nvPr/>
        </p:nvSpPr>
        <p:spPr>
          <a:xfrm>
            <a:off x="6588848" y="2467358"/>
            <a:ext cx="98056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Proteínas del músculo</a:t>
            </a:r>
            <a:endParaRPr lang="es-ES" sz="11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65" name="CuadroTexto 1764">
            <a:extLst>
              <a:ext uri="{FF2B5EF4-FFF2-40B4-BE49-F238E27FC236}">
                <a16:creationId xmlns:a16="http://schemas.microsoft.com/office/drawing/2014/main" id="{74702732-940F-47FF-5830-6265A92A4DC4}"/>
              </a:ext>
            </a:extLst>
          </p:cNvPr>
          <p:cNvSpPr txBox="1"/>
          <p:nvPr/>
        </p:nvSpPr>
        <p:spPr>
          <a:xfrm>
            <a:off x="5960315" y="3147509"/>
            <a:ext cx="106889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Aminoácidos</a:t>
            </a:r>
            <a:endParaRPr lang="es-ES" sz="11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67" name="CuadroTexto 1766">
            <a:extLst>
              <a:ext uri="{FF2B5EF4-FFF2-40B4-BE49-F238E27FC236}">
                <a16:creationId xmlns:a16="http://schemas.microsoft.com/office/drawing/2014/main" id="{0FC4A0F3-BB3C-67C2-90CC-DD499BAB737D}"/>
              </a:ext>
            </a:extLst>
          </p:cNvPr>
          <p:cNvSpPr txBox="1"/>
          <p:nvPr/>
        </p:nvSpPr>
        <p:spPr>
          <a:xfrm>
            <a:off x="5301089" y="3447139"/>
            <a:ext cx="51904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NH</a:t>
            </a:r>
            <a:r>
              <a:rPr lang="es-ES" sz="1100" baseline="-250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s-ES" sz="1100" baseline="30000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</a:p>
        </p:txBody>
      </p:sp>
      <p:sp>
        <p:nvSpPr>
          <p:cNvPr id="1768" name="CuadroTexto 1767">
            <a:extLst>
              <a:ext uri="{FF2B5EF4-FFF2-40B4-BE49-F238E27FC236}">
                <a16:creationId xmlns:a16="http://schemas.microsoft.com/office/drawing/2014/main" id="{0C1324E3-89A4-9E42-5AC6-CCD0115F576F}"/>
              </a:ext>
            </a:extLst>
          </p:cNvPr>
          <p:cNvSpPr txBox="1"/>
          <p:nvPr/>
        </p:nvSpPr>
        <p:spPr>
          <a:xfrm>
            <a:off x="6841542" y="3758575"/>
            <a:ext cx="7228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Glucosa</a:t>
            </a:r>
            <a:endParaRPr lang="es-ES" sz="11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769" name="Conector recto de flecha 1768">
            <a:extLst>
              <a:ext uri="{FF2B5EF4-FFF2-40B4-BE49-F238E27FC236}">
                <a16:creationId xmlns:a16="http://schemas.microsoft.com/office/drawing/2014/main" id="{35519ED3-48E9-43D2-D289-3EB5EB58DE45}"/>
              </a:ext>
            </a:extLst>
          </p:cNvPr>
          <p:cNvCxnSpPr>
            <a:cxnSpLocks/>
            <a:stCxn id="1768" idx="1"/>
            <a:endCxn id="1762" idx="3"/>
          </p:cNvCxnSpPr>
          <p:nvPr/>
        </p:nvCxnSpPr>
        <p:spPr>
          <a:xfrm flipH="1">
            <a:off x="6244835" y="3889380"/>
            <a:ext cx="596707" cy="1270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72" name="CuadroTexto 1771">
            <a:extLst>
              <a:ext uri="{FF2B5EF4-FFF2-40B4-BE49-F238E27FC236}">
                <a16:creationId xmlns:a16="http://schemas.microsoft.com/office/drawing/2014/main" id="{6A72756D-D910-7D0C-E495-CF02A73D4A47}"/>
              </a:ext>
            </a:extLst>
          </p:cNvPr>
          <p:cNvSpPr txBox="1"/>
          <p:nvPr/>
        </p:nvSpPr>
        <p:spPr>
          <a:xfrm>
            <a:off x="6070093" y="3896524"/>
            <a:ext cx="106889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Glucólisis</a:t>
            </a:r>
            <a:endParaRPr lang="es-ES" sz="11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785" name="Conector: curvado 1784">
            <a:extLst>
              <a:ext uri="{FF2B5EF4-FFF2-40B4-BE49-F238E27FC236}">
                <a16:creationId xmlns:a16="http://schemas.microsoft.com/office/drawing/2014/main" id="{6EA5F17D-F140-6F40-8086-9DA7087B26C8}"/>
              </a:ext>
            </a:extLst>
          </p:cNvPr>
          <p:cNvCxnSpPr>
            <a:stCxn id="1762" idx="1"/>
            <a:endCxn id="1763" idx="1"/>
          </p:cNvCxnSpPr>
          <p:nvPr/>
        </p:nvCxnSpPr>
        <p:spPr>
          <a:xfrm rot="10800000" flipH="1" flipV="1">
            <a:off x="5521974" y="3890649"/>
            <a:ext cx="36697" cy="909163"/>
          </a:xfrm>
          <a:prstGeom prst="curvedConnector3">
            <a:avLst>
              <a:gd name="adj1" fmla="val -506137"/>
            </a:avLst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86" name="Conector: curvado 1785">
            <a:extLst>
              <a:ext uri="{FF2B5EF4-FFF2-40B4-BE49-F238E27FC236}">
                <a16:creationId xmlns:a16="http://schemas.microsoft.com/office/drawing/2014/main" id="{CB7639CD-9F3A-3385-22AB-6421019C2A1B}"/>
              </a:ext>
            </a:extLst>
          </p:cNvPr>
          <p:cNvCxnSpPr>
            <a:cxnSpLocks/>
            <a:stCxn id="1747" idx="3"/>
            <a:endCxn id="1748" idx="3"/>
          </p:cNvCxnSpPr>
          <p:nvPr/>
        </p:nvCxnSpPr>
        <p:spPr>
          <a:xfrm>
            <a:off x="5088527" y="3895731"/>
            <a:ext cx="115571" cy="904082"/>
          </a:xfrm>
          <a:prstGeom prst="curvedConnector3">
            <a:avLst>
              <a:gd name="adj1" fmla="val 217443"/>
            </a:avLst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93" name="Conector: angular 1792">
            <a:extLst>
              <a:ext uri="{FF2B5EF4-FFF2-40B4-BE49-F238E27FC236}">
                <a16:creationId xmlns:a16="http://schemas.microsoft.com/office/drawing/2014/main" id="{06F787C4-69FF-91DA-A1DA-2040A0CA16CD}"/>
              </a:ext>
            </a:extLst>
          </p:cNvPr>
          <p:cNvCxnSpPr>
            <a:cxnSpLocks/>
            <a:stCxn id="1764" idx="2"/>
            <a:endCxn id="1765" idx="0"/>
          </p:cNvCxnSpPr>
          <p:nvPr/>
        </p:nvCxnSpPr>
        <p:spPr>
          <a:xfrm rot="5400000">
            <a:off x="6662315" y="2730692"/>
            <a:ext cx="249264" cy="584371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96" name="Conector: angular 1795">
            <a:extLst>
              <a:ext uri="{FF2B5EF4-FFF2-40B4-BE49-F238E27FC236}">
                <a16:creationId xmlns:a16="http://schemas.microsoft.com/office/drawing/2014/main" id="{535C6C0B-3DCE-BD99-FDFC-85E6068AA9EA}"/>
              </a:ext>
            </a:extLst>
          </p:cNvPr>
          <p:cNvCxnSpPr>
            <a:cxnSpLocks/>
            <a:stCxn id="1765" idx="1"/>
            <a:endCxn id="1767" idx="0"/>
          </p:cNvCxnSpPr>
          <p:nvPr/>
        </p:nvCxnSpPr>
        <p:spPr>
          <a:xfrm rot="10800000" flipV="1">
            <a:off x="5560611" y="3278313"/>
            <a:ext cx="399705" cy="168825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03" name="Conector: angular 1802">
            <a:extLst>
              <a:ext uri="{FF2B5EF4-FFF2-40B4-BE49-F238E27FC236}">
                <a16:creationId xmlns:a16="http://schemas.microsoft.com/office/drawing/2014/main" id="{C46F37AB-55DA-9097-871A-CC539A6B2E78}"/>
              </a:ext>
            </a:extLst>
          </p:cNvPr>
          <p:cNvCxnSpPr>
            <a:cxnSpLocks/>
            <a:stCxn id="1767" idx="1"/>
            <a:endCxn id="1747" idx="0"/>
          </p:cNvCxnSpPr>
          <p:nvPr/>
        </p:nvCxnSpPr>
        <p:spPr>
          <a:xfrm rot="10800000" flipV="1">
            <a:off x="4611941" y="3577944"/>
            <a:ext cx="689148" cy="18698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08" name="Rectángulo 1807">
            <a:extLst>
              <a:ext uri="{FF2B5EF4-FFF2-40B4-BE49-F238E27FC236}">
                <a16:creationId xmlns:a16="http://schemas.microsoft.com/office/drawing/2014/main" id="{AED1801B-A86A-09E6-20F2-BDA80BD32B6A}"/>
              </a:ext>
            </a:extLst>
          </p:cNvPr>
          <p:cNvSpPr/>
          <p:nvPr/>
        </p:nvSpPr>
        <p:spPr>
          <a:xfrm>
            <a:off x="4135354" y="2467358"/>
            <a:ext cx="3374581" cy="2450718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809" name="CuadroTexto 1808">
            <a:extLst>
              <a:ext uri="{FF2B5EF4-FFF2-40B4-BE49-F238E27FC236}">
                <a16:creationId xmlns:a16="http://schemas.microsoft.com/office/drawing/2014/main" id="{A21BFE51-63D1-476B-FA3E-0FA61A39791F}"/>
              </a:ext>
            </a:extLst>
          </p:cNvPr>
          <p:cNvSpPr txBox="1"/>
          <p:nvPr/>
        </p:nvSpPr>
        <p:spPr>
          <a:xfrm>
            <a:off x="3871422" y="2474682"/>
            <a:ext cx="123897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b="1" dirty="0">
                <a:latin typeface="Arial" panose="020B0604020202020204" pitchFamily="34" charset="0"/>
                <a:cs typeface="Arial" panose="020B0604020202020204" pitchFamily="34" charset="0"/>
              </a:rPr>
              <a:t>Músculo</a:t>
            </a:r>
            <a:endParaRPr lang="es-ES" sz="1100" b="1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13" name="CuadroTexto 1812">
            <a:extLst>
              <a:ext uri="{FF2B5EF4-FFF2-40B4-BE49-F238E27FC236}">
                <a16:creationId xmlns:a16="http://schemas.microsoft.com/office/drawing/2014/main" id="{FA4D53F5-7B15-90B5-BC28-6BE467263E6D}"/>
              </a:ext>
            </a:extLst>
          </p:cNvPr>
          <p:cNvSpPr txBox="1"/>
          <p:nvPr/>
        </p:nvSpPr>
        <p:spPr>
          <a:xfrm>
            <a:off x="5596275" y="6428618"/>
            <a:ext cx="73312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Piruvato</a:t>
            </a:r>
            <a:endParaRPr lang="es-ES" sz="11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20" name="CuadroTexto 1819">
            <a:extLst>
              <a:ext uri="{FF2B5EF4-FFF2-40B4-BE49-F238E27FC236}">
                <a16:creationId xmlns:a16="http://schemas.microsoft.com/office/drawing/2014/main" id="{2956A50E-4886-7E9D-4F9D-37A695F3E644}"/>
              </a:ext>
            </a:extLst>
          </p:cNvPr>
          <p:cNvSpPr txBox="1"/>
          <p:nvPr/>
        </p:nvSpPr>
        <p:spPr>
          <a:xfrm>
            <a:off x="4178732" y="5524669"/>
            <a:ext cx="9531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L-glutamato</a:t>
            </a:r>
            <a:endParaRPr lang="es-ES" sz="11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21" name="CuadroTexto 1820">
            <a:extLst>
              <a:ext uri="{FF2B5EF4-FFF2-40B4-BE49-F238E27FC236}">
                <a16:creationId xmlns:a16="http://schemas.microsoft.com/office/drawing/2014/main" id="{C8DB64C0-04B4-7CA6-5AFB-F1ACDF9DD456}"/>
              </a:ext>
            </a:extLst>
          </p:cNvPr>
          <p:cNvSpPr txBox="1"/>
          <p:nvPr/>
        </p:nvSpPr>
        <p:spPr>
          <a:xfrm>
            <a:off x="5562771" y="5512127"/>
            <a:ext cx="7228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Alanina</a:t>
            </a:r>
            <a:endParaRPr lang="es-ES" sz="11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822" name="Conector: curvado 1821">
            <a:extLst>
              <a:ext uri="{FF2B5EF4-FFF2-40B4-BE49-F238E27FC236}">
                <a16:creationId xmlns:a16="http://schemas.microsoft.com/office/drawing/2014/main" id="{024BFAAA-7117-562E-7C5D-D24831EAECF9}"/>
              </a:ext>
            </a:extLst>
          </p:cNvPr>
          <p:cNvCxnSpPr>
            <a:stCxn id="1821" idx="1"/>
          </p:cNvCxnSpPr>
          <p:nvPr/>
        </p:nvCxnSpPr>
        <p:spPr>
          <a:xfrm rot="10800000" flipH="1" flipV="1">
            <a:off x="5562770" y="5642931"/>
            <a:ext cx="36697" cy="909163"/>
          </a:xfrm>
          <a:prstGeom prst="curvedConnector3">
            <a:avLst>
              <a:gd name="adj1" fmla="val -506137"/>
            </a:avLst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23" name="Conector: curvado 1822">
            <a:extLst>
              <a:ext uri="{FF2B5EF4-FFF2-40B4-BE49-F238E27FC236}">
                <a16:creationId xmlns:a16="http://schemas.microsoft.com/office/drawing/2014/main" id="{76458927-416A-83B2-8CC9-27ABF21F62CC}"/>
              </a:ext>
            </a:extLst>
          </p:cNvPr>
          <p:cNvCxnSpPr>
            <a:cxnSpLocks/>
            <a:stCxn id="1820" idx="3"/>
          </p:cNvCxnSpPr>
          <p:nvPr/>
        </p:nvCxnSpPr>
        <p:spPr>
          <a:xfrm>
            <a:off x="5131904" y="5655474"/>
            <a:ext cx="115571" cy="904082"/>
          </a:xfrm>
          <a:prstGeom prst="curvedConnector3">
            <a:avLst>
              <a:gd name="adj1" fmla="val 217443"/>
            </a:avLst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24" name="CuadroTexto 1823">
            <a:extLst>
              <a:ext uri="{FF2B5EF4-FFF2-40B4-BE49-F238E27FC236}">
                <a16:creationId xmlns:a16="http://schemas.microsoft.com/office/drawing/2014/main" id="{316FA6E9-205D-2EC2-1A18-30421F03F146}"/>
              </a:ext>
            </a:extLst>
          </p:cNvPr>
          <p:cNvSpPr txBox="1"/>
          <p:nvPr/>
        </p:nvSpPr>
        <p:spPr>
          <a:xfrm>
            <a:off x="4109924" y="6428618"/>
            <a:ext cx="113929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sz="1100" dirty="0">
                <a:latin typeface="Arial" panose="020B0604020202020204" pitchFamily="34" charset="0"/>
                <a:cs typeface="Arial" panose="020B0604020202020204" pitchFamily="34" charset="0"/>
              </a:rPr>
              <a:t>α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cetoglutarato</a:t>
            </a:r>
            <a:endParaRPr lang="es-ES" sz="11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25" name="CuadroTexto 1824">
            <a:extLst>
              <a:ext uri="{FF2B5EF4-FFF2-40B4-BE49-F238E27FC236}">
                <a16:creationId xmlns:a16="http://schemas.microsoft.com/office/drawing/2014/main" id="{35E6AEAC-F365-2140-8091-4622808C0C23}"/>
              </a:ext>
            </a:extLst>
          </p:cNvPr>
          <p:cNvSpPr txBox="1"/>
          <p:nvPr/>
        </p:nvSpPr>
        <p:spPr>
          <a:xfrm>
            <a:off x="5295651" y="4129786"/>
            <a:ext cx="129319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Alanina aminotransferasa</a:t>
            </a:r>
            <a:endParaRPr lang="es-ES" sz="11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26" name="CuadroTexto 1825">
            <a:extLst>
              <a:ext uri="{FF2B5EF4-FFF2-40B4-BE49-F238E27FC236}">
                <a16:creationId xmlns:a16="http://schemas.microsoft.com/office/drawing/2014/main" id="{E93FD758-2130-F839-C7D4-3BDF6A6E54A7}"/>
              </a:ext>
            </a:extLst>
          </p:cNvPr>
          <p:cNvSpPr txBox="1"/>
          <p:nvPr/>
        </p:nvSpPr>
        <p:spPr>
          <a:xfrm>
            <a:off x="5341893" y="5897857"/>
            <a:ext cx="129319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Alanina aminotransferasa</a:t>
            </a:r>
            <a:endParaRPr lang="es-ES" sz="11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27" name="CuadroTexto 1826">
            <a:extLst>
              <a:ext uri="{FF2B5EF4-FFF2-40B4-BE49-F238E27FC236}">
                <a16:creationId xmlns:a16="http://schemas.microsoft.com/office/drawing/2014/main" id="{F879D397-355B-CAAE-A064-EB1A6D5084FE}"/>
              </a:ext>
            </a:extLst>
          </p:cNvPr>
          <p:cNvSpPr txBox="1"/>
          <p:nvPr/>
        </p:nvSpPr>
        <p:spPr>
          <a:xfrm>
            <a:off x="4893158" y="5084296"/>
            <a:ext cx="14062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Alanina en sangre</a:t>
            </a:r>
            <a:endParaRPr lang="es-ES" sz="11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28" name="CuadroTexto 1827">
            <a:extLst>
              <a:ext uri="{FF2B5EF4-FFF2-40B4-BE49-F238E27FC236}">
                <a16:creationId xmlns:a16="http://schemas.microsoft.com/office/drawing/2014/main" id="{C5770B90-DA52-E6A6-1CC9-F1F0C36EB882}"/>
              </a:ext>
            </a:extLst>
          </p:cNvPr>
          <p:cNvSpPr txBox="1"/>
          <p:nvPr/>
        </p:nvSpPr>
        <p:spPr>
          <a:xfrm>
            <a:off x="6220425" y="5077152"/>
            <a:ext cx="14062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Glucosa en sangre</a:t>
            </a:r>
            <a:endParaRPr lang="es-ES" sz="11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29" name="CuadroTexto 1828">
            <a:extLst>
              <a:ext uri="{FF2B5EF4-FFF2-40B4-BE49-F238E27FC236}">
                <a16:creationId xmlns:a16="http://schemas.microsoft.com/office/drawing/2014/main" id="{B5827EA3-E60B-2C3D-D447-BED13658A6AE}"/>
              </a:ext>
            </a:extLst>
          </p:cNvPr>
          <p:cNvSpPr txBox="1"/>
          <p:nvPr/>
        </p:nvSpPr>
        <p:spPr>
          <a:xfrm>
            <a:off x="6798733" y="6425152"/>
            <a:ext cx="7228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Glucosa</a:t>
            </a:r>
            <a:endParaRPr lang="es-ES" sz="11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830" name="Conector recto de flecha 1829">
            <a:extLst>
              <a:ext uri="{FF2B5EF4-FFF2-40B4-BE49-F238E27FC236}">
                <a16:creationId xmlns:a16="http://schemas.microsoft.com/office/drawing/2014/main" id="{93615AE4-7A92-0DBF-0022-F7A3202FFC30}"/>
              </a:ext>
            </a:extLst>
          </p:cNvPr>
          <p:cNvCxnSpPr>
            <a:cxnSpLocks/>
            <a:stCxn id="1813" idx="3"/>
            <a:endCxn id="1829" idx="1"/>
          </p:cNvCxnSpPr>
          <p:nvPr/>
        </p:nvCxnSpPr>
        <p:spPr>
          <a:xfrm flipV="1">
            <a:off x="6329396" y="6555957"/>
            <a:ext cx="469337" cy="3466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33" name="CuadroTexto 1832">
            <a:extLst>
              <a:ext uri="{FF2B5EF4-FFF2-40B4-BE49-F238E27FC236}">
                <a16:creationId xmlns:a16="http://schemas.microsoft.com/office/drawing/2014/main" id="{3131A5CC-EDFB-BC2E-89AB-D41FB956EB3C}"/>
              </a:ext>
            </a:extLst>
          </p:cNvPr>
          <p:cNvSpPr txBox="1"/>
          <p:nvPr/>
        </p:nvSpPr>
        <p:spPr>
          <a:xfrm>
            <a:off x="5939003" y="6559423"/>
            <a:ext cx="133106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Gluconeogénesis</a:t>
            </a:r>
            <a:endParaRPr lang="es-ES" sz="11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835" name="Conector recto de flecha 1834">
            <a:extLst>
              <a:ext uri="{FF2B5EF4-FFF2-40B4-BE49-F238E27FC236}">
                <a16:creationId xmlns:a16="http://schemas.microsoft.com/office/drawing/2014/main" id="{64E0D9E3-56C2-8A10-5BC6-165422955C22}"/>
              </a:ext>
            </a:extLst>
          </p:cNvPr>
          <p:cNvCxnSpPr>
            <a:cxnSpLocks/>
            <a:stCxn id="1829" idx="0"/>
          </p:cNvCxnSpPr>
          <p:nvPr/>
        </p:nvCxnSpPr>
        <p:spPr>
          <a:xfrm flipH="1" flipV="1">
            <a:off x="7141971" y="5345906"/>
            <a:ext cx="18192" cy="10792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37" name="Conector recto de flecha 1836">
            <a:extLst>
              <a:ext uri="{FF2B5EF4-FFF2-40B4-BE49-F238E27FC236}">
                <a16:creationId xmlns:a16="http://schemas.microsoft.com/office/drawing/2014/main" id="{9ED7AC1B-013E-4719-1060-87BED4ED4204}"/>
              </a:ext>
            </a:extLst>
          </p:cNvPr>
          <p:cNvCxnSpPr>
            <a:cxnSpLocks/>
          </p:cNvCxnSpPr>
          <p:nvPr/>
        </p:nvCxnSpPr>
        <p:spPr>
          <a:xfrm flipH="1" flipV="1">
            <a:off x="7129889" y="3998482"/>
            <a:ext cx="18192" cy="10792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38" name="Conector recto de flecha 1837">
            <a:extLst>
              <a:ext uri="{FF2B5EF4-FFF2-40B4-BE49-F238E27FC236}">
                <a16:creationId xmlns:a16="http://schemas.microsoft.com/office/drawing/2014/main" id="{BCBCF3EC-66CD-D1BC-0F82-E281DC08C764}"/>
              </a:ext>
            </a:extLst>
          </p:cNvPr>
          <p:cNvCxnSpPr>
            <a:cxnSpLocks/>
            <a:stCxn id="1808" idx="2"/>
          </p:cNvCxnSpPr>
          <p:nvPr/>
        </p:nvCxnSpPr>
        <p:spPr>
          <a:xfrm>
            <a:off x="5822645" y="4918076"/>
            <a:ext cx="0" cy="2039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42" name="Conector recto de flecha 1841">
            <a:extLst>
              <a:ext uri="{FF2B5EF4-FFF2-40B4-BE49-F238E27FC236}">
                <a16:creationId xmlns:a16="http://schemas.microsoft.com/office/drawing/2014/main" id="{1F4158AA-9365-2FA6-E31F-F97AE3C110CA}"/>
              </a:ext>
            </a:extLst>
          </p:cNvPr>
          <p:cNvCxnSpPr>
            <a:cxnSpLocks/>
          </p:cNvCxnSpPr>
          <p:nvPr/>
        </p:nvCxnSpPr>
        <p:spPr>
          <a:xfrm>
            <a:off x="5815314" y="5345906"/>
            <a:ext cx="0" cy="1976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47" name="Rectángulo 1846">
            <a:extLst>
              <a:ext uri="{FF2B5EF4-FFF2-40B4-BE49-F238E27FC236}">
                <a16:creationId xmlns:a16="http://schemas.microsoft.com/office/drawing/2014/main" id="{E7C93711-3D4E-2BA3-8B78-348C3BB2AD93}"/>
              </a:ext>
            </a:extLst>
          </p:cNvPr>
          <p:cNvSpPr/>
          <p:nvPr/>
        </p:nvSpPr>
        <p:spPr>
          <a:xfrm>
            <a:off x="4137614" y="5441013"/>
            <a:ext cx="3374581" cy="1574149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848" name="CuadroTexto 1847">
            <a:extLst>
              <a:ext uri="{FF2B5EF4-FFF2-40B4-BE49-F238E27FC236}">
                <a16:creationId xmlns:a16="http://schemas.microsoft.com/office/drawing/2014/main" id="{A0FC81E9-0947-FA08-F59C-CE9C108849DC}"/>
              </a:ext>
            </a:extLst>
          </p:cNvPr>
          <p:cNvSpPr txBox="1"/>
          <p:nvPr/>
        </p:nvSpPr>
        <p:spPr>
          <a:xfrm>
            <a:off x="4115575" y="6756170"/>
            <a:ext cx="68914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b="1" dirty="0">
                <a:latin typeface="Arial" panose="020B0604020202020204" pitchFamily="34" charset="0"/>
                <a:cs typeface="Arial" panose="020B0604020202020204" pitchFamily="34" charset="0"/>
              </a:rPr>
              <a:t>Hígado</a:t>
            </a:r>
            <a:endParaRPr lang="es-ES" sz="1100" b="1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51" name="Rectángulo 1850">
            <a:extLst>
              <a:ext uri="{FF2B5EF4-FFF2-40B4-BE49-F238E27FC236}">
                <a16:creationId xmlns:a16="http://schemas.microsoft.com/office/drawing/2014/main" id="{A7541E23-B6C9-62D5-D163-D8CDB6370784}"/>
              </a:ext>
            </a:extLst>
          </p:cNvPr>
          <p:cNvSpPr/>
          <p:nvPr/>
        </p:nvSpPr>
        <p:spPr>
          <a:xfrm>
            <a:off x="61789" y="4929507"/>
            <a:ext cx="4003011" cy="5708920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852" name="CuadroTexto 1851">
            <a:extLst>
              <a:ext uri="{FF2B5EF4-FFF2-40B4-BE49-F238E27FC236}">
                <a16:creationId xmlns:a16="http://schemas.microsoft.com/office/drawing/2014/main" id="{0EF5F4DF-C59F-0E21-8FC2-C9496649AA6C}"/>
              </a:ext>
            </a:extLst>
          </p:cNvPr>
          <p:cNvSpPr txBox="1"/>
          <p:nvPr/>
        </p:nvSpPr>
        <p:spPr>
          <a:xfrm>
            <a:off x="-13175" y="4916806"/>
            <a:ext cx="103311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b="1" dirty="0">
                <a:latin typeface="Arial" panose="020B0604020202020204" pitchFamily="34" charset="0"/>
                <a:cs typeface="Arial" panose="020B0604020202020204" pitchFamily="34" charset="0"/>
              </a:rPr>
              <a:t>Mitocondria</a:t>
            </a:r>
            <a:endParaRPr lang="es-ES" sz="1100" b="1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53" name="CuadroTexto 1852">
            <a:extLst>
              <a:ext uri="{FF2B5EF4-FFF2-40B4-BE49-F238E27FC236}">
                <a16:creationId xmlns:a16="http://schemas.microsoft.com/office/drawing/2014/main" id="{86326F37-B417-4D3E-E22D-5172EAE28F4A}"/>
              </a:ext>
            </a:extLst>
          </p:cNvPr>
          <p:cNvSpPr txBox="1"/>
          <p:nvPr/>
        </p:nvSpPr>
        <p:spPr>
          <a:xfrm>
            <a:off x="2629271" y="6051967"/>
            <a:ext cx="113929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sz="1100" dirty="0">
                <a:latin typeface="Arial" panose="020B0604020202020204" pitchFamily="34" charset="0"/>
                <a:cs typeface="Arial" panose="020B0604020202020204" pitchFamily="34" charset="0"/>
              </a:rPr>
              <a:t>α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cetoglutarato</a:t>
            </a:r>
            <a:endParaRPr lang="es-ES" sz="11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54" name="CuadroTexto 1853">
            <a:extLst>
              <a:ext uri="{FF2B5EF4-FFF2-40B4-BE49-F238E27FC236}">
                <a16:creationId xmlns:a16="http://schemas.microsoft.com/office/drawing/2014/main" id="{57EADA2D-3E64-D7A0-20C9-40B11203FEBC}"/>
              </a:ext>
            </a:extLst>
          </p:cNvPr>
          <p:cNvSpPr txBox="1"/>
          <p:nvPr/>
        </p:nvSpPr>
        <p:spPr>
          <a:xfrm>
            <a:off x="3523687" y="6484517"/>
            <a:ext cx="51904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NH</a:t>
            </a:r>
            <a:r>
              <a:rPr lang="es-ES" sz="1100" baseline="-250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s-ES" sz="1100" baseline="30000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</a:p>
        </p:txBody>
      </p:sp>
      <p:sp>
        <p:nvSpPr>
          <p:cNvPr id="1855" name="CuadroTexto 1854">
            <a:extLst>
              <a:ext uri="{FF2B5EF4-FFF2-40B4-BE49-F238E27FC236}">
                <a16:creationId xmlns:a16="http://schemas.microsoft.com/office/drawing/2014/main" id="{2E2072F7-3929-2297-F1FE-7D82A170FE8E}"/>
              </a:ext>
            </a:extLst>
          </p:cNvPr>
          <p:cNvSpPr txBox="1"/>
          <p:nvPr/>
        </p:nvSpPr>
        <p:spPr>
          <a:xfrm>
            <a:off x="2673194" y="5061423"/>
            <a:ext cx="9531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L-glutamato</a:t>
            </a:r>
            <a:endParaRPr lang="es-ES" sz="11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56" name="CuadroTexto 1855">
            <a:extLst>
              <a:ext uri="{FF2B5EF4-FFF2-40B4-BE49-F238E27FC236}">
                <a16:creationId xmlns:a16="http://schemas.microsoft.com/office/drawing/2014/main" id="{95F0F091-02C2-F920-37C3-6C1B526FD4E9}"/>
              </a:ext>
            </a:extLst>
          </p:cNvPr>
          <p:cNvSpPr txBox="1"/>
          <p:nvPr/>
        </p:nvSpPr>
        <p:spPr>
          <a:xfrm>
            <a:off x="1188875" y="5061423"/>
            <a:ext cx="93996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Oxalacetato</a:t>
            </a:r>
            <a:endParaRPr lang="es-ES" sz="11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57" name="CuadroTexto 1856">
            <a:extLst>
              <a:ext uri="{FF2B5EF4-FFF2-40B4-BE49-F238E27FC236}">
                <a16:creationId xmlns:a16="http://schemas.microsoft.com/office/drawing/2014/main" id="{AFE39AB8-36E5-AFFA-D6FE-5DE59E40CD1F}"/>
              </a:ext>
            </a:extLst>
          </p:cNvPr>
          <p:cNvSpPr txBox="1"/>
          <p:nvPr/>
        </p:nvSpPr>
        <p:spPr>
          <a:xfrm>
            <a:off x="1378705" y="6058318"/>
            <a:ext cx="78064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Aspartato</a:t>
            </a:r>
            <a:endParaRPr lang="es-ES" sz="11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858" name="Conector: angular 1857">
            <a:extLst>
              <a:ext uri="{FF2B5EF4-FFF2-40B4-BE49-F238E27FC236}">
                <a16:creationId xmlns:a16="http://schemas.microsoft.com/office/drawing/2014/main" id="{9179BFC7-B702-188F-1CA4-049557A2C55D}"/>
              </a:ext>
            </a:extLst>
          </p:cNvPr>
          <p:cNvCxnSpPr>
            <a:cxnSpLocks/>
            <a:stCxn id="1820" idx="1"/>
            <a:endCxn id="1855" idx="3"/>
          </p:cNvCxnSpPr>
          <p:nvPr/>
        </p:nvCxnSpPr>
        <p:spPr>
          <a:xfrm rot="10800000">
            <a:off x="3626366" y="5192228"/>
            <a:ext cx="552366" cy="46324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62" name="Conector: curvado 1861">
            <a:extLst>
              <a:ext uri="{FF2B5EF4-FFF2-40B4-BE49-F238E27FC236}">
                <a16:creationId xmlns:a16="http://schemas.microsoft.com/office/drawing/2014/main" id="{F2077825-9419-840C-26CA-EF82FE9582B7}"/>
              </a:ext>
            </a:extLst>
          </p:cNvPr>
          <p:cNvCxnSpPr>
            <a:cxnSpLocks/>
            <a:stCxn id="1856" idx="3"/>
            <a:endCxn id="1857" idx="3"/>
          </p:cNvCxnSpPr>
          <p:nvPr/>
        </p:nvCxnSpPr>
        <p:spPr>
          <a:xfrm>
            <a:off x="2128838" y="5192228"/>
            <a:ext cx="30509" cy="996895"/>
          </a:xfrm>
          <a:prstGeom prst="curvedConnector3">
            <a:avLst>
              <a:gd name="adj1" fmla="val 849287"/>
            </a:avLst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69" name="CuadroTexto 1868">
            <a:extLst>
              <a:ext uri="{FF2B5EF4-FFF2-40B4-BE49-F238E27FC236}">
                <a16:creationId xmlns:a16="http://schemas.microsoft.com/office/drawing/2014/main" id="{A497C60E-367B-22FF-F25F-EBE7B242D8D8}"/>
              </a:ext>
            </a:extLst>
          </p:cNvPr>
          <p:cNvSpPr txBox="1"/>
          <p:nvPr/>
        </p:nvSpPr>
        <p:spPr>
          <a:xfrm>
            <a:off x="1105025" y="5461113"/>
            <a:ext cx="129807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Aspartato aminotransferasa</a:t>
            </a:r>
            <a:endParaRPr lang="es-ES" sz="11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870" name="Conector: curvado 1869">
            <a:extLst>
              <a:ext uri="{FF2B5EF4-FFF2-40B4-BE49-F238E27FC236}">
                <a16:creationId xmlns:a16="http://schemas.microsoft.com/office/drawing/2014/main" id="{76DDB322-E4AA-7FB6-2507-EE4AD0BF9BA5}"/>
              </a:ext>
            </a:extLst>
          </p:cNvPr>
          <p:cNvCxnSpPr>
            <a:cxnSpLocks/>
            <a:stCxn id="1855" idx="1"/>
            <a:endCxn id="1853" idx="1"/>
          </p:cNvCxnSpPr>
          <p:nvPr/>
        </p:nvCxnSpPr>
        <p:spPr>
          <a:xfrm rot="10800000" flipV="1">
            <a:off x="2629272" y="5192228"/>
            <a:ext cx="43923" cy="990544"/>
          </a:xfrm>
          <a:prstGeom prst="curvedConnector3">
            <a:avLst>
              <a:gd name="adj1" fmla="val 620456"/>
            </a:avLst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76" name="CuadroTexto 1875">
            <a:extLst>
              <a:ext uri="{FF2B5EF4-FFF2-40B4-BE49-F238E27FC236}">
                <a16:creationId xmlns:a16="http://schemas.microsoft.com/office/drawing/2014/main" id="{9BD308CC-7780-F83B-DD18-E563E9322776}"/>
              </a:ext>
            </a:extLst>
          </p:cNvPr>
          <p:cNvSpPr txBox="1"/>
          <p:nvPr/>
        </p:nvSpPr>
        <p:spPr>
          <a:xfrm>
            <a:off x="2396009" y="5468257"/>
            <a:ext cx="129807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Glutamato deshidrogenasa</a:t>
            </a:r>
            <a:endParaRPr lang="es-ES" sz="11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877" name="Conector: angular 1876">
            <a:extLst>
              <a:ext uri="{FF2B5EF4-FFF2-40B4-BE49-F238E27FC236}">
                <a16:creationId xmlns:a16="http://schemas.microsoft.com/office/drawing/2014/main" id="{9BF0A89B-A559-567F-C5DB-C5347D167F0D}"/>
              </a:ext>
            </a:extLst>
          </p:cNvPr>
          <p:cNvCxnSpPr>
            <a:cxnSpLocks/>
            <a:stCxn id="1820" idx="1"/>
            <a:endCxn id="1854" idx="0"/>
          </p:cNvCxnSpPr>
          <p:nvPr/>
        </p:nvCxnSpPr>
        <p:spPr>
          <a:xfrm rot="10800000" flipV="1">
            <a:off x="3783208" y="5655473"/>
            <a:ext cx="395524" cy="829043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81" name="CuadroTexto 1880">
            <a:extLst>
              <a:ext uri="{FF2B5EF4-FFF2-40B4-BE49-F238E27FC236}">
                <a16:creationId xmlns:a16="http://schemas.microsoft.com/office/drawing/2014/main" id="{9A938B6A-906D-5336-6914-BAB25015D7D4}"/>
              </a:ext>
            </a:extLst>
          </p:cNvPr>
          <p:cNvSpPr txBox="1"/>
          <p:nvPr/>
        </p:nvSpPr>
        <p:spPr>
          <a:xfrm>
            <a:off x="671" y="5364886"/>
            <a:ext cx="982497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Glutamina</a:t>
            </a:r>
          </a:p>
          <a:p>
            <a:pPr algn="ctr"/>
            <a:r>
              <a:rPr lang="es-ES" sz="900" dirty="0">
                <a:latin typeface="Arial" panose="020B0604020202020204" pitchFamily="34" charset="0"/>
                <a:cs typeface="Arial" panose="020B0604020202020204" pitchFamily="34" charset="0"/>
              </a:rPr>
              <a:t>(de tejidos extrahepáticos)</a:t>
            </a:r>
          </a:p>
        </p:txBody>
      </p:sp>
      <p:cxnSp>
        <p:nvCxnSpPr>
          <p:cNvPr id="1882" name="Conector: angular 1881">
            <a:extLst>
              <a:ext uri="{FF2B5EF4-FFF2-40B4-BE49-F238E27FC236}">
                <a16:creationId xmlns:a16="http://schemas.microsoft.com/office/drawing/2014/main" id="{CB314561-7B2F-D428-7055-9E639286C940}"/>
              </a:ext>
            </a:extLst>
          </p:cNvPr>
          <p:cNvCxnSpPr>
            <a:cxnSpLocks/>
            <a:stCxn id="1881" idx="2"/>
            <a:endCxn id="1854" idx="0"/>
          </p:cNvCxnSpPr>
          <p:nvPr/>
        </p:nvCxnSpPr>
        <p:spPr>
          <a:xfrm rot="16200000" flipH="1">
            <a:off x="1847053" y="4548362"/>
            <a:ext cx="581022" cy="3291288"/>
          </a:xfrm>
          <a:prstGeom prst="bentConnector3">
            <a:avLst>
              <a:gd name="adj1" fmla="val 67213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86" name="CuadroTexto 1885">
            <a:extLst>
              <a:ext uri="{FF2B5EF4-FFF2-40B4-BE49-F238E27FC236}">
                <a16:creationId xmlns:a16="http://schemas.microsoft.com/office/drawing/2014/main" id="{6C638855-F8B1-0793-8FA9-F25291BFC1C8}"/>
              </a:ext>
            </a:extLst>
          </p:cNvPr>
          <p:cNvSpPr txBox="1"/>
          <p:nvPr/>
        </p:nvSpPr>
        <p:spPr>
          <a:xfrm>
            <a:off x="1803807" y="7217129"/>
            <a:ext cx="128266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Carbamoil fosfato</a:t>
            </a:r>
            <a:endParaRPr lang="es-ES" sz="11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91" name="CuadroTexto 1890">
            <a:extLst>
              <a:ext uri="{FF2B5EF4-FFF2-40B4-BE49-F238E27FC236}">
                <a16:creationId xmlns:a16="http://schemas.microsoft.com/office/drawing/2014/main" id="{6E2F08E4-743E-0CF2-2BAE-C08A58821803}"/>
              </a:ext>
            </a:extLst>
          </p:cNvPr>
          <p:cNvSpPr txBox="1"/>
          <p:nvPr/>
        </p:nvSpPr>
        <p:spPr>
          <a:xfrm>
            <a:off x="2309284" y="6587251"/>
            <a:ext cx="143022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Carbamoil fosfato sintetasa I</a:t>
            </a:r>
            <a:endParaRPr lang="es-ES" sz="11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92" name="CuadroTexto 1891">
            <a:extLst>
              <a:ext uri="{FF2B5EF4-FFF2-40B4-BE49-F238E27FC236}">
                <a16:creationId xmlns:a16="http://schemas.microsoft.com/office/drawing/2014/main" id="{41B99564-EB7F-A287-4D3F-618EE88E0444}"/>
              </a:ext>
            </a:extLst>
          </p:cNvPr>
          <p:cNvSpPr txBox="1"/>
          <p:nvPr/>
        </p:nvSpPr>
        <p:spPr>
          <a:xfrm>
            <a:off x="1677167" y="6625276"/>
            <a:ext cx="536013" cy="26161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2700000" scaled="1"/>
            <a:tileRect/>
          </a:gradFill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ES" sz="11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ATP</a:t>
            </a:r>
          </a:p>
        </p:txBody>
      </p:sp>
      <p:sp>
        <p:nvSpPr>
          <p:cNvPr id="1893" name="CuadroTexto 1892">
            <a:extLst>
              <a:ext uri="{FF2B5EF4-FFF2-40B4-BE49-F238E27FC236}">
                <a16:creationId xmlns:a16="http://schemas.microsoft.com/office/drawing/2014/main" id="{B1F3CBC5-3B04-65F1-718F-AA043B503DCA}"/>
              </a:ext>
            </a:extLst>
          </p:cNvPr>
          <p:cNvSpPr txBox="1"/>
          <p:nvPr/>
        </p:nvSpPr>
        <p:spPr>
          <a:xfrm>
            <a:off x="1577794" y="6947318"/>
            <a:ext cx="62348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HCO</a:t>
            </a:r>
            <a:r>
              <a:rPr lang="es-ES" sz="1100" baseline="-25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es-ES" sz="11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896" name="Conector: curvado 1895">
            <a:extLst>
              <a:ext uri="{FF2B5EF4-FFF2-40B4-BE49-F238E27FC236}">
                <a16:creationId xmlns:a16="http://schemas.microsoft.com/office/drawing/2014/main" id="{96A63E4F-7425-2B21-9CF1-CF6A47097051}"/>
              </a:ext>
            </a:extLst>
          </p:cNvPr>
          <p:cNvCxnSpPr>
            <a:cxnSpLocks/>
            <a:stCxn id="1893" idx="3"/>
            <a:endCxn id="1886" idx="0"/>
          </p:cNvCxnSpPr>
          <p:nvPr/>
        </p:nvCxnSpPr>
        <p:spPr>
          <a:xfrm>
            <a:off x="2201276" y="7078123"/>
            <a:ext cx="243866" cy="139006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97" name="Conector: curvado 1896">
            <a:extLst>
              <a:ext uri="{FF2B5EF4-FFF2-40B4-BE49-F238E27FC236}">
                <a16:creationId xmlns:a16="http://schemas.microsoft.com/office/drawing/2014/main" id="{9E7BE94A-C946-F21D-75A4-93DD92370E4E}"/>
              </a:ext>
            </a:extLst>
          </p:cNvPr>
          <p:cNvCxnSpPr>
            <a:cxnSpLocks/>
            <a:stCxn id="1892" idx="3"/>
          </p:cNvCxnSpPr>
          <p:nvPr/>
        </p:nvCxnSpPr>
        <p:spPr>
          <a:xfrm>
            <a:off x="2213180" y="6756081"/>
            <a:ext cx="237129" cy="244794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02" name="Conector: angular 1901">
            <a:extLst>
              <a:ext uri="{FF2B5EF4-FFF2-40B4-BE49-F238E27FC236}">
                <a16:creationId xmlns:a16="http://schemas.microsoft.com/office/drawing/2014/main" id="{4D6C38FC-7DEE-D485-0138-9A119335BFFC}"/>
              </a:ext>
            </a:extLst>
          </p:cNvPr>
          <p:cNvCxnSpPr>
            <a:cxnSpLocks/>
            <a:stCxn id="1854" idx="1"/>
            <a:endCxn id="1886" idx="0"/>
          </p:cNvCxnSpPr>
          <p:nvPr/>
        </p:nvCxnSpPr>
        <p:spPr>
          <a:xfrm rot="10800000" flipV="1">
            <a:off x="2445143" y="6615321"/>
            <a:ext cx="1078545" cy="60180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17" name="CuadroTexto 1916">
            <a:extLst>
              <a:ext uri="{FF2B5EF4-FFF2-40B4-BE49-F238E27FC236}">
                <a16:creationId xmlns:a16="http://schemas.microsoft.com/office/drawing/2014/main" id="{EF214689-B822-57FB-2818-D589103F8806}"/>
              </a:ext>
            </a:extLst>
          </p:cNvPr>
          <p:cNvSpPr txBox="1"/>
          <p:nvPr/>
        </p:nvSpPr>
        <p:spPr>
          <a:xfrm>
            <a:off x="3177489" y="8058863"/>
            <a:ext cx="69662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Ornitina</a:t>
            </a:r>
            <a:endParaRPr lang="es-ES" sz="11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18" name="CuadroTexto 1917">
            <a:extLst>
              <a:ext uri="{FF2B5EF4-FFF2-40B4-BE49-F238E27FC236}">
                <a16:creationId xmlns:a16="http://schemas.microsoft.com/office/drawing/2014/main" id="{7F2E9EFF-6BD2-70EE-0B78-A6943B978D89}"/>
              </a:ext>
            </a:extLst>
          </p:cNvPr>
          <p:cNvSpPr txBox="1"/>
          <p:nvPr/>
        </p:nvSpPr>
        <p:spPr>
          <a:xfrm>
            <a:off x="3144443" y="7085550"/>
            <a:ext cx="7719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Citrulina</a:t>
            </a:r>
            <a:endParaRPr lang="es-ES" sz="11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34" name="CuadroTexto 1933">
            <a:extLst>
              <a:ext uri="{FF2B5EF4-FFF2-40B4-BE49-F238E27FC236}">
                <a16:creationId xmlns:a16="http://schemas.microsoft.com/office/drawing/2014/main" id="{2F7A91D2-B8CE-29A2-ED13-40AEDF35D929}"/>
              </a:ext>
            </a:extLst>
          </p:cNvPr>
          <p:cNvSpPr txBox="1"/>
          <p:nvPr/>
        </p:nvSpPr>
        <p:spPr>
          <a:xfrm>
            <a:off x="2148486" y="7589757"/>
            <a:ext cx="143022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Ornitina </a:t>
            </a:r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transcarbamoilasa</a:t>
            </a:r>
            <a:endParaRPr lang="es-ES" sz="11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38" name="CuadroTexto 1937">
            <a:extLst>
              <a:ext uri="{FF2B5EF4-FFF2-40B4-BE49-F238E27FC236}">
                <a16:creationId xmlns:a16="http://schemas.microsoft.com/office/drawing/2014/main" id="{32FE7FF1-316A-7933-C2BC-CB14CE8B03D3}"/>
              </a:ext>
            </a:extLst>
          </p:cNvPr>
          <p:cNvSpPr txBox="1"/>
          <p:nvPr/>
        </p:nvSpPr>
        <p:spPr>
          <a:xfrm>
            <a:off x="4192923" y="7084208"/>
            <a:ext cx="7719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Citrulina</a:t>
            </a:r>
            <a:endParaRPr lang="es-ES" sz="11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43" name="CuadroTexto 1942">
            <a:extLst>
              <a:ext uri="{FF2B5EF4-FFF2-40B4-BE49-F238E27FC236}">
                <a16:creationId xmlns:a16="http://schemas.microsoft.com/office/drawing/2014/main" id="{58B17653-59A4-FE1A-8613-47F40AFB6B0C}"/>
              </a:ext>
            </a:extLst>
          </p:cNvPr>
          <p:cNvSpPr txBox="1"/>
          <p:nvPr/>
        </p:nvSpPr>
        <p:spPr>
          <a:xfrm>
            <a:off x="5811694" y="7083078"/>
            <a:ext cx="123437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Arginosuccinato</a:t>
            </a:r>
            <a:endParaRPr lang="es-ES" sz="11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44" name="CuadroTexto 1943">
            <a:extLst>
              <a:ext uri="{FF2B5EF4-FFF2-40B4-BE49-F238E27FC236}">
                <a16:creationId xmlns:a16="http://schemas.microsoft.com/office/drawing/2014/main" id="{1B13092E-0949-6596-C3A9-5404B994E760}"/>
              </a:ext>
            </a:extLst>
          </p:cNvPr>
          <p:cNvSpPr txBox="1"/>
          <p:nvPr/>
        </p:nvSpPr>
        <p:spPr>
          <a:xfrm>
            <a:off x="6069683" y="8060151"/>
            <a:ext cx="73268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Arginina</a:t>
            </a:r>
            <a:endParaRPr lang="es-ES" sz="11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45" name="CuadroTexto 1944">
            <a:extLst>
              <a:ext uri="{FF2B5EF4-FFF2-40B4-BE49-F238E27FC236}">
                <a16:creationId xmlns:a16="http://schemas.microsoft.com/office/drawing/2014/main" id="{5161608B-9CB3-29C3-6155-049BB858E49D}"/>
              </a:ext>
            </a:extLst>
          </p:cNvPr>
          <p:cNvSpPr txBox="1"/>
          <p:nvPr/>
        </p:nvSpPr>
        <p:spPr>
          <a:xfrm>
            <a:off x="6701469" y="7849542"/>
            <a:ext cx="86794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Fumarato</a:t>
            </a:r>
            <a:endParaRPr lang="es-ES" sz="11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46" name="CuadroTexto 1945">
            <a:extLst>
              <a:ext uri="{FF2B5EF4-FFF2-40B4-BE49-F238E27FC236}">
                <a16:creationId xmlns:a16="http://schemas.microsoft.com/office/drawing/2014/main" id="{E553BE55-90AC-26A2-6069-1B28475C7629}"/>
              </a:ext>
            </a:extLst>
          </p:cNvPr>
          <p:cNvSpPr txBox="1"/>
          <p:nvPr/>
        </p:nvSpPr>
        <p:spPr>
          <a:xfrm>
            <a:off x="4132087" y="7439748"/>
            <a:ext cx="86794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Aspartato</a:t>
            </a:r>
            <a:endParaRPr lang="es-ES" sz="11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963" name="Conector: curvado 1962">
            <a:extLst>
              <a:ext uri="{FF2B5EF4-FFF2-40B4-BE49-F238E27FC236}">
                <a16:creationId xmlns:a16="http://schemas.microsoft.com/office/drawing/2014/main" id="{6481977A-EF42-0F10-BC81-6E0AA4391093}"/>
              </a:ext>
            </a:extLst>
          </p:cNvPr>
          <p:cNvCxnSpPr>
            <a:cxnSpLocks/>
            <a:stCxn id="1946" idx="0"/>
          </p:cNvCxnSpPr>
          <p:nvPr/>
        </p:nvCxnSpPr>
        <p:spPr>
          <a:xfrm rot="5400000" flipH="1" flipV="1">
            <a:off x="4838389" y="6942860"/>
            <a:ext cx="224561" cy="769216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68" name="Conector: curvado 1967">
            <a:extLst>
              <a:ext uri="{FF2B5EF4-FFF2-40B4-BE49-F238E27FC236}">
                <a16:creationId xmlns:a16="http://schemas.microsoft.com/office/drawing/2014/main" id="{B5BC0C04-04A2-299D-6D99-41A4D6794DCB}"/>
              </a:ext>
            </a:extLst>
          </p:cNvPr>
          <p:cNvCxnSpPr>
            <a:cxnSpLocks/>
            <a:endCxn id="1945" idx="1"/>
          </p:cNvCxnSpPr>
          <p:nvPr/>
        </p:nvCxnSpPr>
        <p:spPr>
          <a:xfrm rot="16200000" flipH="1">
            <a:off x="6415014" y="7693892"/>
            <a:ext cx="300816" cy="272094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71" name="CuadroTexto 1970">
            <a:extLst>
              <a:ext uri="{FF2B5EF4-FFF2-40B4-BE49-F238E27FC236}">
                <a16:creationId xmlns:a16="http://schemas.microsoft.com/office/drawing/2014/main" id="{1920D240-338D-D39C-E104-D00B209DF64F}"/>
              </a:ext>
            </a:extLst>
          </p:cNvPr>
          <p:cNvSpPr txBox="1"/>
          <p:nvPr/>
        </p:nvSpPr>
        <p:spPr>
          <a:xfrm>
            <a:off x="4672533" y="7219941"/>
            <a:ext cx="143022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Arginosusccinato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 sintetasa</a:t>
            </a:r>
            <a:endParaRPr lang="es-ES" sz="11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72" name="CuadroTexto 1971">
            <a:extLst>
              <a:ext uri="{FF2B5EF4-FFF2-40B4-BE49-F238E27FC236}">
                <a16:creationId xmlns:a16="http://schemas.microsoft.com/office/drawing/2014/main" id="{2009CAE5-5B37-68D2-3001-F1E51FD23695}"/>
              </a:ext>
            </a:extLst>
          </p:cNvPr>
          <p:cNvSpPr txBox="1"/>
          <p:nvPr/>
        </p:nvSpPr>
        <p:spPr>
          <a:xfrm>
            <a:off x="6378311" y="7348393"/>
            <a:ext cx="143022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Arginosusccinato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 liasa</a:t>
            </a:r>
            <a:endParaRPr lang="es-ES" sz="11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76" name="CuadroTexto 1975">
            <a:extLst>
              <a:ext uri="{FF2B5EF4-FFF2-40B4-BE49-F238E27FC236}">
                <a16:creationId xmlns:a16="http://schemas.microsoft.com/office/drawing/2014/main" id="{B25D529B-5E0E-799F-0E69-F2CD901EA133}"/>
              </a:ext>
            </a:extLst>
          </p:cNvPr>
          <p:cNvSpPr txBox="1"/>
          <p:nvPr/>
        </p:nvSpPr>
        <p:spPr>
          <a:xfrm>
            <a:off x="5158628" y="8188228"/>
            <a:ext cx="14302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Arginasa</a:t>
            </a:r>
            <a:endParaRPr lang="es-ES" sz="11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77" name="CuadroTexto 1976">
            <a:extLst>
              <a:ext uri="{FF2B5EF4-FFF2-40B4-BE49-F238E27FC236}">
                <a16:creationId xmlns:a16="http://schemas.microsoft.com/office/drawing/2014/main" id="{4116AD0D-6564-D4B7-4367-91BE5F9F4F2A}"/>
              </a:ext>
            </a:extLst>
          </p:cNvPr>
          <p:cNvSpPr txBox="1"/>
          <p:nvPr/>
        </p:nvSpPr>
        <p:spPr>
          <a:xfrm>
            <a:off x="4646703" y="8327881"/>
            <a:ext cx="53108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Urea</a:t>
            </a:r>
            <a:endParaRPr lang="es-ES" sz="11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978" name="Conector: curvado 1977">
            <a:extLst>
              <a:ext uri="{FF2B5EF4-FFF2-40B4-BE49-F238E27FC236}">
                <a16:creationId xmlns:a16="http://schemas.microsoft.com/office/drawing/2014/main" id="{C156BC6A-E9E5-55BB-A7FB-EB0879375F04}"/>
              </a:ext>
            </a:extLst>
          </p:cNvPr>
          <p:cNvCxnSpPr>
            <a:cxnSpLocks/>
            <a:endCxn id="1977" idx="0"/>
          </p:cNvCxnSpPr>
          <p:nvPr/>
        </p:nvCxnSpPr>
        <p:spPr>
          <a:xfrm rot="10800000" flipV="1">
            <a:off x="4912244" y="8189493"/>
            <a:ext cx="326617" cy="138387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96" name="Conector recto de flecha 1995">
            <a:extLst>
              <a:ext uri="{FF2B5EF4-FFF2-40B4-BE49-F238E27FC236}">
                <a16:creationId xmlns:a16="http://schemas.microsoft.com/office/drawing/2014/main" id="{E4953687-639F-F4BE-8073-BAAE83A92D67}"/>
              </a:ext>
            </a:extLst>
          </p:cNvPr>
          <p:cNvCxnSpPr>
            <a:stCxn id="1917" idx="0"/>
            <a:endCxn id="1918" idx="2"/>
          </p:cNvCxnSpPr>
          <p:nvPr/>
        </p:nvCxnSpPr>
        <p:spPr>
          <a:xfrm flipV="1">
            <a:off x="3525803" y="7347160"/>
            <a:ext cx="4602" cy="7117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98" name="Conector recto de flecha 1997">
            <a:extLst>
              <a:ext uri="{FF2B5EF4-FFF2-40B4-BE49-F238E27FC236}">
                <a16:creationId xmlns:a16="http://schemas.microsoft.com/office/drawing/2014/main" id="{7F0340DF-AE2F-284B-F8DD-DBB7A9D38768}"/>
              </a:ext>
            </a:extLst>
          </p:cNvPr>
          <p:cNvCxnSpPr>
            <a:cxnSpLocks/>
            <a:stCxn id="1919" idx="1"/>
            <a:endCxn id="1917" idx="3"/>
          </p:cNvCxnSpPr>
          <p:nvPr/>
        </p:nvCxnSpPr>
        <p:spPr>
          <a:xfrm flipH="1">
            <a:off x="3874116" y="8189089"/>
            <a:ext cx="357836" cy="5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01" name="Conector recto de flecha 2000">
            <a:extLst>
              <a:ext uri="{FF2B5EF4-FFF2-40B4-BE49-F238E27FC236}">
                <a16:creationId xmlns:a16="http://schemas.microsoft.com/office/drawing/2014/main" id="{2F78C57F-6107-DA9C-74FD-7405DC6B0E77}"/>
              </a:ext>
            </a:extLst>
          </p:cNvPr>
          <p:cNvCxnSpPr>
            <a:cxnSpLocks/>
            <a:stCxn id="1918" idx="3"/>
            <a:endCxn id="1938" idx="1"/>
          </p:cNvCxnSpPr>
          <p:nvPr/>
        </p:nvCxnSpPr>
        <p:spPr>
          <a:xfrm flipV="1">
            <a:off x="3916367" y="7215013"/>
            <a:ext cx="276556" cy="134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07" name="Conector recto de flecha 2006">
            <a:extLst>
              <a:ext uri="{FF2B5EF4-FFF2-40B4-BE49-F238E27FC236}">
                <a16:creationId xmlns:a16="http://schemas.microsoft.com/office/drawing/2014/main" id="{E6329611-113F-0365-197D-F2F3233574C1}"/>
              </a:ext>
            </a:extLst>
          </p:cNvPr>
          <p:cNvCxnSpPr>
            <a:cxnSpLocks/>
            <a:stCxn id="1938" idx="3"/>
            <a:endCxn id="1943" idx="1"/>
          </p:cNvCxnSpPr>
          <p:nvPr/>
        </p:nvCxnSpPr>
        <p:spPr>
          <a:xfrm flipV="1">
            <a:off x="4964847" y="7213883"/>
            <a:ext cx="846847" cy="11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10" name="Conector recto de flecha 2009">
            <a:extLst>
              <a:ext uri="{FF2B5EF4-FFF2-40B4-BE49-F238E27FC236}">
                <a16:creationId xmlns:a16="http://schemas.microsoft.com/office/drawing/2014/main" id="{41CB3E42-3EE8-747C-50A4-D2D147AFBF30}"/>
              </a:ext>
            </a:extLst>
          </p:cNvPr>
          <p:cNvCxnSpPr>
            <a:cxnSpLocks/>
            <a:stCxn id="1943" idx="2"/>
            <a:endCxn id="1944" idx="0"/>
          </p:cNvCxnSpPr>
          <p:nvPr/>
        </p:nvCxnSpPr>
        <p:spPr>
          <a:xfrm>
            <a:off x="6428881" y="7344688"/>
            <a:ext cx="7144" cy="7154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15" name="Conector recto de flecha 2014">
            <a:extLst>
              <a:ext uri="{FF2B5EF4-FFF2-40B4-BE49-F238E27FC236}">
                <a16:creationId xmlns:a16="http://schemas.microsoft.com/office/drawing/2014/main" id="{2D5A62FD-240F-1A2B-4BF3-3C17FFE09499}"/>
              </a:ext>
            </a:extLst>
          </p:cNvPr>
          <p:cNvCxnSpPr>
            <a:cxnSpLocks/>
            <a:stCxn id="1944" idx="1"/>
            <a:endCxn id="1919" idx="3"/>
          </p:cNvCxnSpPr>
          <p:nvPr/>
        </p:nvCxnSpPr>
        <p:spPr>
          <a:xfrm flipH="1" flipV="1">
            <a:off x="4928579" y="8189089"/>
            <a:ext cx="1141104" cy="18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19" name="Conector recto de flecha 2018">
            <a:extLst>
              <a:ext uri="{FF2B5EF4-FFF2-40B4-BE49-F238E27FC236}">
                <a16:creationId xmlns:a16="http://schemas.microsoft.com/office/drawing/2014/main" id="{02C00352-E6C5-B827-32B8-6E1C346A9064}"/>
              </a:ext>
            </a:extLst>
          </p:cNvPr>
          <p:cNvCxnSpPr>
            <a:cxnSpLocks/>
            <a:stCxn id="1886" idx="3"/>
            <a:endCxn id="1918" idx="2"/>
          </p:cNvCxnSpPr>
          <p:nvPr/>
        </p:nvCxnSpPr>
        <p:spPr>
          <a:xfrm flipV="1">
            <a:off x="3086476" y="7347160"/>
            <a:ext cx="443929" cy="7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29" name="CuadroTexto 2028">
            <a:extLst>
              <a:ext uri="{FF2B5EF4-FFF2-40B4-BE49-F238E27FC236}">
                <a16:creationId xmlns:a16="http://schemas.microsoft.com/office/drawing/2014/main" id="{541D07EC-051D-F950-90B9-7ED018A97703}"/>
              </a:ext>
            </a:extLst>
          </p:cNvPr>
          <p:cNvSpPr txBox="1"/>
          <p:nvPr/>
        </p:nvSpPr>
        <p:spPr>
          <a:xfrm>
            <a:off x="5592761" y="7827140"/>
            <a:ext cx="47733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s-ES" sz="11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endParaRPr lang="es-ES" sz="11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030" name="Conector: curvado 2029">
            <a:extLst>
              <a:ext uri="{FF2B5EF4-FFF2-40B4-BE49-F238E27FC236}">
                <a16:creationId xmlns:a16="http://schemas.microsoft.com/office/drawing/2014/main" id="{D60C63DE-89F5-2E7C-DE1F-5BF1B0C14D41}"/>
              </a:ext>
            </a:extLst>
          </p:cNvPr>
          <p:cNvCxnSpPr>
            <a:cxnSpLocks/>
            <a:stCxn id="2029" idx="2"/>
          </p:cNvCxnSpPr>
          <p:nvPr/>
        </p:nvCxnSpPr>
        <p:spPr>
          <a:xfrm rot="5400000">
            <a:off x="5563628" y="7920429"/>
            <a:ext cx="99478" cy="436120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34" name="Elipse 2033">
            <a:extLst>
              <a:ext uri="{FF2B5EF4-FFF2-40B4-BE49-F238E27FC236}">
                <a16:creationId xmlns:a16="http://schemas.microsoft.com/office/drawing/2014/main" id="{42437921-B49F-5225-887B-A683003033B6}"/>
              </a:ext>
            </a:extLst>
          </p:cNvPr>
          <p:cNvSpPr/>
          <p:nvPr/>
        </p:nvSpPr>
        <p:spPr>
          <a:xfrm>
            <a:off x="203159" y="9090985"/>
            <a:ext cx="3520783" cy="3172974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035" name="CuadroTexto 2034">
            <a:extLst>
              <a:ext uri="{FF2B5EF4-FFF2-40B4-BE49-F238E27FC236}">
                <a16:creationId xmlns:a16="http://schemas.microsoft.com/office/drawing/2014/main" id="{01C17EEB-506C-164D-52EE-477187A412FA}"/>
              </a:ext>
            </a:extLst>
          </p:cNvPr>
          <p:cNvSpPr txBox="1"/>
          <p:nvPr/>
        </p:nvSpPr>
        <p:spPr>
          <a:xfrm>
            <a:off x="1696523" y="9877236"/>
            <a:ext cx="70160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Ciclo de Krebs</a:t>
            </a:r>
            <a:endParaRPr lang="es-ES" sz="11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36" name="CuadroTexto 2035">
            <a:extLst>
              <a:ext uri="{FF2B5EF4-FFF2-40B4-BE49-F238E27FC236}">
                <a16:creationId xmlns:a16="http://schemas.microsoft.com/office/drawing/2014/main" id="{E3CA5D76-2C0F-17E8-7A5A-482D54F05A29}"/>
              </a:ext>
            </a:extLst>
          </p:cNvPr>
          <p:cNvSpPr txBox="1"/>
          <p:nvPr/>
        </p:nvSpPr>
        <p:spPr>
          <a:xfrm>
            <a:off x="5006616" y="10231009"/>
            <a:ext cx="6062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Malato</a:t>
            </a:r>
            <a:endParaRPr lang="es-ES" sz="11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037" name="Conector: angular 2036">
            <a:extLst>
              <a:ext uri="{FF2B5EF4-FFF2-40B4-BE49-F238E27FC236}">
                <a16:creationId xmlns:a16="http://schemas.microsoft.com/office/drawing/2014/main" id="{4AC7FF76-F69B-2349-3AD1-114B7044F161}"/>
              </a:ext>
            </a:extLst>
          </p:cNvPr>
          <p:cNvCxnSpPr>
            <a:cxnSpLocks/>
            <a:stCxn id="1945" idx="2"/>
            <a:endCxn id="2036" idx="3"/>
          </p:cNvCxnSpPr>
          <p:nvPr/>
        </p:nvCxnSpPr>
        <p:spPr>
          <a:xfrm rot="5400000">
            <a:off x="5248813" y="8475184"/>
            <a:ext cx="2250662" cy="1522599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40" name="CuadroTexto 2039">
            <a:extLst>
              <a:ext uri="{FF2B5EF4-FFF2-40B4-BE49-F238E27FC236}">
                <a16:creationId xmlns:a16="http://schemas.microsoft.com/office/drawing/2014/main" id="{F5A4BEB7-9B6C-273A-9041-3DEE08877BFC}"/>
              </a:ext>
            </a:extLst>
          </p:cNvPr>
          <p:cNvSpPr txBox="1"/>
          <p:nvPr/>
        </p:nvSpPr>
        <p:spPr>
          <a:xfrm>
            <a:off x="77138" y="9961875"/>
            <a:ext cx="606228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Malato</a:t>
            </a:r>
            <a:endParaRPr lang="es-ES" sz="11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41" name="CuadroTexto 2040">
            <a:extLst>
              <a:ext uri="{FF2B5EF4-FFF2-40B4-BE49-F238E27FC236}">
                <a16:creationId xmlns:a16="http://schemas.microsoft.com/office/drawing/2014/main" id="{9E606637-7013-AA9F-46D2-C9C11FDAADA5}"/>
              </a:ext>
            </a:extLst>
          </p:cNvPr>
          <p:cNvSpPr txBox="1"/>
          <p:nvPr/>
        </p:nvSpPr>
        <p:spPr>
          <a:xfrm>
            <a:off x="1449768" y="9007320"/>
            <a:ext cx="1010781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Oxalacetato</a:t>
            </a:r>
            <a:endParaRPr lang="es-ES" sz="11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042" name="Conector: angular 2041">
            <a:extLst>
              <a:ext uri="{FF2B5EF4-FFF2-40B4-BE49-F238E27FC236}">
                <a16:creationId xmlns:a16="http://schemas.microsoft.com/office/drawing/2014/main" id="{0BCD7DB7-5862-28A8-4419-668D08C57A18}"/>
              </a:ext>
            </a:extLst>
          </p:cNvPr>
          <p:cNvCxnSpPr>
            <a:cxnSpLocks/>
            <a:stCxn id="2036" idx="1"/>
            <a:endCxn id="2040" idx="2"/>
          </p:cNvCxnSpPr>
          <p:nvPr/>
        </p:nvCxnSpPr>
        <p:spPr>
          <a:xfrm rot="10800000">
            <a:off x="380252" y="10223486"/>
            <a:ext cx="4626364" cy="138329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48" name="CuadroTexto 2047">
            <a:extLst>
              <a:ext uri="{FF2B5EF4-FFF2-40B4-BE49-F238E27FC236}">
                <a16:creationId xmlns:a16="http://schemas.microsoft.com/office/drawing/2014/main" id="{B1C2A1B8-F87F-0761-20C9-474D1D4ACE6F}"/>
              </a:ext>
            </a:extLst>
          </p:cNvPr>
          <p:cNvSpPr txBox="1"/>
          <p:nvPr/>
        </p:nvSpPr>
        <p:spPr>
          <a:xfrm>
            <a:off x="3125284" y="8726673"/>
            <a:ext cx="78093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Aspartato</a:t>
            </a:r>
            <a:endParaRPr lang="es-ES" sz="11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049" name="Conector: angular 2048">
            <a:extLst>
              <a:ext uri="{FF2B5EF4-FFF2-40B4-BE49-F238E27FC236}">
                <a16:creationId xmlns:a16="http://schemas.microsoft.com/office/drawing/2014/main" id="{9A45CCFE-9FB0-70E3-BAFA-2FF3A888D14C}"/>
              </a:ext>
            </a:extLst>
          </p:cNvPr>
          <p:cNvCxnSpPr>
            <a:cxnSpLocks/>
            <a:stCxn id="2041" idx="0"/>
            <a:endCxn id="2048" idx="1"/>
          </p:cNvCxnSpPr>
          <p:nvPr/>
        </p:nvCxnSpPr>
        <p:spPr>
          <a:xfrm rot="5400000" flipH="1" flipV="1">
            <a:off x="2465300" y="8347337"/>
            <a:ext cx="149842" cy="1170125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19" name="CuadroTexto 1918">
            <a:extLst>
              <a:ext uri="{FF2B5EF4-FFF2-40B4-BE49-F238E27FC236}">
                <a16:creationId xmlns:a16="http://schemas.microsoft.com/office/drawing/2014/main" id="{D58448F1-C997-7AA3-4D46-84DFE9AB665B}"/>
              </a:ext>
            </a:extLst>
          </p:cNvPr>
          <p:cNvSpPr txBox="1"/>
          <p:nvPr/>
        </p:nvSpPr>
        <p:spPr>
          <a:xfrm>
            <a:off x="4231952" y="8058284"/>
            <a:ext cx="696627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Ornitina</a:t>
            </a:r>
            <a:endParaRPr lang="es-ES" sz="11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57" name="CuadroTexto 2056">
            <a:extLst>
              <a:ext uri="{FF2B5EF4-FFF2-40B4-BE49-F238E27FC236}">
                <a16:creationId xmlns:a16="http://schemas.microsoft.com/office/drawing/2014/main" id="{2144B066-D8D3-0DE4-2891-C9E86432D94C}"/>
              </a:ext>
            </a:extLst>
          </p:cNvPr>
          <p:cNvSpPr txBox="1"/>
          <p:nvPr/>
        </p:nvSpPr>
        <p:spPr>
          <a:xfrm>
            <a:off x="4907594" y="8722345"/>
            <a:ext cx="78093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Aspartato</a:t>
            </a:r>
            <a:endParaRPr lang="es-ES" sz="11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058" name="Conector recto de flecha 2057">
            <a:extLst>
              <a:ext uri="{FF2B5EF4-FFF2-40B4-BE49-F238E27FC236}">
                <a16:creationId xmlns:a16="http://schemas.microsoft.com/office/drawing/2014/main" id="{6FF17CB2-4BFC-E48C-CF40-538C137BF8DB}"/>
              </a:ext>
            </a:extLst>
          </p:cNvPr>
          <p:cNvCxnSpPr>
            <a:cxnSpLocks/>
            <a:stCxn id="2048" idx="3"/>
            <a:endCxn id="2057" idx="1"/>
          </p:cNvCxnSpPr>
          <p:nvPr/>
        </p:nvCxnSpPr>
        <p:spPr>
          <a:xfrm flipV="1">
            <a:off x="3906216" y="8853150"/>
            <a:ext cx="1001378" cy="43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62" name="CuadroTexto 2061">
            <a:extLst>
              <a:ext uri="{FF2B5EF4-FFF2-40B4-BE49-F238E27FC236}">
                <a16:creationId xmlns:a16="http://schemas.microsoft.com/office/drawing/2014/main" id="{00AD9944-8757-CCFC-DF58-9B3E3769F2A5}"/>
              </a:ext>
            </a:extLst>
          </p:cNvPr>
          <p:cNvSpPr txBox="1"/>
          <p:nvPr/>
        </p:nvSpPr>
        <p:spPr>
          <a:xfrm>
            <a:off x="4797708" y="9494589"/>
            <a:ext cx="1010781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Oxalacetato</a:t>
            </a:r>
            <a:endParaRPr lang="es-ES" sz="11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063" name="Conector recto de flecha 2062">
            <a:extLst>
              <a:ext uri="{FF2B5EF4-FFF2-40B4-BE49-F238E27FC236}">
                <a16:creationId xmlns:a16="http://schemas.microsoft.com/office/drawing/2014/main" id="{86227901-7AA3-892D-5FF3-F35DF294D2F5}"/>
              </a:ext>
            </a:extLst>
          </p:cNvPr>
          <p:cNvCxnSpPr>
            <a:cxnSpLocks/>
            <a:stCxn id="2057" idx="2"/>
            <a:endCxn id="2062" idx="0"/>
          </p:cNvCxnSpPr>
          <p:nvPr/>
        </p:nvCxnSpPr>
        <p:spPr>
          <a:xfrm>
            <a:off x="5298060" y="8983955"/>
            <a:ext cx="5039" cy="5106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68" name="Conector recto de flecha 2067">
            <a:extLst>
              <a:ext uri="{FF2B5EF4-FFF2-40B4-BE49-F238E27FC236}">
                <a16:creationId xmlns:a16="http://schemas.microsoft.com/office/drawing/2014/main" id="{6EFE6A68-306E-C9B5-9A47-F63F862BE792}"/>
              </a:ext>
            </a:extLst>
          </p:cNvPr>
          <p:cNvCxnSpPr>
            <a:cxnSpLocks/>
            <a:stCxn id="2062" idx="2"/>
            <a:endCxn id="2036" idx="0"/>
          </p:cNvCxnSpPr>
          <p:nvPr/>
        </p:nvCxnSpPr>
        <p:spPr>
          <a:xfrm>
            <a:off x="5303099" y="9756199"/>
            <a:ext cx="6631" cy="4748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71" name="CuadroTexto 2070">
            <a:extLst>
              <a:ext uri="{FF2B5EF4-FFF2-40B4-BE49-F238E27FC236}">
                <a16:creationId xmlns:a16="http://schemas.microsoft.com/office/drawing/2014/main" id="{B5FF78C3-F9ED-12F2-E37B-007862638539}"/>
              </a:ext>
            </a:extLst>
          </p:cNvPr>
          <p:cNvSpPr txBox="1"/>
          <p:nvPr/>
        </p:nvSpPr>
        <p:spPr>
          <a:xfrm>
            <a:off x="4986867" y="10404563"/>
            <a:ext cx="271649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Lanzadera aspartato-</a:t>
            </a:r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arginosuccinato</a:t>
            </a:r>
            <a:endParaRPr lang="es-E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72" name="CuadroTexto 2071">
            <a:extLst>
              <a:ext uri="{FF2B5EF4-FFF2-40B4-BE49-F238E27FC236}">
                <a16:creationId xmlns:a16="http://schemas.microsoft.com/office/drawing/2014/main" id="{9D8806AD-485E-9D4C-6727-FD15CDEBC3DB}"/>
              </a:ext>
            </a:extLst>
          </p:cNvPr>
          <p:cNvSpPr txBox="1"/>
          <p:nvPr/>
        </p:nvSpPr>
        <p:spPr>
          <a:xfrm>
            <a:off x="5481555" y="9001174"/>
            <a:ext cx="84992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Glutamato</a:t>
            </a:r>
            <a:endParaRPr lang="es-ES" sz="11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73" name="CuadroTexto 2072">
            <a:extLst>
              <a:ext uri="{FF2B5EF4-FFF2-40B4-BE49-F238E27FC236}">
                <a16:creationId xmlns:a16="http://schemas.microsoft.com/office/drawing/2014/main" id="{5B923E08-E5A4-CD24-0E15-A92FDC405D39}"/>
              </a:ext>
            </a:extLst>
          </p:cNvPr>
          <p:cNvSpPr txBox="1"/>
          <p:nvPr/>
        </p:nvSpPr>
        <p:spPr>
          <a:xfrm>
            <a:off x="5498743" y="9195519"/>
            <a:ext cx="11344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sz="1100" dirty="0">
                <a:latin typeface="Arial" panose="020B0604020202020204" pitchFamily="34" charset="0"/>
                <a:cs typeface="Arial" panose="020B0604020202020204" pitchFamily="34" charset="0"/>
              </a:rPr>
              <a:t>α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cetoglutarato</a:t>
            </a:r>
            <a:endParaRPr lang="es-ES" sz="11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074" name="Conector: curvado 2073">
            <a:extLst>
              <a:ext uri="{FF2B5EF4-FFF2-40B4-BE49-F238E27FC236}">
                <a16:creationId xmlns:a16="http://schemas.microsoft.com/office/drawing/2014/main" id="{8B762AD7-7D35-ADF7-B9FD-E905F7AB8FDA}"/>
              </a:ext>
            </a:extLst>
          </p:cNvPr>
          <p:cNvCxnSpPr>
            <a:cxnSpLocks/>
            <a:stCxn id="2072" idx="1"/>
            <a:endCxn id="2073" idx="1"/>
          </p:cNvCxnSpPr>
          <p:nvPr/>
        </p:nvCxnSpPr>
        <p:spPr>
          <a:xfrm rot="10800000" flipH="1" flipV="1">
            <a:off x="5481555" y="9131978"/>
            <a:ext cx="17188" cy="194345"/>
          </a:xfrm>
          <a:prstGeom prst="curvedConnector3">
            <a:avLst>
              <a:gd name="adj1" fmla="val -1054294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78" name="Conector: curvado 2077">
            <a:extLst>
              <a:ext uri="{FF2B5EF4-FFF2-40B4-BE49-F238E27FC236}">
                <a16:creationId xmlns:a16="http://schemas.microsoft.com/office/drawing/2014/main" id="{3961D6ED-7B0F-6C4E-2DC7-6F9C58C449B6}"/>
              </a:ext>
            </a:extLst>
          </p:cNvPr>
          <p:cNvCxnSpPr>
            <a:cxnSpLocks/>
            <a:stCxn id="2079" idx="1"/>
            <a:endCxn id="2080" idx="1"/>
          </p:cNvCxnSpPr>
          <p:nvPr/>
        </p:nvCxnSpPr>
        <p:spPr>
          <a:xfrm rot="10800000" flipH="1" flipV="1">
            <a:off x="5517129" y="9887004"/>
            <a:ext cx="8819" cy="201972"/>
          </a:xfrm>
          <a:prstGeom prst="curvedConnector3">
            <a:avLst>
              <a:gd name="adj1" fmla="val -2406985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79" name="CuadroTexto 2078">
            <a:extLst>
              <a:ext uri="{FF2B5EF4-FFF2-40B4-BE49-F238E27FC236}">
                <a16:creationId xmlns:a16="http://schemas.microsoft.com/office/drawing/2014/main" id="{00E5D72E-DF33-6572-9954-7FCC3B60EA7A}"/>
              </a:ext>
            </a:extLst>
          </p:cNvPr>
          <p:cNvSpPr txBox="1"/>
          <p:nvPr/>
        </p:nvSpPr>
        <p:spPr>
          <a:xfrm>
            <a:off x="5517130" y="9756199"/>
            <a:ext cx="634829" cy="26161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2700000" scaled="1"/>
            <a:tileRect/>
          </a:gradFill>
        </p:spPr>
        <p:txBody>
          <a:bodyPr wrap="square" rtlCol="0">
            <a:spAutoFit/>
          </a:bodyPr>
          <a:lstStyle/>
          <a:p>
            <a:r>
              <a:rPr lang="es-ES" sz="11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NADH</a:t>
            </a:r>
          </a:p>
        </p:txBody>
      </p:sp>
      <p:sp>
        <p:nvSpPr>
          <p:cNvPr id="2080" name="CuadroTexto 2079">
            <a:extLst>
              <a:ext uri="{FF2B5EF4-FFF2-40B4-BE49-F238E27FC236}">
                <a16:creationId xmlns:a16="http://schemas.microsoft.com/office/drawing/2014/main" id="{AB6C6CAE-A7F3-9162-8C51-C2BB4999C7FE}"/>
              </a:ext>
            </a:extLst>
          </p:cNvPr>
          <p:cNvSpPr txBox="1"/>
          <p:nvPr/>
        </p:nvSpPr>
        <p:spPr>
          <a:xfrm>
            <a:off x="5525949" y="9958171"/>
            <a:ext cx="56551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NAD</a:t>
            </a:r>
            <a:r>
              <a:rPr lang="es-ES" sz="1100" baseline="30000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</a:p>
        </p:txBody>
      </p:sp>
      <p:sp>
        <p:nvSpPr>
          <p:cNvPr id="2085" name="CuadroTexto 2084">
            <a:extLst>
              <a:ext uri="{FF2B5EF4-FFF2-40B4-BE49-F238E27FC236}">
                <a16:creationId xmlns:a16="http://schemas.microsoft.com/office/drawing/2014/main" id="{912D3D32-40A5-A91E-3A3E-91E358EA1E27}"/>
              </a:ext>
            </a:extLst>
          </p:cNvPr>
          <p:cNvSpPr txBox="1"/>
          <p:nvPr/>
        </p:nvSpPr>
        <p:spPr>
          <a:xfrm rot="16200000">
            <a:off x="2946358" y="9481117"/>
            <a:ext cx="185012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Lanzadera malato-aspartato</a:t>
            </a:r>
            <a:endParaRPr lang="es-ES" sz="11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86" name="CuadroTexto 2085">
            <a:extLst>
              <a:ext uri="{FF2B5EF4-FFF2-40B4-BE49-F238E27FC236}">
                <a16:creationId xmlns:a16="http://schemas.microsoft.com/office/drawing/2014/main" id="{E9634ECD-A0C7-2D8C-525F-71A89BD53371}"/>
              </a:ext>
            </a:extLst>
          </p:cNvPr>
          <p:cNvSpPr txBox="1"/>
          <p:nvPr/>
        </p:nvSpPr>
        <p:spPr>
          <a:xfrm>
            <a:off x="193301" y="6555308"/>
            <a:ext cx="14302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N-acetil-glutamato</a:t>
            </a:r>
            <a:endParaRPr lang="es-ES" sz="11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088" name="Conector: angular 2087">
            <a:extLst>
              <a:ext uri="{FF2B5EF4-FFF2-40B4-BE49-F238E27FC236}">
                <a16:creationId xmlns:a16="http://schemas.microsoft.com/office/drawing/2014/main" id="{AFF96646-01C8-F721-D268-74FD9674477B}"/>
              </a:ext>
            </a:extLst>
          </p:cNvPr>
          <p:cNvCxnSpPr>
            <a:stCxn id="2086" idx="0"/>
            <a:endCxn id="1891" idx="0"/>
          </p:cNvCxnSpPr>
          <p:nvPr/>
        </p:nvCxnSpPr>
        <p:spPr>
          <a:xfrm rot="16200000" flipH="1">
            <a:off x="1950430" y="5513288"/>
            <a:ext cx="31943" cy="2115983"/>
          </a:xfrm>
          <a:prstGeom prst="bentConnector3">
            <a:avLst>
              <a:gd name="adj1" fmla="val -377062"/>
            </a:avLst>
          </a:prstGeom>
          <a:ln>
            <a:solidFill>
              <a:schemeClr val="bg1">
                <a:lumMod val="75000"/>
              </a:schemeClr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090" name="Grupo 2089">
            <a:extLst>
              <a:ext uri="{FF2B5EF4-FFF2-40B4-BE49-F238E27FC236}">
                <a16:creationId xmlns:a16="http://schemas.microsoft.com/office/drawing/2014/main" id="{728C438F-42AF-BD99-D1E9-96995CB244C0}"/>
              </a:ext>
            </a:extLst>
          </p:cNvPr>
          <p:cNvGrpSpPr/>
          <p:nvPr/>
        </p:nvGrpSpPr>
        <p:grpSpPr>
          <a:xfrm>
            <a:off x="3091460" y="6439757"/>
            <a:ext cx="128136" cy="128136"/>
            <a:chOff x="2606150" y="3355191"/>
            <a:chExt cx="128136" cy="128136"/>
          </a:xfrm>
        </p:grpSpPr>
        <p:sp>
          <p:nvSpPr>
            <p:cNvPr id="2091" name="Elipse 2090">
              <a:extLst>
                <a:ext uri="{FF2B5EF4-FFF2-40B4-BE49-F238E27FC236}">
                  <a16:creationId xmlns:a16="http://schemas.microsoft.com/office/drawing/2014/main" id="{1D832ABD-58A4-1873-0609-64133E3DC933}"/>
                </a:ext>
              </a:extLst>
            </p:cNvPr>
            <p:cNvSpPr/>
            <p:nvPr/>
          </p:nvSpPr>
          <p:spPr>
            <a:xfrm>
              <a:off x="2606150" y="3355191"/>
              <a:ext cx="128136" cy="128136"/>
            </a:xfrm>
            <a:prstGeom prst="ellipse">
              <a:avLst/>
            </a:prstGeom>
            <a:noFill/>
            <a:ln w="12700"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092" name="Triángulo isósceles 2091">
              <a:extLst>
                <a:ext uri="{FF2B5EF4-FFF2-40B4-BE49-F238E27FC236}">
                  <a16:creationId xmlns:a16="http://schemas.microsoft.com/office/drawing/2014/main" id="{4ED325C4-7337-247B-F714-79FA3EFD9207}"/>
                </a:ext>
              </a:extLst>
            </p:cNvPr>
            <p:cNvSpPr/>
            <p:nvPr/>
          </p:nvSpPr>
          <p:spPr>
            <a:xfrm>
              <a:off x="2627902" y="3372696"/>
              <a:ext cx="81599" cy="82325"/>
            </a:xfrm>
            <a:prstGeom prst="triangle">
              <a:avLst/>
            </a:prstGeom>
            <a:solidFill>
              <a:schemeClr val="accent6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sp>
        <p:nvSpPr>
          <p:cNvPr id="2093" name="CuadroTexto 2092">
            <a:extLst>
              <a:ext uri="{FF2B5EF4-FFF2-40B4-BE49-F238E27FC236}">
                <a16:creationId xmlns:a16="http://schemas.microsoft.com/office/drawing/2014/main" id="{1A5C127B-CA09-7130-8B3E-764F27541B73}"/>
              </a:ext>
            </a:extLst>
          </p:cNvPr>
          <p:cNvSpPr txBox="1"/>
          <p:nvPr/>
        </p:nvSpPr>
        <p:spPr>
          <a:xfrm>
            <a:off x="61789" y="8134648"/>
            <a:ext cx="165885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Acetil-</a:t>
            </a:r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CoA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 + Glutamato</a:t>
            </a:r>
            <a:endParaRPr lang="es-ES" sz="11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94" name="CuadroTexto 2093">
            <a:extLst>
              <a:ext uri="{FF2B5EF4-FFF2-40B4-BE49-F238E27FC236}">
                <a16:creationId xmlns:a16="http://schemas.microsoft.com/office/drawing/2014/main" id="{49E01A51-3FFB-67A9-CC94-91F1524DB416}"/>
              </a:ext>
            </a:extLst>
          </p:cNvPr>
          <p:cNvSpPr txBox="1"/>
          <p:nvPr/>
        </p:nvSpPr>
        <p:spPr>
          <a:xfrm>
            <a:off x="983168" y="7540852"/>
            <a:ext cx="87120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Arginina</a:t>
            </a:r>
            <a:endParaRPr lang="es-ES" sz="11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096" name="Conector recto de flecha 2095">
            <a:extLst>
              <a:ext uri="{FF2B5EF4-FFF2-40B4-BE49-F238E27FC236}">
                <a16:creationId xmlns:a16="http://schemas.microsoft.com/office/drawing/2014/main" id="{FF3ABEF6-710E-0DB7-49CA-250F9E637F29}"/>
              </a:ext>
            </a:extLst>
          </p:cNvPr>
          <p:cNvCxnSpPr>
            <a:cxnSpLocks/>
            <a:stCxn id="2093" idx="0"/>
            <a:endCxn id="2086" idx="2"/>
          </p:cNvCxnSpPr>
          <p:nvPr/>
        </p:nvCxnSpPr>
        <p:spPr>
          <a:xfrm flipV="1">
            <a:off x="891217" y="6816918"/>
            <a:ext cx="17194" cy="13177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99" name="CuadroTexto 2098">
            <a:extLst>
              <a:ext uri="{FF2B5EF4-FFF2-40B4-BE49-F238E27FC236}">
                <a16:creationId xmlns:a16="http://schemas.microsoft.com/office/drawing/2014/main" id="{191F51FD-746C-891F-0484-4F05E396AE79}"/>
              </a:ext>
            </a:extLst>
          </p:cNvPr>
          <p:cNvSpPr txBox="1"/>
          <p:nvPr/>
        </p:nvSpPr>
        <p:spPr>
          <a:xfrm>
            <a:off x="-238859" y="7150161"/>
            <a:ext cx="113929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N-acetil-glutamato sintasa</a:t>
            </a:r>
            <a:endParaRPr lang="es-ES" sz="11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101" name="Conector: angular 2100">
            <a:extLst>
              <a:ext uri="{FF2B5EF4-FFF2-40B4-BE49-F238E27FC236}">
                <a16:creationId xmlns:a16="http://schemas.microsoft.com/office/drawing/2014/main" id="{116A44D5-5481-FB8A-ED9C-F6C1DD326D7F}"/>
              </a:ext>
            </a:extLst>
          </p:cNvPr>
          <p:cNvCxnSpPr>
            <a:cxnSpLocks/>
            <a:stCxn id="2094" idx="0"/>
            <a:endCxn id="2099" idx="3"/>
          </p:cNvCxnSpPr>
          <p:nvPr/>
        </p:nvCxnSpPr>
        <p:spPr>
          <a:xfrm rot="16200000" flipV="1">
            <a:off x="1114301" y="7236383"/>
            <a:ext cx="90609" cy="518330"/>
          </a:xfrm>
          <a:prstGeom prst="bentConnector2">
            <a:avLst/>
          </a:prstGeom>
          <a:ln>
            <a:solidFill>
              <a:schemeClr val="bg1">
                <a:lumMod val="75000"/>
              </a:schemeClr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104" name="Grupo 2103">
            <a:extLst>
              <a:ext uri="{FF2B5EF4-FFF2-40B4-BE49-F238E27FC236}">
                <a16:creationId xmlns:a16="http://schemas.microsoft.com/office/drawing/2014/main" id="{2B730895-6DDA-501E-FB22-6B031409D5CF}"/>
              </a:ext>
            </a:extLst>
          </p:cNvPr>
          <p:cNvGrpSpPr/>
          <p:nvPr/>
        </p:nvGrpSpPr>
        <p:grpSpPr>
          <a:xfrm>
            <a:off x="1111530" y="7260750"/>
            <a:ext cx="128136" cy="128136"/>
            <a:chOff x="2606150" y="3355191"/>
            <a:chExt cx="128136" cy="128136"/>
          </a:xfrm>
        </p:grpSpPr>
        <p:sp>
          <p:nvSpPr>
            <p:cNvPr id="2105" name="Elipse 2104">
              <a:extLst>
                <a:ext uri="{FF2B5EF4-FFF2-40B4-BE49-F238E27FC236}">
                  <a16:creationId xmlns:a16="http://schemas.microsoft.com/office/drawing/2014/main" id="{BEF4280D-9721-6C3D-7D43-F95ED4AAF140}"/>
                </a:ext>
              </a:extLst>
            </p:cNvPr>
            <p:cNvSpPr/>
            <p:nvPr/>
          </p:nvSpPr>
          <p:spPr>
            <a:xfrm>
              <a:off x="2606150" y="3355191"/>
              <a:ext cx="128136" cy="128136"/>
            </a:xfrm>
            <a:prstGeom prst="ellipse">
              <a:avLst/>
            </a:prstGeom>
            <a:noFill/>
            <a:ln w="12700"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106" name="Triángulo isósceles 2105">
              <a:extLst>
                <a:ext uri="{FF2B5EF4-FFF2-40B4-BE49-F238E27FC236}">
                  <a16:creationId xmlns:a16="http://schemas.microsoft.com/office/drawing/2014/main" id="{0339E874-A135-F51A-3C50-21B15ABFDBC9}"/>
                </a:ext>
              </a:extLst>
            </p:cNvPr>
            <p:cNvSpPr/>
            <p:nvPr/>
          </p:nvSpPr>
          <p:spPr>
            <a:xfrm>
              <a:off x="2627902" y="3372696"/>
              <a:ext cx="81599" cy="82325"/>
            </a:xfrm>
            <a:prstGeom prst="triangle">
              <a:avLst/>
            </a:prstGeom>
            <a:solidFill>
              <a:schemeClr val="accent6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sp>
        <p:nvSpPr>
          <p:cNvPr id="2107" name="CuadroTexto 2106">
            <a:extLst>
              <a:ext uri="{FF2B5EF4-FFF2-40B4-BE49-F238E27FC236}">
                <a16:creationId xmlns:a16="http://schemas.microsoft.com/office/drawing/2014/main" id="{EDAF6412-6CEB-05AC-5671-E79CB502D057}"/>
              </a:ext>
            </a:extLst>
          </p:cNvPr>
          <p:cNvSpPr txBox="1"/>
          <p:nvPr/>
        </p:nvSpPr>
        <p:spPr>
          <a:xfrm>
            <a:off x="4024221" y="9001174"/>
            <a:ext cx="126996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Aspartato aminotransferasa</a:t>
            </a:r>
            <a:endParaRPr lang="es-ES" sz="11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08" name="CuadroTexto 2107">
            <a:extLst>
              <a:ext uri="{FF2B5EF4-FFF2-40B4-BE49-F238E27FC236}">
                <a16:creationId xmlns:a16="http://schemas.microsoft.com/office/drawing/2014/main" id="{F65F5641-576E-BB42-A868-FCBAEF9FAFE5}"/>
              </a:ext>
            </a:extLst>
          </p:cNvPr>
          <p:cNvSpPr txBox="1"/>
          <p:nvPr/>
        </p:nvSpPr>
        <p:spPr>
          <a:xfrm>
            <a:off x="4021420" y="9756199"/>
            <a:ext cx="126996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Malato deshidrogenasa</a:t>
            </a:r>
            <a:endParaRPr lang="es-ES" sz="11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13" name="CuadroTexto 2112">
            <a:extLst>
              <a:ext uri="{FF2B5EF4-FFF2-40B4-BE49-F238E27FC236}">
                <a16:creationId xmlns:a16="http://schemas.microsoft.com/office/drawing/2014/main" id="{800FFF67-936A-B674-EEE4-35BC4FBBE701}"/>
              </a:ext>
            </a:extLst>
          </p:cNvPr>
          <p:cNvSpPr txBox="1"/>
          <p:nvPr/>
        </p:nvSpPr>
        <p:spPr>
          <a:xfrm>
            <a:off x="2002812" y="227374"/>
            <a:ext cx="51904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NH</a:t>
            </a:r>
            <a:r>
              <a:rPr lang="es-ES" sz="1100" baseline="-250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s-ES" sz="1100" baseline="30000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</a:p>
        </p:txBody>
      </p:sp>
      <p:cxnSp>
        <p:nvCxnSpPr>
          <p:cNvPr id="2114" name="Conector: angular 2113">
            <a:extLst>
              <a:ext uri="{FF2B5EF4-FFF2-40B4-BE49-F238E27FC236}">
                <a16:creationId xmlns:a16="http://schemas.microsoft.com/office/drawing/2014/main" id="{945F309E-A962-864F-0704-277F8A2CE718}"/>
              </a:ext>
            </a:extLst>
          </p:cNvPr>
          <p:cNvCxnSpPr>
            <a:cxnSpLocks/>
            <a:stCxn id="1710" idx="1"/>
            <a:endCxn id="2113" idx="1"/>
          </p:cNvCxnSpPr>
          <p:nvPr/>
        </p:nvCxnSpPr>
        <p:spPr>
          <a:xfrm rot="10800000" flipH="1">
            <a:off x="1804528" y="358179"/>
            <a:ext cx="198284" cy="1013248"/>
          </a:xfrm>
          <a:prstGeom prst="bentConnector3">
            <a:avLst>
              <a:gd name="adj1" fmla="val -6199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21" name="CuadroTexto 2120">
            <a:extLst>
              <a:ext uri="{FF2B5EF4-FFF2-40B4-BE49-F238E27FC236}">
                <a16:creationId xmlns:a16="http://schemas.microsoft.com/office/drawing/2014/main" id="{3C9E6E81-B1A2-4A52-69BC-DDEA7FF25FC5}"/>
              </a:ext>
            </a:extLst>
          </p:cNvPr>
          <p:cNvSpPr txBox="1"/>
          <p:nvPr/>
        </p:nvSpPr>
        <p:spPr>
          <a:xfrm>
            <a:off x="2558695" y="935614"/>
            <a:ext cx="481435" cy="26161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2700000" scaled="1"/>
            <a:tileRect/>
          </a:gradFill>
        </p:spPr>
        <p:txBody>
          <a:bodyPr wrap="square" rtlCol="0">
            <a:spAutoFit/>
          </a:bodyPr>
          <a:lstStyle/>
          <a:p>
            <a:pPr algn="r"/>
            <a:r>
              <a:rPr lang="es-ES" sz="11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ATP</a:t>
            </a:r>
          </a:p>
        </p:txBody>
      </p:sp>
      <p:cxnSp>
        <p:nvCxnSpPr>
          <p:cNvPr id="2122" name="Conector: curvado 2121">
            <a:extLst>
              <a:ext uri="{FF2B5EF4-FFF2-40B4-BE49-F238E27FC236}">
                <a16:creationId xmlns:a16="http://schemas.microsoft.com/office/drawing/2014/main" id="{793D7B3E-4CD8-09D6-0F56-188F1D3C9387}"/>
              </a:ext>
            </a:extLst>
          </p:cNvPr>
          <p:cNvCxnSpPr>
            <a:cxnSpLocks/>
            <a:stCxn id="2121" idx="3"/>
          </p:cNvCxnSpPr>
          <p:nvPr/>
        </p:nvCxnSpPr>
        <p:spPr>
          <a:xfrm>
            <a:off x="3040130" y="1066419"/>
            <a:ext cx="375844" cy="417499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26" name="Conector: angular 2125">
            <a:extLst>
              <a:ext uri="{FF2B5EF4-FFF2-40B4-BE49-F238E27FC236}">
                <a16:creationId xmlns:a16="http://schemas.microsoft.com/office/drawing/2014/main" id="{77BFABA6-512A-B016-9BD1-447E65891409}"/>
              </a:ext>
            </a:extLst>
          </p:cNvPr>
          <p:cNvCxnSpPr>
            <a:cxnSpLocks/>
            <a:stCxn id="1765" idx="0"/>
            <a:endCxn id="1686" idx="2"/>
          </p:cNvCxnSpPr>
          <p:nvPr/>
        </p:nvCxnSpPr>
        <p:spPr>
          <a:xfrm rot="16200000" flipV="1">
            <a:off x="4045144" y="697892"/>
            <a:ext cx="1647348" cy="3251886"/>
          </a:xfrm>
          <a:prstGeom prst="bentConnector3">
            <a:avLst>
              <a:gd name="adj1" fmla="val 55098"/>
            </a:avLst>
          </a:prstGeom>
          <a:ln>
            <a:solidFill>
              <a:schemeClr val="bg1">
                <a:lumMod val="75000"/>
              </a:schemeClr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131" name="Grupo 2130">
            <a:extLst>
              <a:ext uri="{FF2B5EF4-FFF2-40B4-BE49-F238E27FC236}">
                <a16:creationId xmlns:a16="http://schemas.microsoft.com/office/drawing/2014/main" id="{4AC262FD-3157-A1BB-B163-DD2E2D34FE6C}"/>
              </a:ext>
            </a:extLst>
          </p:cNvPr>
          <p:cNvGrpSpPr/>
          <p:nvPr/>
        </p:nvGrpSpPr>
        <p:grpSpPr>
          <a:xfrm>
            <a:off x="3561736" y="2039269"/>
            <a:ext cx="128136" cy="128136"/>
            <a:chOff x="908127" y="1162591"/>
            <a:chExt cx="128136" cy="128136"/>
          </a:xfrm>
        </p:grpSpPr>
        <p:sp>
          <p:nvSpPr>
            <p:cNvPr id="2132" name="Elipse 2131">
              <a:extLst>
                <a:ext uri="{FF2B5EF4-FFF2-40B4-BE49-F238E27FC236}">
                  <a16:creationId xmlns:a16="http://schemas.microsoft.com/office/drawing/2014/main" id="{61D78636-3AF2-7709-05DE-1630FBDA11D4}"/>
                </a:ext>
              </a:extLst>
            </p:cNvPr>
            <p:cNvSpPr/>
            <p:nvPr/>
          </p:nvSpPr>
          <p:spPr>
            <a:xfrm>
              <a:off x="908127" y="1162591"/>
              <a:ext cx="128136" cy="128136"/>
            </a:xfrm>
            <a:prstGeom prst="ellipse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133" name="Cruz 2132">
              <a:extLst>
                <a:ext uri="{FF2B5EF4-FFF2-40B4-BE49-F238E27FC236}">
                  <a16:creationId xmlns:a16="http://schemas.microsoft.com/office/drawing/2014/main" id="{ABE5DFB9-90D1-ED0A-B11A-240420B41C78}"/>
                </a:ext>
              </a:extLst>
            </p:cNvPr>
            <p:cNvSpPr/>
            <p:nvPr/>
          </p:nvSpPr>
          <p:spPr>
            <a:xfrm rot="18725897">
              <a:off x="916573" y="1167869"/>
              <a:ext cx="115542" cy="115987"/>
            </a:xfrm>
            <a:prstGeom prst="plus">
              <a:avLst>
                <a:gd name="adj" fmla="val 42398"/>
              </a:avLst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381232793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  <wetp:taskpane dockstate="right" visibility="0" width="438" row="1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735BD57F-20FB-4D2D-8A30-5DA41967796B}">
  <we:reference id="WA104178141" version="4.3.3.0" store="Omex" storeType="OMEX"/>
  <we:alternateReferences>
    <we:reference id="WA104178141" version="4.3.3.0" store="WA104178141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CD09CEAA-EBBC-4961-9963-C447C4D8BF92}">
  <we:reference id="WA200000113" version="1.0.0.0" store="Omex" storeType="OMEX"/>
  <we:alternateReferences>
    <we:reference id="WA200000113" version="1.0.0.0" store="WA20000011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186</Words>
  <Application>Microsoft Office PowerPoint</Application>
  <PresentationFormat>Personalizado</PresentationFormat>
  <Paragraphs>108</Paragraphs>
  <Slides>1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Alfonso Olaya Abril</dc:creator>
  <cp:lastModifiedBy>Alfonso Olaya Abril</cp:lastModifiedBy>
  <cp:revision>33</cp:revision>
  <dcterms:created xsi:type="dcterms:W3CDTF">2025-10-09T08:39:27Z</dcterms:created>
  <dcterms:modified xsi:type="dcterms:W3CDTF">2025-11-02T17:27:14Z</dcterms:modified>
</cp:coreProperties>
</file>