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1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9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187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E8AAF-94BD-444C-8583-0840028503DA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AC728-D21E-4C38-B7BB-B0AA978065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6489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06EB36F-7BD0-7F77-3104-6DCBAB0B5CD6}"/>
              </a:ext>
            </a:extLst>
          </p:cNvPr>
          <p:cNvSpPr/>
          <p:nvPr/>
        </p:nvSpPr>
        <p:spPr>
          <a:xfrm>
            <a:off x="133349" y="190500"/>
            <a:ext cx="7292975" cy="20193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D37DB08-ECA3-D328-AC3C-C06B44EA5F11}"/>
              </a:ext>
            </a:extLst>
          </p:cNvPr>
          <p:cNvSpPr txBox="1"/>
          <p:nvPr/>
        </p:nvSpPr>
        <p:spPr>
          <a:xfrm>
            <a:off x="277222" y="190500"/>
            <a:ext cx="6254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Ayuno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D26D3E3-AC94-C038-B97E-F18717576D83}"/>
              </a:ext>
            </a:extLst>
          </p:cNvPr>
          <p:cNvSpPr txBox="1"/>
          <p:nvPr/>
        </p:nvSpPr>
        <p:spPr>
          <a:xfrm>
            <a:off x="421095" y="417325"/>
            <a:ext cx="13195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Temprano (0-12h)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BF6D20D-D02D-1C96-8C24-5F7B7C448A4E}"/>
              </a:ext>
            </a:extLst>
          </p:cNvPr>
          <p:cNvSpPr txBox="1"/>
          <p:nvPr/>
        </p:nvSpPr>
        <p:spPr>
          <a:xfrm>
            <a:off x="420042" y="686562"/>
            <a:ext cx="14205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Intermedio (12-24h)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15DBE2A-36DD-54B1-75E6-39ACF2E6D90D}"/>
              </a:ext>
            </a:extLst>
          </p:cNvPr>
          <p:cNvSpPr txBox="1"/>
          <p:nvPr/>
        </p:nvSpPr>
        <p:spPr>
          <a:xfrm>
            <a:off x="420042" y="955799"/>
            <a:ext cx="10406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Tardío (&gt;24h)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EF9D5B-B896-8356-FAF3-8F33035349B5}"/>
              </a:ext>
            </a:extLst>
          </p:cNvPr>
          <p:cNvSpPr txBox="1"/>
          <p:nvPr/>
        </p:nvSpPr>
        <p:spPr>
          <a:xfrm>
            <a:off x="2028433" y="417325"/>
            <a:ext cx="23262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 (Glucogenólisis hepática)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C3EABAA-AC87-2E2F-1674-77924FA3C775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1740687" y="548130"/>
            <a:ext cx="2877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74ED6B85-738F-996C-6EE0-D73775BBDB7F}"/>
              </a:ext>
            </a:extLst>
          </p:cNvPr>
          <p:cNvSpPr txBox="1"/>
          <p:nvPr/>
        </p:nvSpPr>
        <p:spPr>
          <a:xfrm>
            <a:off x="2028433" y="686562"/>
            <a:ext cx="51347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No glucogenólisis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Gluconeogénesis (de glicerol, lipólisis) + lactato, músculo)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5E30E52-03F6-44C1-C8F6-372B0B6D4470}"/>
              </a:ext>
            </a:extLst>
          </p:cNvPr>
          <p:cNvSpPr txBox="1"/>
          <p:nvPr/>
        </p:nvSpPr>
        <p:spPr>
          <a:xfrm>
            <a:off x="2028433" y="955799"/>
            <a:ext cx="530844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Gluconeogénesis (AA del músculo esquelético, sobre todo de alanina y glutamina)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Gluconeogénesis en riñón a partir de glutamina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Cetogénesis hepática: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	- AG en adipocitos promovida por glucagón y la activación de ésta de la HSL 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	- inactivación ACC (vía AMPK)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	reduce necesidad de GNG + pérdida de proteína)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E2111ED0-F4D5-65E7-9E0F-3BF56548599D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1840624" y="817367"/>
            <a:ext cx="1878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7E872ADA-607B-0FCE-8888-6504C781015E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1460712" y="1086603"/>
            <a:ext cx="56772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74D7D7F6-BFCD-D24B-1D67-6CEE9B6456E6}"/>
              </a:ext>
            </a:extLst>
          </p:cNvPr>
          <p:cNvCxnSpPr>
            <a:cxnSpLocks/>
          </p:cNvCxnSpPr>
          <p:nvPr/>
        </p:nvCxnSpPr>
        <p:spPr>
          <a:xfrm>
            <a:off x="2179674" y="2105246"/>
            <a:ext cx="3402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971E74F3-DFC9-9FD5-3D2F-0CAF0B6A109D}"/>
              </a:ext>
            </a:extLst>
          </p:cNvPr>
          <p:cNvSpPr/>
          <p:nvPr/>
        </p:nvSpPr>
        <p:spPr>
          <a:xfrm>
            <a:off x="133349" y="2363876"/>
            <a:ext cx="7292975" cy="1781433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08FA83A-E56E-9D2A-EC1F-06ABE05F7DFC}"/>
              </a:ext>
            </a:extLst>
          </p:cNvPr>
          <p:cNvSpPr txBox="1"/>
          <p:nvPr/>
        </p:nvSpPr>
        <p:spPr>
          <a:xfrm>
            <a:off x="277222" y="2363876"/>
            <a:ext cx="7713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Ejercicio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ADE17A6-AC9B-9838-1457-A5952CF0B482}"/>
              </a:ext>
            </a:extLst>
          </p:cNvPr>
          <p:cNvSpPr txBox="1"/>
          <p:nvPr/>
        </p:nvSpPr>
        <p:spPr>
          <a:xfrm>
            <a:off x="421095" y="2596456"/>
            <a:ext cx="1476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Intenso (anaeróbico)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90C2B1D-DC51-C404-7A1E-2723C10CED36}"/>
              </a:ext>
            </a:extLst>
          </p:cNvPr>
          <p:cNvSpPr txBox="1"/>
          <p:nvPr/>
        </p:nvSpPr>
        <p:spPr>
          <a:xfrm>
            <a:off x="2028433" y="2596456"/>
            <a:ext cx="2380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Energía (de glucógeno y glucólisis)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8370805-5E5B-774C-BAF3-AD4B62D338DE}"/>
              </a:ext>
            </a:extLst>
          </p:cNvPr>
          <p:cNvSpPr txBox="1"/>
          <p:nvPr/>
        </p:nvSpPr>
        <p:spPr>
          <a:xfrm>
            <a:off x="2023619" y="2841550"/>
            <a:ext cx="27542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Piruvato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Lactato (regeneración 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+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899F87C-E4E6-D448-C52B-5B68CA92DEFF}"/>
              </a:ext>
            </a:extLst>
          </p:cNvPr>
          <p:cNvSpPr txBox="1"/>
          <p:nvPr/>
        </p:nvSpPr>
        <p:spPr>
          <a:xfrm>
            <a:off x="2023619" y="3097637"/>
            <a:ext cx="50674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Activación de glucógeno fosforilasa por Ca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2+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y por fosforilación (vía adrenalina)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9112899A-FF83-154E-7B61-989BD8C2E85F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1897781" y="2727261"/>
            <a:ext cx="1306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1AC8AE2-48E3-F828-FD79-7E2DDD8D81EB}"/>
              </a:ext>
            </a:extLst>
          </p:cNvPr>
          <p:cNvSpPr txBox="1"/>
          <p:nvPr/>
        </p:nvSpPr>
        <p:spPr>
          <a:xfrm>
            <a:off x="421095" y="3353724"/>
            <a:ext cx="15103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Prolongado (aerobio)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74CF862-87AD-0B70-A92B-4A1A9A23091A}"/>
              </a:ext>
            </a:extLst>
          </p:cNvPr>
          <p:cNvSpPr txBox="1"/>
          <p:nvPr/>
        </p:nvSpPr>
        <p:spPr>
          <a:xfrm>
            <a:off x="2028433" y="3353724"/>
            <a:ext cx="15359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Energía (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-oxidación)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ADFCB0A4-0846-1625-0DCC-08F03C533C43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>
            <a:off x="1931445" y="3484529"/>
            <a:ext cx="969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8F25A2E-C7A9-98B0-F34B-D0A5B5ADEAF6}"/>
              </a:ext>
            </a:extLst>
          </p:cNvPr>
          <p:cNvSpPr txBox="1"/>
          <p:nvPr/>
        </p:nvSpPr>
        <p:spPr>
          <a:xfrm>
            <a:off x="2028433" y="3598818"/>
            <a:ext cx="37048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Glucemia mantenida por el hígado con gluconeogénesis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2C4B548-2721-1A7C-F390-2B8B74C5F575}"/>
              </a:ext>
            </a:extLst>
          </p:cNvPr>
          <p:cNvSpPr txBox="1"/>
          <p:nvPr/>
        </p:nvSpPr>
        <p:spPr>
          <a:xfrm>
            <a:off x="2023619" y="3883699"/>
            <a:ext cx="26917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Adrenalina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↑ glucogenólisis + lipólisis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F17D5267-5013-3333-56D1-359B3F6FA346}"/>
              </a:ext>
            </a:extLst>
          </p:cNvPr>
          <p:cNvSpPr/>
          <p:nvPr/>
        </p:nvSpPr>
        <p:spPr>
          <a:xfrm>
            <a:off x="133348" y="4299386"/>
            <a:ext cx="7292975" cy="1781434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533F88E-AEF1-09CD-AE74-8FC082B2CBBC}"/>
              </a:ext>
            </a:extLst>
          </p:cNvPr>
          <p:cNvSpPr txBox="1"/>
          <p:nvPr/>
        </p:nvSpPr>
        <p:spPr>
          <a:xfrm>
            <a:off x="277221" y="4296280"/>
            <a:ext cx="33650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Diabetes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(hiperglucemia + desequilibrio hormonal)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CF7575E-E452-4EDA-0737-3235C9558187}"/>
              </a:ext>
            </a:extLst>
          </p:cNvPr>
          <p:cNvSpPr txBox="1"/>
          <p:nvPr/>
        </p:nvSpPr>
        <p:spPr>
          <a:xfrm>
            <a:off x="421095" y="4553481"/>
            <a:ext cx="12907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DM1 (no insulina)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304C516-3C24-2ED6-9D9D-5AD6A33552D4}"/>
              </a:ext>
            </a:extLst>
          </p:cNvPr>
          <p:cNvSpPr txBox="1"/>
          <p:nvPr/>
        </p:nvSpPr>
        <p:spPr>
          <a:xfrm>
            <a:off x="2023619" y="4553481"/>
            <a:ext cx="4969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“Estado de inanición extrema”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↑ catabolismo (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glugenólisis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GNG, lipólisis)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4C480EA6-CF7F-FE94-52CB-6BA07C73F8E4}"/>
              </a:ext>
            </a:extLst>
          </p:cNvPr>
          <p:cNvSpPr txBox="1"/>
          <p:nvPr/>
        </p:nvSpPr>
        <p:spPr>
          <a:xfrm>
            <a:off x="2033102" y="4784595"/>
            <a:ext cx="45175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No insulina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No inhibición HSL  Movilización de grasas constante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CAF882B-D134-07FB-C99A-FB03979C1818}"/>
              </a:ext>
            </a:extLst>
          </p:cNvPr>
          <p:cNvSpPr txBox="1"/>
          <p:nvPr/>
        </p:nvSpPr>
        <p:spPr>
          <a:xfrm>
            <a:off x="2023619" y="5023223"/>
            <a:ext cx="52758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Cetoacidosis diabética por cetogénesis derivada de la acumulación de 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DF4A3E96-D7EC-534D-5880-CAD98D90C324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1711833" y="4684286"/>
            <a:ext cx="3117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1D684D36-16D5-CD27-BD5B-635EF03821C9}"/>
              </a:ext>
            </a:extLst>
          </p:cNvPr>
          <p:cNvSpPr txBox="1"/>
          <p:nvPr/>
        </p:nvSpPr>
        <p:spPr>
          <a:xfrm>
            <a:off x="421095" y="5301797"/>
            <a:ext cx="1343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DM2 (resistencia*)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51F28E94-396B-5693-9C78-858701195BBF}"/>
              </a:ext>
            </a:extLst>
          </p:cNvPr>
          <p:cNvSpPr txBox="1"/>
          <p:nvPr/>
        </p:nvSpPr>
        <p:spPr>
          <a:xfrm>
            <a:off x="2023619" y="5301797"/>
            <a:ext cx="49600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Obesidad mórbida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Liberación adipocinas proinflamatorias  ↑ resistencia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E4D785CB-B6E8-97A8-7CB4-6FAC85DEA89F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>
            <a:off x="1764733" y="5432602"/>
            <a:ext cx="2588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0746267B-F69A-4920-4123-3A5737E466C2}"/>
              </a:ext>
            </a:extLst>
          </p:cNvPr>
          <p:cNvSpPr txBox="1"/>
          <p:nvPr/>
        </p:nvSpPr>
        <p:spPr>
          <a:xfrm>
            <a:off x="2023619" y="5563406"/>
            <a:ext cx="53132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↑ resistencia  hiperglucemia (diuresis osmótica  poliuria + polidipsia, + ↑ dependencia del músculo por AG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36776BA-061C-40F4-296F-FA538DCF0828}"/>
              </a:ext>
            </a:extLst>
          </p:cNvPr>
          <p:cNvSpPr/>
          <p:nvPr/>
        </p:nvSpPr>
        <p:spPr>
          <a:xfrm>
            <a:off x="133348" y="6228589"/>
            <a:ext cx="7292975" cy="1439245"/>
          </a:xfrm>
          <a:prstGeom prst="round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D18D5CA-F8B7-A30E-954F-6BCC88B71994}"/>
              </a:ext>
            </a:extLst>
          </p:cNvPr>
          <p:cNvSpPr txBox="1"/>
          <p:nvPr/>
        </p:nvSpPr>
        <p:spPr>
          <a:xfrm>
            <a:off x="277221" y="6230093"/>
            <a:ext cx="18036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Otros retos metabólicos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8ACAD73-F70C-BD87-8F59-B771AF1DF015}"/>
              </a:ext>
            </a:extLst>
          </p:cNvPr>
          <p:cNvSpPr txBox="1"/>
          <p:nvPr/>
        </p:nvSpPr>
        <p:spPr>
          <a:xfrm>
            <a:off x="421095" y="6479947"/>
            <a:ext cx="6495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Alcohol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4E44DDC-B3D9-6096-F526-0F709AEFE546}"/>
              </a:ext>
            </a:extLst>
          </p:cNvPr>
          <p:cNvSpPr txBox="1"/>
          <p:nvPr/>
        </p:nvSpPr>
        <p:spPr>
          <a:xfrm>
            <a:off x="2033102" y="6479947"/>
            <a:ext cx="50465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Oxidación requiere NADH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No 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+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citosólico  No GNG  Hipoglucemia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5D597AA-0F16-F5C9-0230-3359BA81EC1F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1070632" y="6610752"/>
            <a:ext cx="9624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809A560-C91D-1C51-AF1C-C136CFF5353D}"/>
              </a:ext>
            </a:extLst>
          </p:cNvPr>
          <p:cNvSpPr txBox="1"/>
          <p:nvPr/>
        </p:nvSpPr>
        <p:spPr>
          <a:xfrm>
            <a:off x="420042" y="6729802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Apetito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036FC62-703D-E3D5-2F35-F491820E59A5}"/>
              </a:ext>
            </a:extLst>
          </p:cNvPr>
          <p:cNvSpPr txBox="1"/>
          <p:nvPr/>
        </p:nvSpPr>
        <p:spPr>
          <a:xfrm>
            <a:off x="2032049" y="6729802"/>
            <a:ext cx="33297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Grelina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(estómago) (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↑), leptina (tejido adiposo) (↓) 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421D7AB-C2D9-33FB-6EE1-02428055B27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1043931" y="6860607"/>
            <a:ext cx="9881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E625E56-606D-9D7C-00B1-46DAD266EFB1}"/>
              </a:ext>
            </a:extLst>
          </p:cNvPr>
          <p:cNvSpPr txBox="1"/>
          <p:nvPr/>
        </p:nvSpPr>
        <p:spPr>
          <a:xfrm>
            <a:off x="420042" y="6989252"/>
            <a:ext cx="10791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Termogénesis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9BEDC43-0C06-B366-1955-A7D724FBF884}"/>
              </a:ext>
            </a:extLst>
          </p:cNvPr>
          <p:cNvSpPr txBox="1"/>
          <p:nvPr/>
        </p:nvSpPr>
        <p:spPr>
          <a:xfrm>
            <a:off x="2032049" y="6989252"/>
            <a:ext cx="26821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↑ por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desacoplantes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o por ciclos fútiles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FAD402F8-C72B-A39A-D470-79125D321627}"/>
              </a:ext>
            </a:extLst>
          </p:cNvPr>
          <p:cNvCxnSpPr>
            <a:cxnSpLocks/>
            <a:stCxn id="33" idx="3"/>
            <a:endCxn id="37" idx="1"/>
          </p:cNvCxnSpPr>
          <p:nvPr/>
        </p:nvCxnSpPr>
        <p:spPr>
          <a:xfrm>
            <a:off x="1499184" y="7120057"/>
            <a:ext cx="5328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8E2699C-1D93-873B-1CAB-8AD97D078DF9}"/>
              </a:ext>
            </a:extLst>
          </p:cNvPr>
          <p:cNvSpPr txBox="1"/>
          <p:nvPr/>
        </p:nvSpPr>
        <p:spPr>
          <a:xfrm>
            <a:off x="420042" y="7236947"/>
            <a:ext cx="1369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Dieta hiperproteica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7BE87542-C57E-A181-BE1D-FBECA7FE2CB0}"/>
              </a:ext>
            </a:extLst>
          </p:cNvPr>
          <p:cNvSpPr txBox="1"/>
          <p:nvPr/>
        </p:nvSpPr>
        <p:spPr>
          <a:xfrm>
            <a:off x="2032049" y="7236947"/>
            <a:ext cx="53942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Si también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↓ carbohidratos 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↑ GNG a partir de alanina (para evitar hipoglucemia) + ciclo urea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(para eliminar exceso de nitrógeno)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800E76D3-0D2F-0EEE-31E8-817E93FBD976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1789328" y="7367752"/>
            <a:ext cx="2342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5729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298</Words>
  <Application>Microsoft Office PowerPoint</Application>
  <PresentationFormat>Personalizado</PresentationFormat>
  <Paragraphs>38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42</cp:revision>
  <dcterms:created xsi:type="dcterms:W3CDTF">2025-10-09T08:39:27Z</dcterms:created>
  <dcterms:modified xsi:type="dcterms:W3CDTF">2026-01-23T09:45:20Z</dcterms:modified>
</cp:coreProperties>
</file>