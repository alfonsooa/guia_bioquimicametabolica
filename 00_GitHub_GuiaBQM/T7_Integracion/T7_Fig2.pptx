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210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8AAF-94BD-444C-8583-0840028503DA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AC728-D21E-4C38-B7BB-B0AA97806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4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ágono 1">
            <a:extLst>
              <a:ext uri="{FF2B5EF4-FFF2-40B4-BE49-F238E27FC236}">
                <a16:creationId xmlns:a16="http://schemas.microsoft.com/office/drawing/2014/main" id="{6ED39568-54C2-9DBA-C9F5-2ECB0191FBC2}"/>
              </a:ext>
            </a:extLst>
          </p:cNvPr>
          <p:cNvSpPr/>
          <p:nvPr/>
        </p:nvSpPr>
        <p:spPr>
          <a:xfrm>
            <a:off x="3182937" y="2170906"/>
            <a:ext cx="1155700" cy="558800"/>
          </a:xfrm>
          <a:prstGeom prst="hexagon">
            <a:avLst/>
          </a:prstGeom>
          <a:ln w="190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A5AB07-2D31-0BCE-E0E5-627E68E78384}"/>
              </a:ext>
            </a:extLst>
          </p:cNvPr>
          <p:cNvSpPr/>
          <p:nvPr/>
        </p:nvSpPr>
        <p:spPr>
          <a:xfrm>
            <a:off x="698705" y="368710"/>
            <a:ext cx="1396180" cy="63909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Glúcidos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(Glucólisis)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5B34B1-F2BD-3439-D01D-DF1F2ACD2C5B}"/>
              </a:ext>
            </a:extLst>
          </p:cNvPr>
          <p:cNvSpPr/>
          <p:nvPr/>
        </p:nvSpPr>
        <p:spPr>
          <a:xfrm>
            <a:off x="698705" y="2125022"/>
            <a:ext cx="1396180" cy="639096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Lípidos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-oxidación AG)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7E05221-97A0-4BAB-692B-4D6D3E5F447D}"/>
              </a:ext>
            </a:extLst>
          </p:cNvPr>
          <p:cNvSpPr/>
          <p:nvPr/>
        </p:nvSpPr>
        <p:spPr>
          <a:xfrm>
            <a:off x="698705" y="3881334"/>
            <a:ext cx="1396180" cy="63909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Aminoácidos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cetogénicos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6C98253-3211-E5A6-4079-7322A5A22DF3}"/>
              </a:ext>
            </a:extLst>
          </p:cNvPr>
          <p:cNvCxnSpPr>
            <a:stCxn id="3" idx="3"/>
            <a:endCxn id="2" idx="4"/>
          </p:cNvCxnSpPr>
          <p:nvPr/>
        </p:nvCxnSpPr>
        <p:spPr>
          <a:xfrm>
            <a:off x="2094885" y="688258"/>
            <a:ext cx="1227752" cy="148264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8F7708D-6675-7934-1EDE-CFBE8D477F76}"/>
              </a:ext>
            </a:extLst>
          </p:cNvPr>
          <p:cNvCxnSpPr>
            <a:cxnSpLocks/>
            <a:stCxn id="4" idx="3"/>
            <a:endCxn id="2" idx="3"/>
          </p:cNvCxnSpPr>
          <p:nvPr/>
        </p:nvCxnSpPr>
        <p:spPr>
          <a:xfrm>
            <a:off x="2094885" y="2444570"/>
            <a:ext cx="1088052" cy="573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9136C22-CA34-2A1A-4401-984881BAC3C7}"/>
              </a:ext>
            </a:extLst>
          </p:cNvPr>
          <p:cNvCxnSpPr>
            <a:cxnSpLocks/>
            <a:stCxn id="5" idx="3"/>
            <a:endCxn id="2" idx="2"/>
          </p:cNvCxnSpPr>
          <p:nvPr/>
        </p:nvCxnSpPr>
        <p:spPr>
          <a:xfrm flipV="1">
            <a:off x="2094885" y="2729706"/>
            <a:ext cx="1227752" cy="14711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94ADEA3-5CCA-641C-7ACF-D97D311D541A}"/>
              </a:ext>
            </a:extLst>
          </p:cNvPr>
          <p:cNvSpPr txBox="1"/>
          <p:nvPr/>
        </p:nvSpPr>
        <p:spPr>
          <a:xfrm>
            <a:off x="1646470" y="4520430"/>
            <a:ext cx="17603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Leucina: solo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cetogénico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(no glucogénico)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389FFB-5525-3CF8-BE6F-9A1107DD0CD2}"/>
              </a:ext>
            </a:extLst>
          </p:cNvPr>
          <p:cNvSpPr txBox="1"/>
          <p:nvPr/>
        </p:nvSpPr>
        <p:spPr>
          <a:xfrm>
            <a:off x="2238315" y="576919"/>
            <a:ext cx="10425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CPD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(Irreversible)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9B4F4D5-CD36-440A-1D0D-265C27688A80}"/>
              </a:ext>
            </a:extLst>
          </p:cNvPr>
          <p:cNvSpPr/>
          <p:nvPr/>
        </p:nvSpPr>
        <p:spPr>
          <a:xfrm>
            <a:off x="5703912" y="201561"/>
            <a:ext cx="1227752" cy="97339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F4CB540-CE53-1C61-6831-8F248725DB25}"/>
              </a:ext>
            </a:extLst>
          </p:cNvPr>
          <p:cNvSpPr/>
          <p:nvPr/>
        </p:nvSpPr>
        <p:spPr>
          <a:xfrm>
            <a:off x="5595118" y="2134854"/>
            <a:ext cx="1445342" cy="6292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Síntesis de lípidos (AG, colesterol)</a:t>
            </a: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273300BA-5B4C-A04C-F63F-EA60E2D481EF}"/>
              </a:ext>
            </a:extLst>
          </p:cNvPr>
          <p:cNvSpPr/>
          <p:nvPr/>
        </p:nvSpPr>
        <p:spPr>
          <a:xfrm>
            <a:off x="5510904" y="3709269"/>
            <a:ext cx="1613769" cy="983226"/>
          </a:xfrm>
          <a:prstGeom prst="triangl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Cuerpos cetónicos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B2CD0E8-3F6E-4A34-2982-7AA7F5647B36}"/>
              </a:ext>
            </a:extLst>
          </p:cNvPr>
          <p:cNvCxnSpPr>
            <a:cxnSpLocks/>
            <a:stCxn id="2" idx="1"/>
            <a:endCxn id="18" idx="1"/>
          </p:cNvCxnSpPr>
          <p:nvPr/>
        </p:nvCxnSpPr>
        <p:spPr>
          <a:xfrm>
            <a:off x="4198937" y="2729706"/>
            <a:ext cx="1715409" cy="147117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7B83072-BC33-985F-D3B1-A43D9BA672C1}"/>
              </a:ext>
            </a:extLst>
          </p:cNvPr>
          <p:cNvCxnSpPr>
            <a:cxnSpLocks/>
            <a:stCxn id="2" idx="0"/>
            <a:endCxn id="17" idx="1"/>
          </p:cNvCxnSpPr>
          <p:nvPr/>
        </p:nvCxnSpPr>
        <p:spPr>
          <a:xfrm flipV="1">
            <a:off x="4338637" y="2449486"/>
            <a:ext cx="1256481" cy="82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1709164-7063-823B-3769-A060D3526146}"/>
              </a:ext>
            </a:extLst>
          </p:cNvPr>
          <p:cNvCxnSpPr>
            <a:cxnSpLocks/>
            <a:stCxn id="2" idx="5"/>
            <a:endCxn id="16" idx="2"/>
          </p:cNvCxnSpPr>
          <p:nvPr/>
        </p:nvCxnSpPr>
        <p:spPr>
          <a:xfrm flipV="1">
            <a:off x="4198937" y="688258"/>
            <a:ext cx="1504975" cy="148264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05C66B3-528B-5BE5-A750-DFA0B01FFFC5}"/>
              </a:ext>
            </a:extLst>
          </p:cNvPr>
          <p:cNvSpPr txBox="1"/>
          <p:nvPr/>
        </p:nvSpPr>
        <p:spPr>
          <a:xfrm>
            <a:off x="4389286" y="1901277"/>
            <a:ext cx="1124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+OAA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AAF0E67-E36D-2AA9-ABA7-44CF2C118EB8}"/>
              </a:ext>
            </a:extLst>
          </p:cNvPr>
          <p:cNvSpPr txBox="1"/>
          <p:nvPr/>
        </p:nvSpPr>
        <p:spPr>
          <a:xfrm>
            <a:off x="5249574" y="3447659"/>
            <a:ext cx="12699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HMG-</a:t>
            </a:r>
            <a:r>
              <a:rPr lang="es-E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 liasa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596F3C-C28F-559E-7086-BA171E61DEF6}"/>
              </a:ext>
            </a:extLst>
          </p:cNvPr>
          <p:cNvSpPr txBox="1"/>
          <p:nvPr/>
        </p:nvSpPr>
        <p:spPr>
          <a:xfrm>
            <a:off x="269291" y="948532"/>
            <a:ext cx="1124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559FC55-1856-189C-73DB-A3FA39C6946E}"/>
              </a:ext>
            </a:extLst>
          </p:cNvPr>
          <p:cNvSpPr txBox="1"/>
          <p:nvPr/>
        </p:nvSpPr>
        <p:spPr>
          <a:xfrm>
            <a:off x="5122215" y="2709222"/>
            <a:ext cx="1124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3D9339-7DF6-2350-1A29-99CFA9EFF96B}"/>
              </a:ext>
            </a:extLst>
          </p:cNvPr>
          <p:cNvSpPr txBox="1"/>
          <p:nvPr/>
        </p:nvSpPr>
        <p:spPr>
          <a:xfrm>
            <a:off x="4860532" y="4645265"/>
            <a:ext cx="1369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BBB56F4-8A96-AF14-58AA-70875621AF7B}"/>
              </a:ext>
            </a:extLst>
          </p:cNvPr>
          <p:cNvSpPr txBox="1"/>
          <p:nvPr/>
        </p:nvSpPr>
        <p:spPr>
          <a:xfrm>
            <a:off x="156748" y="2712072"/>
            <a:ext cx="1369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209D73B4-FC61-CEF8-858C-971D2DEA7457}"/>
              </a:ext>
            </a:extLst>
          </p:cNvPr>
          <p:cNvCxnSpPr>
            <a:stCxn id="16" idx="6"/>
            <a:endCxn id="17" idx="3"/>
          </p:cNvCxnSpPr>
          <p:nvPr/>
        </p:nvCxnSpPr>
        <p:spPr>
          <a:xfrm>
            <a:off x="6931664" y="688258"/>
            <a:ext cx="108796" cy="1761228"/>
          </a:xfrm>
          <a:prstGeom prst="curvedConnector3">
            <a:avLst>
              <a:gd name="adj1" fmla="val 3101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1838CDD-060E-54FD-3792-BB2C3411EBF0}"/>
              </a:ext>
            </a:extLst>
          </p:cNvPr>
          <p:cNvSpPr txBox="1"/>
          <p:nvPr/>
        </p:nvSpPr>
        <p:spPr>
          <a:xfrm>
            <a:off x="5180674" y="1123770"/>
            <a:ext cx="1369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809EBC2-12F1-7037-085F-639CF6E4718D}"/>
              </a:ext>
            </a:extLst>
          </p:cNvPr>
          <p:cNvSpPr txBox="1"/>
          <p:nvPr/>
        </p:nvSpPr>
        <p:spPr>
          <a:xfrm>
            <a:off x="5122215" y="1255537"/>
            <a:ext cx="2178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glucosa</a:t>
            </a:r>
          </a:p>
          <a:p>
            <a:pPr algn="r"/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Lanzadera de citrato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OAA citosólicos)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28F7268-1A28-793D-3FA7-44C8925AD50E}"/>
              </a:ext>
            </a:extLst>
          </p:cNvPr>
          <p:cNvSpPr txBox="1"/>
          <p:nvPr/>
        </p:nvSpPr>
        <p:spPr>
          <a:xfrm>
            <a:off x="269291" y="4462308"/>
            <a:ext cx="1369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Matriz mitocondrial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41B2650-E11E-EFDC-A29E-DEFCE3EF466B}"/>
              </a:ext>
            </a:extLst>
          </p:cNvPr>
          <p:cNvCxnSpPr>
            <a:cxnSpLocks/>
          </p:cNvCxnSpPr>
          <p:nvPr/>
        </p:nvCxnSpPr>
        <p:spPr>
          <a:xfrm>
            <a:off x="6931664" y="1485483"/>
            <a:ext cx="0" cy="154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16595C3-A7DB-0741-2B8A-714B81EE3B1C}"/>
              </a:ext>
            </a:extLst>
          </p:cNvPr>
          <p:cNvSpPr txBox="1"/>
          <p:nvPr/>
        </p:nvSpPr>
        <p:spPr>
          <a:xfrm>
            <a:off x="4360646" y="2476465"/>
            <a:ext cx="761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+NADPH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281033B-D1FD-7340-18B5-C3AFF18B13AF}"/>
              </a:ext>
            </a:extLst>
          </p:cNvPr>
          <p:cNvSpPr txBox="1"/>
          <p:nvPr/>
        </p:nvSpPr>
        <p:spPr>
          <a:xfrm>
            <a:off x="4753341" y="2906649"/>
            <a:ext cx="496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RPP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92D0DCC1-A0D7-4062-DD0A-0122E459AB1E}"/>
              </a:ext>
            </a:extLst>
          </p:cNvPr>
          <p:cNvCxnSpPr>
            <a:cxnSpLocks/>
            <a:stCxn id="46" idx="0"/>
          </p:cNvCxnSpPr>
          <p:nvPr/>
        </p:nvCxnSpPr>
        <p:spPr>
          <a:xfrm rot="16200000" flipV="1">
            <a:off x="4694158" y="2599348"/>
            <a:ext cx="219846" cy="39475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FA7BC008-61BA-9076-9410-81A3A96C4007}"/>
              </a:ext>
            </a:extLst>
          </p:cNvPr>
          <p:cNvSpPr txBox="1"/>
          <p:nvPr/>
        </p:nvSpPr>
        <p:spPr>
          <a:xfrm>
            <a:off x="3302785" y="3750529"/>
            <a:ext cx="954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EB1F3A10-251E-E8B4-6810-2925242DEE84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779902" y="2764118"/>
            <a:ext cx="0" cy="9864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365E728-5C6C-5419-F14A-90FCB3717750}"/>
              </a:ext>
            </a:extLst>
          </p:cNvPr>
          <p:cNvSpPr txBox="1"/>
          <p:nvPr/>
        </p:nvSpPr>
        <p:spPr>
          <a:xfrm>
            <a:off x="3760786" y="3157701"/>
            <a:ext cx="496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ACC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B4D33A9-835A-312A-0CFD-009B06DF3C3E}"/>
              </a:ext>
            </a:extLst>
          </p:cNvPr>
          <p:cNvSpPr txBox="1"/>
          <p:nvPr/>
        </p:nvSpPr>
        <p:spPr>
          <a:xfrm>
            <a:off x="1456489" y="2751880"/>
            <a:ext cx="683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CPT-I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934BAFD4-8751-2DDE-B1F9-B47F13D18256}"/>
              </a:ext>
            </a:extLst>
          </p:cNvPr>
          <p:cNvCxnSpPr>
            <a:cxnSpLocks/>
            <a:stCxn id="56" idx="1"/>
            <a:endCxn id="60" idx="3"/>
          </p:cNvCxnSpPr>
          <p:nvPr/>
        </p:nvCxnSpPr>
        <p:spPr>
          <a:xfrm rot="10800000">
            <a:off x="2139647" y="2882686"/>
            <a:ext cx="1163139" cy="99864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upo 67">
            <a:extLst>
              <a:ext uri="{FF2B5EF4-FFF2-40B4-BE49-F238E27FC236}">
                <a16:creationId xmlns:a16="http://schemas.microsoft.com/office/drawing/2014/main" id="{692B452A-4BC1-C0EC-2B40-429A9EB8985A}"/>
              </a:ext>
            </a:extLst>
          </p:cNvPr>
          <p:cNvGrpSpPr/>
          <p:nvPr/>
        </p:nvGrpSpPr>
        <p:grpSpPr>
          <a:xfrm>
            <a:off x="2538937" y="2931846"/>
            <a:ext cx="128136" cy="128136"/>
            <a:chOff x="908127" y="1162591"/>
            <a:chExt cx="128136" cy="128136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9C22F3DB-183B-D09D-0A78-D778C760CE42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ruz 69">
              <a:extLst>
                <a:ext uri="{FF2B5EF4-FFF2-40B4-BE49-F238E27FC236}">
                  <a16:creationId xmlns:a16="http://schemas.microsoft.com/office/drawing/2014/main" id="{69D449A3-8C7F-3925-CF2B-196D0B579DA2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A09B4D81-3D77-E2B5-2158-CB0F5A13316E}"/>
              </a:ext>
            </a:extLst>
          </p:cNvPr>
          <p:cNvGrpSpPr/>
          <p:nvPr/>
        </p:nvGrpSpPr>
        <p:grpSpPr>
          <a:xfrm>
            <a:off x="4497529" y="3336347"/>
            <a:ext cx="128136" cy="128136"/>
            <a:chOff x="2606150" y="3355191"/>
            <a:chExt cx="128136" cy="128136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B06E3999-8B78-F251-B21D-1F128100905B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3" name="Triángulo isósceles 72">
              <a:extLst>
                <a:ext uri="{FF2B5EF4-FFF2-40B4-BE49-F238E27FC236}">
                  <a16:creationId xmlns:a16="http://schemas.microsoft.com/office/drawing/2014/main" id="{5EA4DAA6-7BCD-4013-ED64-6E00C431D481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AEDA730-D95E-0773-8B42-799448768B60}"/>
              </a:ext>
            </a:extLst>
          </p:cNvPr>
          <p:cNvSpPr txBox="1"/>
          <p:nvPr/>
        </p:nvSpPr>
        <p:spPr>
          <a:xfrm>
            <a:off x="4309254" y="3772693"/>
            <a:ext cx="7615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D35FCD0B-EB0B-E03F-AC75-55558495CB12}"/>
              </a:ext>
            </a:extLst>
          </p:cNvPr>
          <p:cNvCxnSpPr>
            <a:cxnSpLocks/>
            <a:stCxn id="74" idx="0"/>
            <a:endCxn id="59" idx="3"/>
          </p:cNvCxnSpPr>
          <p:nvPr/>
        </p:nvCxnSpPr>
        <p:spPr>
          <a:xfrm rot="16200000" flipV="1">
            <a:off x="4231436" y="3314090"/>
            <a:ext cx="484187" cy="433020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77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</Words>
  <Application>Microsoft Office PowerPoint</Application>
  <PresentationFormat>Personalizado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38</cp:revision>
  <dcterms:created xsi:type="dcterms:W3CDTF">2025-10-09T08:39:27Z</dcterms:created>
  <dcterms:modified xsi:type="dcterms:W3CDTF">2026-01-22T17:50:05Z</dcterms:modified>
</cp:coreProperties>
</file>