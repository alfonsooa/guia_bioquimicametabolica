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0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9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19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9CE80-116F-4159-B286-4C5C2607F6BE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7179C-2F26-461F-B024-F4C4747A62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4915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6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5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87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73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47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6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56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927BA1C-DDE9-C006-CDC5-4931E3C00466}"/>
              </a:ext>
            </a:extLst>
          </p:cNvPr>
          <p:cNvSpPr txBox="1"/>
          <p:nvPr/>
        </p:nvSpPr>
        <p:spPr>
          <a:xfrm>
            <a:off x="3423025" y="0"/>
            <a:ext cx="713624" cy="265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50B863-7301-28D6-DB57-4A4767363F18}"/>
              </a:ext>
            </a:extLst>
          </p:cNvPr>
          <p:cNvSpPr txBox="1"/>
          <p:nvPr/>
        </p:nvSpPr>
        <p:spPr>
          <a:xfrm>
            <a:off x="3305492" y="473103"/>
            <a:ext cx="9486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Glucosa-6P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1C815592-1A67-80A6-0D91-9AD0A0E98860}"/>
              </a:ext>
            </a:extLst>
          </p:cNvPr>
          <p:cNvCxnSpPr>
            <a:stCxn id="2" idx="2"/>
            <a:endCxn id="5" idx="0"/>
          </p:cNvCxnSpPr>
          <p:nvPr/>
        </p:nvCxnSpPr>
        <p:spPr>
          <a:xfrm>
            <a:off x="3779837" y="265577"/>
            <a:ext cx="0" cy="207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93A389F4-3DDE-BF8C-ECB8-DD2C87D35E6A}"/>
              </a:ext>
            </a:extLst>
          </p:cNvPr>
          <p:cNvSpPr txBox="1"/>
          <p:nvPr/>
        </p:nvSpPr>
        <p:spPr>
          <a:xfrm>
            <a:off x="3173636" y="1120974"/>
            <a:ext cx="12124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3-Fosfoglicerato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9280C36F-B065-4F5D-7C08-FBA1A53D70FE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3779837" y="734713"/>
            <a:ext cx="0" cy="3862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803AB3A-6D1C-A397-AD1F-4E8A28EDDE0B}"/>
              </a:ext>
            </a:extLst>
          </p:cNvPr>
          <p:cNvSpPr txBox="1"/>
          <p:nvPr/>
        </p:nvSpPr>
        <p:spPr>
          <a:xfrm>
            <a:off x="4730570" y="1120974"/>
            <a:ext cx="6195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Serina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7B1DD708-970A-3721-8967-F29600CCF570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4386038" y="1251779"/>
            <a:ext cx="3445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FD4A023-29FC-BAE4-A3ED-199E93C6F227}"/>
              </a:ext>
            </a:extLst>
          </p:cNvPr>
          <p:cNvSpPr txBox="1"/>
          <p:nvPr/>
        </p:nvSpPr>
        <p:spPr>
          <a:xfrm>
            <a:off x="4728527" y="473103"/>
            <a:ext cx="12124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Ribosa 5-fosfato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8094D17-449B-0DFB-9082-D8AB8C541A11}"/>
              </a:ext>
            </a:extLst>
          </p:cNvPr>
          <p:cNvSpPr txBox="1"/>
          <p:nvPr/>
        </p:nvSpPr>
        <p:spPr>
          <a:xfrm>
            <a:off x="6415274" y="473103"/>
            <a:ext cx="743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Histidina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79305376-FA2A-7EB9-AD32-756BFFFE8621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>
            <a:off x="4254182" y="603908"/>
            <a:ext cx="4743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4E0FD46C-7CBA-D3ED-463C-5EBC203E681A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5940929" y="603908"/>
            <a:ext cx="4743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8320700-D94E-3A4C-406C-B0FD4CE7A763}"/>
              </a:ext>
            </a:extLst>
          </p:cNvPr>
          <p:cNvSpPr txBox="1"/>
          <p:nvPr/>
        </p:nvSpPr>
        <p:spPr>
          <a:xfrm>
            <a:off x="3436134" y="797038"/>
            <a:ext cx="3445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x4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72D04A8-FA24-DFCD-EBB1-D4C2CC3BB0E0}"/>
              </a:ext>
            </a:extLst>
          </p:cNvPr>
          <p:cNvSpPr txBox="1"/>
          <p:nvPr/>
        </p:nvSpPr>
        <p:spPr>
          <a:xfrm>
            <a:off x="4292589" y="335601"/>
            <a:ext cx="3445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x4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1ECEB80-D309-F843-D3EF-4FA75A7ABBA5}"/>
              </a:ext>
            </a:extLst>
          </p:cNvPr>
          <p:cNvSpPr txBox="1"/>
          <p:nvPr/>
        </p:nvSpPr>
        <p:spPr>
          <a:xfrm>
            <a:off x="5729922" y="1120974"/>
            <a:ext cx="1202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Glicina/Cisteína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36E902D1-A9D2-EBAA-B8CF-60CC19BBA7AD}"/>
              </a:ext>
            </a:extLst>
          </p:cNvPr>
          <p:cNvCxnSpPr>
            <a:cxnSpLocks/>
            <a:stCxn id="15" idx="3"/>
            <a:endCxn id="30" idx="1"/>
          </p:cNvCxnSpPr>
          <p:nvPr/>
        </p:nvCxnSpPr>
        <p:spPr>
          <a:xfrm>
            <a:off x="5350151" y="1251779"/>
            <a:ext cx="3797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AFB2A132-F34C-2E08-0038-3FD48833BE90}"/>
              </a:ext>
            </a:extLst>
          </p:cNvPr>
          <p:cNvSpPr txBox="1"/>
          <p:nvPr/>
        </p:nvSpPr>
        <p:spPr>
          <a:xfrm>
            <a:off x="1603323" y="1120974"/>
            <a:ext cx="944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Eritrosa-4P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F5A5546D-20A5-77BE-CC08-1D16CE0C0F50}"/>
              </a:ext>
            </a:extLst>
          </p:cNvPr>
          <p:cNvCxnSpPr>
            <a:cxnSpLocks/>
            <a:stCxn id="9" idx="1"/>
            <a:endCxn id="34" idx="3"/>
          </p:cNvCxnSpPr>
          <p:nvPr/>
        </p:nvCxnSpPr>
        <p:spPr>
          <a:xfrm flipH="1">
            <a:off x="2547719" y="1251779"/>
            <a:ext cx="625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FCF5FAFE-1BB9-749D-5115-74D46E617510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779837" y="1382584"/>
            <a:ext cx="4671" cy="207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07CA934A-13AF-CEFD-C709-1BDD390DDC59}"/>
              </a:ext>
            </a:extLst>
          </p:cNvPr>
          <p:cNvCxnSpPr>
            <a:cxnSpLocks/>
          </p:cNvCxnSpPr>
          <p:nvPr/>
        </p:nvCxnSpPr>
        <p:spPr>
          <a:xfrm>
            <a:off x="3775166" y="1603203"/>
            <a:ext cx="4671" cy="207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B8D2F68F-D076-EC06-CDD8-FBC2CAD0C691}"/>
              </a:ext>
            </a:extLst>
          </p:cNvPr>
          <p:cNvSpPr txBox="1"/>
          <p:nvPr/>
        </p:nvSpPr>
        <p:spPr>
          <a:xfrm>
            <a:off x="3102109" y="1810729"/>
            <a:ext cx="13461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Fosfoenolpiruvato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AE769C71-EABC-5ADB-51A2-A1BE83D2E728}"/>
              </a:ext>
            </a:extLst>
          </p:cNvPr>
          <p:cNvSpPr txBox="1"/>
          <p:nvPr/>
        </p:nvSpPr>
        <p:spPr>
          <a:xfrm>
            <a:off x="3401625" y="2397449"/>
            <a:ext cx="7470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Piruvato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90EAB752-22B1-7FA9-DB32-11C7D2A14B90}"/>
              </a:ext>
            </a:extLst>
          </p:cNvPr>
          <p:cNvCxnSpPr>
            <a:cxnSpLocks/>
            <a:stCxn id="41" idx="2"/>
            <a:endCxn id="42" idx="0"/>
          </p:cNvCxnSpPr>
          <p:nvPr/>
        </p:nvCxnSpPr>
        <p:spPr>
          <a:xfrm>
            <a:off x="3775166" y="2072339"/>
            <a:ext cx="0" cy="3251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D02BC593-EDCC-FE2E-A3B0-94172CD57E68}"/>
              </a:ext>
            </a:extLst>
          </p:cNvPr>
          <p:cNvSpPr txBox="1"/>
          <p:nvPr/>
        </p:nvSpPr>
        <p:spPr>
          <a:xfrm>
            <a:off x="4982236" y="2397449"/>
            <a:ext cx="23966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Alanina/Valina/Leucina/Isoleucina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BCA85FB9-7EA6-998E-FFE0-9A650A3400C1}"/>
              </a:ext>
            </a:extLst>
          </p:cNvPr>
          <p:cNvCxnSpPr>
            <a:cxnSpLocks/>
            <a:stCxn id="42" idx="3"/>
            <a:endCxn id="46" idx="1"/>
          </p:cNvCxnSpPr>
          <p:nvPr/>
        </p:nvCxnSpPr>
        <p:spPr>
          <a:xfrm>
            <a:off x="4148706" y="2528254"/>
            <a:ext cx="8335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59F218A6-D7FE-FC08-D303-7E2C3ACC11AC}"/>
              </a:ext>
            </a:extLst>
          </p:cNvPr>
          <p:cNvSpPr txBox="1"/>
          <p:nvPr/>
        </p:nvSpPr>
        <p:spPr>
          <a:xfrm>
            <a:off x="916347" y="2397449"/>
            <a:ext cx="23183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Triptófano/Fenilalanina/Tirosina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11DC9AF0-F4D7-A954-1833-2D02FAD6F0C0}"/>
              </a:ext>
            </a:extLst>
          </p:cNvPr>
          <p:cNvCxnSpPr>
            <a:cxnSpLocks/>
            <a:stCxn id="34" idx="2"/>
            <a:endCxn id="54" idx="0"/>
          </p:cNvCxnSpPr>
          <p:nvPr/>
        </p:nvCxnSpPr>
        <p:spPr>
          <a:xfrm>
            <a:off x="2075521" y="1382584"/>
            <a:ext cx="0" cy="10148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Conector: angular 59">
            <a:extLst>
              <a:ext uri="{FF2B5EF4-FFF2-40B4-BE49-F238E27FC236}">
                <a16:creationId xmlns:a16="http://schemas.microsoft.com/office/drawing/2014/main" id="{346859FA-2482-E952-5B6F-EF0825F95B3E}"/>
              </a:ext>
            </a:extLst>
          </p:cNvPr>
          <p:cNvCxnSpPr>
            <a:stCxn id="41" idx="1"/>
            <a:endCxn id="54" idx="0"/>
          </p:cNvCxnSpPr>
          <p:nvPr/>
        </p:nvCxnSpPr>
        <p:spPr>
          <a:xfrm rot="10800000" flipV="1">
            <a:off x="2075521" y="1941533"/>
            <a:ext cx="1026588" cy="45591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Elipse 61">
            <a:extLst>
              <a:ext uri="{FF2B5EF4-FFF2-40B4-BE49-F238E27FC236}">
                <a16:creationId xmlns:a16="http://schemas.microsoft.com/office/drawing/2014/main" id="{4070469C-BA8C-7CFD-9B70-8CED5F5A97A0}"/>
              </a:ext>
            </a:extLst>
          </p:cNvPr>
          <p:cNvSpPr/>
          <p:nvPr/>
        </p:nvSpPr>
        <p:spPr>
          <a:xfrm>
            <a:off x="2611513" y="3189676"/>
            <a:ext cx="2318348" cy="17852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DD8A084A-3A93-AE1A-19DC-94379EF1BD64}"/>
              </a:ext>
            </a:extLst>
          </p:cNvPr>
          <p:cNvSpPr txBox="1"/>
          <p:nvPr/>
        </p:nvSpPr>
        <p:spPr>
          <a:xfrm>
            <a:off x="3408631" y="3087204"/>
            <a:ext cx="747081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Citrato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C1F06CD3-9E8B-2441-10E7-F30D827D8FCB}"/>
              </a:ext>
            </a:extLst>
          </p:cNvPr>
          <p:cNvSpPr txBox="1"/>
          <p:nvPr/>
        </p:nvSpPr>
        <p:spPr>
          <a:xfrm>
            <a:off x="4360061" y="3820684"/>
            <a:ext cx="1139599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cetoglutarato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82FAB067-EE2E-DBB1-73D3-84FE20F20491}"/>
              </a:ext>
            </a:extLst>
          </p:cNvPr>
          <p:cNvSpPr txBox="1"/>
          <p:nvPr/>
        </p:nvSpPr>
        <p:spPr>
          <a:xfrm>
            <a:off x="2042520" y="3820684"/>
            <a:ext cx="1139599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Oxalacetato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A41E9531-D6D0-1E29-3519-2115576CCD08}"/>
              </a:ext>
            </a:extLst>
          </p:cNvPr>
          <p:cNvSpPr txBox="1"/>
          <p:nvPr/>
        </p:nvSpPr>
        <p:spPr>
          <a:xfrm>
            <a:off x="2042520" y="4844108"/>
            <a:ext cx="11395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Aspartato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4322E8B2-F7C5-B6FE-3E7D-FBD1C8364583}"/>
              </a:ext>
            </a:extLst>
          </p:cNvPr>
          <p:cNvSpPr txBox="1"/>
          <p:nvPr/>
        </p:nvSpPr>
        <p:spPr>
          <a:xfrm>
            <a:off x="4503607" y="4859965"/>
            <a:ext cx="8625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Glutamato</a:t>
            </a:r>
          </a:p>
        </p:txBody>
      </p: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398970C2-3066-22BF-8AE9-B702966591BF}"/>
              </a:ext>
            </a:extLst>
          </p:cNvPr>
          <p:cNvCxnSpPr>
            <a:cxnSpLocks/>
            <a:stCxn id="42" idx="2"/>
            <a:endCxn id="61" idx="0"/>
          </p:cNvCxnSpPr>
          <p:nvPr/>
        </p:nvCxnSpPr>
        <p:spPr>
          <a:xfrm>
            <a:off x="3775166" y="2659059"/>
            <a:ext cx="7006" cy="4281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9F7B7C2C-5E12-E15C-7222-DAE13432D398}"/>
              </a:ext>
            </a:extLst>
          </p:cNvPr>
          <p:cNvCxnSpPr>
            <a:cxnSpLocks/>
            <a:stCxn id="64" idx="2"/>
            <a:endCxn id="65" idx="0"/>
          </p:cNvCxnSpPr>
          <p:nvPr/>
        </p:nvCxnSpPr>
        <p:spPr>
          <a:xfrm>
            <a:off x="2612320" y="4082294"/>
            <a:ext cx="0" cy="7618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DA00734E-A4D9-CF74-8E47-09BEC24FA236}"/>
              </a:ext>
            </a:extLst>
          </p:cNvPr>
          <p:cNvCxnSpPr>
            <a:cxnSpLocks/>
            <a:stCxn id="63" idx="2"/>
            <a:endCxn id="66" idx="0"/>
          </p:cNvCxnSpPr>
          <p:nvPr/>
        </p:nvCxnSpPr>
        <p:spPr>
          <a:xfrm>
            <a:off x="4929861" y="4082294"/>
            <a:ext cx="5016" cy="777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CuadroTexto 77">
            <a:extLst>
              <a:ext uri="{FF2B5EF4-FFF2-40B4-BE49-F238E27FC236}">
                <a16:creationId xmlns:a16="http://schemas.microsoft.com/office/drawing/2014/main" id="{B745CACD-F193-E783-1268-6AC64031CE34}"/>
              </a:ext>
            </a:extLst>
          </p:cNvPr>
          <p:cNvSpPr txBox="1"/>
          <p:nvPr/>
        </p:nvSpPr>
        <p:spPr>
          <a:xfrm>
            <a:off x="246642" y="4074667"/>
            <a:ext cx="11395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Asparagina/</a:t>
            </a:r>
            <a:b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Metionina/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Treonina/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Lisina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6DFEA1E0-F666-0B17-9A46-1B195F1623FA}"/>
              </a:ext>
            </a:extLst>
          </p:cNvPr>
          <p:cNvSpPr txBox="1"/>
          <p:nvPr/>
        </p:nvSpPr>
        <p:spPr>
          <a:xfrm>
            <a:off x="6377828" y="4386684"/>
            <a:ext cx="740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Arginina</a:t>
            </a:r>
          </a:p>
        </p:txBody>
      </p:sp>
      <p:cxnSp>
        <p:nvCxnSpPr>
          <p:cNvPr id="80" name="Conector: angular 79">
            <a:extLst>
              <a:ext uri="{FF2B5EF4-FFF2-40B4-BE49-F238E27FC236}">
                <a16:creationId xmlns:a16="http://schemas.microsoft.com/office/drawing/2014/main" id="{16522C49-A994-A2A0-B643-6B53ECFCDE04}"/>
              </a:ext>
            </a:extLst>
          </p:cNvPr>
          <p:cNvCxnSpPr>
            <a:cxnSpLocks/>
            <a:stCxn id="65" idx="1"/>
            <a:endCxn id="78" idx="2"/>
          </p:cNvCxnSpPr>
          <p:nvPr/>
        </p:nvCxnSpPr>
        <p:spPr>
          <a:xfrm rot="10800000">
            <a:off x="816442" y="4844109"/>
            <a:ext cx="1226078" cy="1308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Conector: angular 82">
            <a:extLst>
              <a:ext uri="{FF2B5EF4-FFF2-40B4-BE49-F238E27FC236}">
                <a16:creationId xmlns:a16="http://schemas.microsoft.com/office/drawing/2014/main" id="{3AFC016F-09F6-F3EE-5FEF-2AABDDBD26B2}"/>
              </a:ext>
            </a:extLst>
          </p:cNvPr>
          <p:cNvCxnSpPr>
            <a:cxnSpLocks/>
            <a:stCxn id="66" idx="3"/>
            <a:endCxn id="79" idx="2"/>
          </p:cNvCxnSpPr>
          <p:nvPr/>
        </p:nvCxnSpPr>
        <p:spPr>
          <a:xfrm flipV="1">
            <a:off x="5366146" y="4648294"/>
            <a:ext cx="1381753" cy="34247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07810A85-5A61-FD2C-7259-8D44949D8B37}"/>
              </a:ext>
            </a:extLst>
          </p:cNvPr>
          <p:cNvSpPr txBox="1"/>
          <p:nvPr/>
        </p:nvSpPr>
        <p:spPr>
          <a:xfrm>
            <a:off x="79558" y="3263971"/>
            <a:ext cx="2039938" cy="769441"/>
          </a:xfrm>
          <a:prstGeom prst="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  <a:alpha val="20000"/>
                </a:srgbClr>
              </a:gs>
              <a:gs pos="50000">
                <a:srgbClr val="FFC000">
                  <a:tint val="44500"/>
                  <a:satMod val="160000"/>
                  <a:alpha val="20000"/>
                </a:srgbClr>
              </a:gs>
              <a:gs pos="100000">
                <a:srgbClr val="FFC000">
                  <a:tint val="23500"/>
                  <a:satMod val="160000"/>
                  <a:alpha val="20000"/>
                </a:srgbClr>
              </a:gs>
            </a:gsLst>
            <a:lin ang="2700000" scaled="1"/>
            <a:tileRect/>
          </a:gra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La regulación de la síntesis de aminoácidos transcurre mediante control alostérico con inhibición por producto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58BD69D9-4EBE-CE57-409A-ED3232A6F1B7}"/>
              </a:ext>
            </a:extLst>
          </p:cNvPr>
          <p:cNvSpPr txBox="1"/>
          <p:nvPr/>
        </p:nvSpPr>
        <p:spPr>
          <a:xfrm>
            <a:off x="5763550" y="1863925"/>
            <a:ext cx="606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Hemo</a:t>
            </a:r>
          </a:p>
        </p:txBody>
      </p: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DBA35BA7-FEEF-4333-592C-24E6E2116889}"/>
              </a:ext>
            </a:extLst>
          </p:cNvPr>
          <p:cNvCxnSpPr>
            <a:cxnSpLocks/>
            <a:endCxn id="87" idx="0"/>
          </p:cNvCxnSpPr>
          <p:nvPr/>
        </p:nvCxnSpPr>
        <p:spPr>
          <a:xfrm>
            <a:off x="6066651" y="1356902"/>
            <a:ext cx="0" cy="507023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CuadroTexto 90">
            <a:extLst>
              <a:ext uri="{FF2B5EF4-FFF2-40B4-BE49-F238E27FC236}">
                <a16:creationId xmlns:a16="http://schemas.microsoft.com/office/drawing/2014/main" id="{3DEF14D7-09AA-FF6D-E713-5F45162A37BD}"/>
              </a:ext>
            </a:extLst>
          </p:cNvPr>
          <p:cNvSpPr txBox="1"/>
          <p:nvPr/>
        </p:nvSpPr>
        <p:spPr>
          <a:xfrm>
            <a:off x="4703430" y="1867251"/>
            <a:ext cx="7939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Urobilina</a:t>
            </a:r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AB50C0D9-DF10-9C3E-5940-6EE19E1EB40D}"/>
              </a:ext>
            </a:extLst>
          </p:cNvPr>
          <p:cNvSpPr txBox="1"/>
          <p:nvPr/>
        </p:nvSpPr>
        <p:spPr>
          <a:xfrm>
            <a:off x="6577558" y="1867251"/>
            <a:ext cx="10224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Estercobilina</a:t>
            </a:r>
          </a:p>
        </p:txBody>
      </p:sp>
      <p:cxnSp>
        <p:nvCxnSpPr>
          <p:cNvPr id="93" name="Conector recto de flecha 92">
            <a:extLst>
              <a:ext uri="{FF2B5EF4-FFF2-40B4-BE49-F238E27FC236}">
                <a16:creationId xmlns:a16="http://schemas.microsoft.com/office/drawing/2014/main" id="{7200F9BF-3CE0-8749-82F8-277C5D2ECE99}"/>
              </a:ext>
            </a:extLst>
          </p:cNvPr>
          <p:cNvCxnSpPr>
            <a:cxnSpLocks/>
            <a:stCxn id="87" idx="1"/>
            <a:endCxn id="91" idx="3"/>
          </p:cNvCxnSpPr>
          <p:nvPr/>
        </p:nvCxnSpPr>
        <p:spPr>
          <a:xfrm flipH="1">
            <a:off x="5497338" y="1994730"/>
            <a:ext cx="266212" cy="3326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Conector recto de flecha 98">
            <a:extLst>
              <a:ext uri="{FF2B5EF4-FFF2-40B4-BE49-F238E27FC236}">
                <a16:creationId xmlns:a16="http://schemas.microsoft.com/office/drawing/2014/main" id="{F78A6DCC-EAD9-496E-476B-591E27A08ABC}"/>
              </a:ext>
            </a:extLst>
          </p:cNvPr>
          <p:cNvCxnSpPr>
            <a:cxnSpLocks/>
            <a:stCxn id="87" idx="3"/>
            <a:endCxn id="92" idx="1"/>
          </p:cNvCxnSpPr>
          <p:nvPr/>
        </p:nvCxnSpPr>
        <p:spPr>
          <a:xfrm>
            <a:off x="6369752" y="1994730"/>
            <a:ext cx="207806" cy="3326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FBE7285A-4BD3-4BA1-5DC1-3C15AFA13A40}"/>
              </a:ext>
            </a:extLst>
          </p:cNvPr>
          <p:cNvSpPr txBox="1"/>
          <p:nvPr/>
        </p:nvSpPr>
        <p:spPr>
          <a:xfrm>
            <a:off x="6353997" y="2996463"/>
            <a:ext cx="7470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Creatina</a:t>
            </a:r>
          </a:p>
        </p:txBody>
      </p:sp>
      <p:cxnSp>
        <p:nvCxnSpPr>
          <p:cNvPr id="104" name="Conector: angular 103">
            <a:extLst>
              <a:ext uri="{FF2B5EF4-FFF2-40B4-BE49-F238E27FC236}">
                <a16:creationId xmlns:a16="http://schemas.microsoft.com/office/drawing/2014/main" id="{B7EE5DB7-268A-010E-E6AE-F83F24E44B5C}"/>
              </a:ext>
            </a:extLst>
          </p:cNvPr>
          <p:cNvCxnSpPr>
            <a:cxnSpLocks/>
            <a:stCxn id="79" idx="1"/>
            <a:endCxn id="103" idx="1"/>
          </p:cNvCxnSpPr>
          <p:nvPr/>
        </p:nvCxnSpPr>
        <p:spPr>
          <a:xfrm rot="10800000">
            <a:off x="6353998" y="3127269"/>
            <a:ext cx="23831" cy="1390221"/>
          </a:xfrm>
          <a:prstGeom prst="bentConnector3">
            <a:avLst>
              <a:gd name="adj1" fmla="val 186320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24A58783-F6AA-E765-6C5A-B2071510CDCE}"/>
              </a:ext>
            </a:extLst>
          </p:cNvPr>
          <p:cNvSpPr txBox="1"/>
          <p:nvPr/>
        </p:nvSpPr>
        <p:spPr>
          <a:xfrm>
            <a:off x="6157739" y="4215195"/>
            <a:ext cx="11395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Prolina/</a:t>
            </a:r>
          </a:p>
        </p:txBody>
      </p: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2B5CB5BE-55B8-5A4F-C771-FBF4148E5A09}"/>
              </a:ext>
            </a:extLst>
          </p:cNvPr>
          <p:cNvSpPr txBox="1"/>
          <p:nvPr/>
        </p:nvSpPr>
        <p:spPr>
          <a:xfrm>
            <a:off x="6239313" y="4029105"/>
            <a:ext cx="11395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Glutamina/</a:t>
            </a:r>
          </a:p>
        </p:txBody>
      </p: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7F92D44A-517E-EB4F-74A3-F9132A6D3838}"/>
              </a:ext>
            </a:extLst>
          </p:cNvPr>
          <p:cNvSpPr txBox="1"/>
          <p:nvPr/>
        </p:nvSpPr>
        <p:spPr>
          <a:xfrm>
            <a:off x="4686950" y="4271201"/>
            <a:ext cx="11395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Glicina</a:t>
            </a:r>
          </a:p>
        </p:txBody>
      </p:sp>
      <p:cxnSp>
        <p:nvCxnSpPr>
          <p:cNvPr id="118" name="Conector: curvado 117">
            <a:extLst>
              <a:ext uri="{FF2B5EF4-FFF2-40B4-BE49-F238E27FC236}">
                <a16:creationId xmlns:a16="http://schemas.microsoft.com/office/drawing/2014/main" id="{E0746AC2-F44E-4D21-5951-1F13CE0EB19C}"/>
              </a:ext>
            </a:extLst>
          </p:cNvPr>
          <p:cNvCxnSpPr>
            <a:stCxn id="116" idx="3"/>
          </p:cNvCxnSpPr>
          <p:nvPr/>
        </p:nvCxnSpPr>
        <p:spPr>
          <a:xfrm flipV="1">
            <a:off x="5826549" y="4089381"/>
            <a:ext cx="109663" cy="31262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CuadroTexto 121">
            <a:extLst>
              <a:ext uri="{FF2B5EF4-FFF2-40B4-BE49-F238E27FC236}">
                <a16:creationId xmlns:a16="http://schemas.microsoft.com/office/drawing/2014/main" id="{0B5329AA-32BD-9405-97EA-8529409EBB7F}"/>
              </a:ext>
            </a:extLst>
          </p:cNvPr>
          <p:cNvSpPr txBox="1"/>
          <p:nvPr/>
        </p:nvSpPr>
        <p:spPr>
          <a:xfrm>
            <a:off x="5909919" y="3630905"/>
            <a:ext cx="13352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Amidotransferasa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CuadroTexto 122">
            <a:extLst>
              <a:ext uri="{FF2B5EF4-FFF2-40B4-BE49-F238E27FC236}">
                <a16:creationId xmlns:a16="http://schemas.microsoft.com/office/drawing/2014/main" id="{EED09551-832E-5BEE-5EB0-048B5FBBDE8D}"/>
              </a:ext>
            </a:extLst>
          </p:cNvPr>
          <p:cNvSpPr txBox="1"/>
          <p:nvPr/>
        </p:nvSpPr>
        <p:spPr>
          <a:xfrm>
            <a:off x="5913895" y="3387286"/>
            <a:ext cx="13352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Metiltransferasa</a:t>
            </a:r>
          </a:p>
        </p:txBody>
      </p: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04336D7E-0BEC-1CB4-9B60-15B8FC2A56D5}"/>
              </a:ext>
            </a:extLst>
          </p:cNvPr>
          <p:cNvSpPr txBox="1"/>
          <p:nvPr/>
        </p:nvSpPr>
        <p:spPr>
          <a:xfrm>
            <a:off x="2635359" y="5387316"/>
            <a:ext cx="8045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γ-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Glu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Cys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5" name="Conector: angular 124">
            <a:extLst>
              <a:ext uri="{FF2B5EF4-FFF2-40B4-BE49-F238E27FC236}">
                <a16:creationId xmlns:a16="http://schemas.microsoft.com/office/drawing/2014/main" id="{3B76CFC3-338E-C446-1BE3-5D45A975ECD2}"/>
              </a:ext>
            </a:extLst>
          </p:cNvPr>
          <p:cNvCxnSpPr>
            <a:cxnSpLocks/>
            <a:stCxn id="66" idx="2"/>
            <a:endCxn id="124" idx="3"/>
          </p:cNvCxnSpPr>
          <p:nvPr/>
        </p:nvCxnSpPr>
        <p:spPr>
          <a:xfrm rot="5400000">
            <a:off x="3989140" y="4572384"/>
            <a:ext cx="396546" cy="14949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9" name="CuadroTexto 128">
            <a:extLst>
              <a:ext uri="{FF2B5EF4-FFF2-40B4-BE49-F238E27FC236}">
                <a16:creationId xmlns:a16="http://schemas.microsoft.com/office/drawing/2014/main" id="{C519ECDD-5AE5-6C27-5FAB-ECC6C8D299E2}"/>
              </a:ext>
            </a:extLst>
          </p:cNvPr>
          <p:cNvSpPr txBox="1"/>
          <p:nvPr/>
        </p:nvSpPr>
        <p:spPr>
          <a:xfrm>
            <a:off x="3582047" y="5505309"/>
            <a:ext cx="1291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γ-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glutamil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cisteína sintasa</a:t>
            </a:r>
          </a:p>
        </p:txBody>
      </p: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E20F7173-C9C9-C27E-73A4-5A686F314B80}"/>
              </a:ext>
            </a:extLst>
          </p:cNvPr>
          <p:cNvSpPr txBox="1"/>
          <p:nvPr/>
        </p:nvSpPr>
        <p:spPr>
          <a:xfrm>
            <a:off x="4087122" y="5182637"/>
            <a:ext cx="7221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Cisteína</a:t>
            </a:r>
          </a:p>
        </p:txBody>
      </p:sp>
      <p:cxnSp>
        <p:nvCxnSpPr>
          <p:cNvPr id="133" name="Conector: curvado 132">
            <a:extLst>
              <a:ext uri="{FF2B5EF4-FFF2-40B4-BE49-F238E27FC236}">
                <a16:creationId xmlns:a16="http://schemas.microsoft.com/office/drawing/2014/main" id="{2A450062-1A6B-AD99-1939-FC24F8CA88E2}"/>
              </a:ext>
            </a:extLst>
          </p:cNvPr>
          <p:cNvCxnSpPr>
            <a:cxnSpLocks/>
            <a:stCxn id="132" idx="2"/>
          </p:cNvCxnSpPr>
          <p:nvPr/>
        </p:nvCxnSpPr>
        <p:spPr>
          <a:xfrm rot="5400000">
            <a:off x="4258968" y="5333985"/>
            <a:ext cx="78993" cy="29951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8" name="CuadroTexto 137">
            <a:extLst>
              <a:ext uri="{FF2B5EF4-FFF2-40B4-BE49-F238E27FC236}">
                <a16:creationId xmlns:a16="http://schemas.microsoft.com/office/drawing/2014/main" id="{71153079-7796-7D08-E010-4A42340FCA4F}"/>
              </a:ext>
            </a:extLst>
          </p:cNvPr>
          <p:cNvSpPr txBox="1"/>
          <p:nvPr/>
        </p:nvSpPr>
        <p:spPr>
          <a:xfrm>
            <a:off x="3643421" y="5182637"/>
            <a:ext cx="474493" cy="26898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cxnSp>
        <p:nvCxnSpPr>
          <p:cNvPr id="139" name="Conector: curvado 138">
            <a:extLst>
              <a:ext uri="{FF2B5EF4-FFF2-40B4-BE49-F238E27FC236}">
                <a16:creationId xmlns:a16="http://schemas.microsoft.com/office/drawing/2014/main" id="{8C66BC57-28D5-FAE4-77DE-377770166BE3}"/>
              </a:ext>
            </a:extLst>
          </p:cNvPr>
          <p:cNvCxnSpPr>
            <a:cxnSpLocks/>
            <a:stCxn id="138" idx="2"/>
          </p:cNvCxnSpPr>
          <p:nvPr/>
        </p:nvCxnSpPr>
        <p:spPr>
          <a:xfrm rot="5400000">
            <a:off x="3708727" y="5351299"/>
            <a:ext cx="71614" cy="272268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2" name="CuadroTexto 141">
            <a:extLst>
              <a:ext uri="{FF2B5EF4-FFF2-40B4-BE49-F238E27FC236}">
                <a16:creationId xmlns:a16="http://schemas.microsoft.com/office/drawing/2014/main" id="{3CB380CA-E104-ECE2-492B-45F18E3ED30E}"/>
              </a:ext>
            </a:extLst>
          </p:cNvPr>
          <p:cNvSpPr txBox="1"/>
          <p:nvPr/>
        </p:nvSpPr>
        <p:spPr>
          <a:xfrm>
            <a:off x="54429" y="5305842"/>
            <a:ext cx="12260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Glutatión 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(reducido, GSH)</a:t>
            </a:r>
          </a:p>
        </p:txBody>
      </p:sp>
      <p:cxnSp>
        <p:nvCxnSpPr>
          <p:cNvPr id="143" name="Conector recto de flecha 142">
            <a:extLst>
              <a:ext uri="{FF2B5EF4-FFF2-40B4-BE49-F238E27FC236}">
                <a16:creationId xmlns:a16="http://schemas.microsoft.com/office/drawing/2014/main" id="{CAC61324-094C-83D7-F707-4FCDA69998AB}"/>
              </a:ext>
            </a:extLst>
          </p:cNvPr>
          <p:cNvCxnSpPr>
            <a:cxnSpLocks/>
            <a:stCxn id="124" idx="1"/>
            <a:endCxn id="142" idx="3"/>
          </p:cNvCxnSpPr>
          <p:nvPr/>
        </p:nvCxnSpPr>
        <p:spPr>
          <a:xfrm flipH="1">
            <a:off x="1280508" y="5518121"/>
            <a:ext cx="1354851" cy="3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4C6D6851-A1BB-4ABE-C2A0-B98405BE9C45}"/>
              </a:ext>
            </a:extLst>
          </p:cNvPr>
          <p:cNvSpPr txBox="1"/>
          <p:nvPr/>
        </p:nvSpPr>
        <p:spPr>
          <a:xfrm>
            <a:off x="1307788" y="5529494"/>
            <a:ext cx="12919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Glutatión sintasa</a:t>
            </a:r>
          </a:p>
        </p:txBody>
      </p:sp>
      <p:sp>
        <p:nvSpPr>
          <p:cNvPr id="152" name="CuadroTexto 151">
            <a:extLst>
              <a:ext uri="{FF2B5EF4-FFF2-40B4-BE49-F238E27FC236}">
                <a16:creationId xmlns:a16="http://schemas.microsoft.com/office/drawing/2014/main" id="{3BC24703-9518-E6D5-1001-3D91E09464DE}"/>
              </a:ext>
            </a:extLst>
          </p:cNvPr>
          <p:cNvSpPr txBox="1"/>
          <p:nvPr/>
        </p:nvSpPr>
        <p:spPr>
          <a:xfrm>
            <a:off x="1973990" y="5182637"/>
            <a:ext cx="7221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Glicina</a:t>
            </a:r>
          </a:p>
        </p:txBody>
      </p:sp>
      <p:sp>
        <p:nvSpPr>
          <p:cNvPr id="153" name="CuadroTexto 152">
            <a:extLst>
              <a:ext uri="{FF2B5EF4-FFF2-40B4-BE49-F238E27FC236}">
                <a16:creationId xmlns:a16="http://schemas.microsoft.com/office/drawing/2014/main" id="{09BF8475-A635-6DC7-B81D-06FB5B9D9C34}"/>
              </a:ext>
            </a:extLst>
          </p:cNvPr>
          <p:cNvSpPr txBox="1"/>
          <p:nvPr/>
        </p:nvSpPr>
        <p:spPr>
          <a:xfrm>
            <a:off x="1540991" y="5163903"/>
            <a:ext cx="474493" cy="26898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cxnSp>
        <p:nvCxnSpPr>
          <p:cNvPr id="155" name="Conector: curvado 154">
            <a:extLst>
              <a:ext uri="{FF2B5EF4-FFF2-40B4-BE49-F238E27FC236}">
                <a16:creationId xmlns:a16="http://schemas.microsoft.com/office/drawing/2014/main" id="{46D3647D-8CDC-79EC-67A7-BF4E2344FB91}"/>
              </a:ext>
            </a:extLst>
          </p:cNvPr>
          <p:cNvCxnSpPr>
            <a:cxnSpLocks/>
            <a:stCxn id="153" idx="2"/>
          </p:cNvCxnSpPr>
          <p:nvPr/>
        </p:nvCxnSpPr>
        <p:spPr>
          <a:xfrm rot="5400000">
            <a:off x="1570590" y="5310474"/>
            <a:ext cx="85231" cy="33006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Conector: curvado 157">
            <a:extLst>
              <a:ext uri="{FF2B5EF4-FFF2-40B4-BE49-F238E27FC236}">
                <a16:creationId xmlns:a16="http://schemas.microsoft.com/office/drawing/2014/main" id="{E5503261-35F8-3FB3-B8C9-0E8AF2D1A14A}"/>
              </a:ext>
            </a:extLst>
          </p:cNvPr>
          <p:cNvCxnSpPr>
            <a:cxnSpLocks/>
            <a:stCxn id="152" idx="2"/>
          </p:cNvCxnSpPr>
          <p:nvPr/>
        </p:nvCxnSpPr>
        <p:spPr>
          <a:xfrm rot="5400000">
            <a:off x="2156333" y="5339364"/>
            <a:ext cx="73874" cy="28364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1" name="CuadroTexto 160">
            <a:extLst>
              <a:ext uri="{FF2B5EF4-FFF2-40B4-BE49-F238E27FC236}">
                <a16:creationId xmlns:a16="http://schemas.microsoft.com/office/drawing/2014/main" id="{861DD49F-5A26-3DC9-253A-1F7F5DAACB7E}"/>
              </a:ext>
            </a:extLst>
          </p:cNvPr>
          <p:cNvSpPr txBox="1"/>
          <p:nvPr/>
        </p:nvSpPr>
        <p:spPr>
          <a:xfrm>
            <a:off x="1879332" y="2978261"/>
            <a:ext cx="8393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Epinefrina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2" name="Conector: angular 161">
            <a:extLst>
              <a:ext uri="{FF2B5EF4-FFF2-40B4-BE49-F238E27FC236}">
                <a16:creationId xmlns:a16="http://schemas.microsoft.com/office/drawing/2014/main" id="{1C0E5208-43B0-4505-BE53-85C7A7D1A03A}"/>
              </a:ext>
            </a:extLst>
          </p:cNvPr>
          <p:cNvCxnSpPr>
            <a:cxnSpLocks/>
            <a:endCxn id="161" idx="3"/>
          </p:cNvCxnSpPr>
          <p:nvPr/>
        </p:nvCxnSpPr>
        <p:spPr>
          <a:xfrm rot="5400000">
            <a:off x="2606106" y="2771660"/>
            <a:ext cx="450009" cy="224803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5" name="CuadroTexto 164">
            <a:extLst>
              <a:ext uri="{FF2B5EF4-FFF2-40B4-BE49-F238E27FC236}">
                <a16:creationId xmlns:a16="http://schemas.microsoft.com/office/drawing/2014/main" id="{8D12ED30-D93E-033A-3BBF-0AEA7657731F}"/>
              </a:ext>
            </a:extLst>
          </p:cNvPr>
          <p:cNvSpPr txBox="1"/>
          <p:nvPr/>
        </p:nvSpPr>
        <p:spPr>
          <a:xfrm>
            <a:off x="5672826" y="5387688"/>
            <a:ext cx="5839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GABA</a:t>
            </a:r>
          </a:p>
        </p:txBody>
      </p:sp>
      <p:cxnSp>
        <p:nvCxnSpPr>
          <p:cNvPr id="173" name="Conector: angular 172">
            <a:extLst>
              <a:ext uri="{FF2B5EF4-FFF2-40B4-BE49-F238E27FC236}">
                <a16:creationId xmlns:a16="http://schemas.microsoft.com/office/drawing/2014/main" id="{86DD9992-FBDF-2E5E-2A6A-375B67779125}"/>
              </a:ext>
            </a:extLst>
          </p:cNvPr>
          <p:cNvCxnSpPr>
            <a:cxnSpLocks/>
            <a:stCxn id="66" idx="2"/>
            <a:endCxn id="165" idx="1"/>
          </p:cNvCxnSpPr>
          <p:nvPr/>
        </p:nvCxnSpPr>
        <p:spPr>
          <a:xfrm rot="16200000" flipH="1">
            <a:off x="5105392" y="4951059"/>
            <a:ext cx="396918" cy="737949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6" name="CuadroTexto 175">
            <a:extLst>
              <a:ext uri="{FF2B5EF4-FFF2-40B4-BE49-F238E27FC236}">
                <a16:creationId xmlns:a16="http://schemas.microsoft.com/office/drawing/2014/main" id="{90B0E168-A4A2-8DAA-0D88-DE6AA302EC40}"/>
              </a:ext>
            </a:extLst>
          </p:cNvPr>
          <p:cNvSpPr txBox="1"/>
          <p:nvPr/>
        </p:nvSpPr>
        <p:spPr>
          <a:xfrm>
            <a:off x="6365913" y="4893"/>
            <a:ext cx="8443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Histamina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7" name="Conector recto de flecha 176">
            <a:extLst>
              <a:ext uri="{FF2B5EF4-FFF2-40B4-BE49-F238E27FC236}">
                <a16:creationId xmlns:a16="http://schemas.microsoft.com/office/drawing/2014/main" id="{E1126222-03E9-06D5-173B-186D385713F7}"/>
              </a:ext>
            </a:extLst>
          </p:cNvPr>
          <p:cNvCxnSpPr>
            <a:cxnSpLocks/>
            <a:stCxn id="20" idx="0"/>
            <a:endCxn id="176" idx="2"/>
          </p:cNvCxnSpPr>
          <p:nvPr/>
        </p:nvCxnSpPr>
        <p:spPr>
          <a:xfrm flipV="1">
            <a:off x="6786863" y="266503"/>
            <a:ext cx="1221" cy="20660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1" name="CuadroTexto 180">
            <a:extLst>
              <a:ext uri="{FF2B5EF4-FFF2-40B4-BE49-F238E27FC236}">
                <a16:creationId xmlns:a16="http://schemas.microsoft.com/office/drawing/2014/main" id="{B644C91D-6E5C-146A-D02A-E976ED1B710E}"/>
              </a:ext>
            </a:extLst>
          </p:cNvPr>
          <p:cNvSpPr txBox="1"/>
          <p:nvPr/>
        </p:nvSpPr>
        <p:spPr>
          <a:xfrm>
            <a:off x="227113" y="1816637"/>
            <a:ext cx="886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Serotonina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2" name="Conector: angular 181">
            <a:extLst>
              <a:ext uri="{FF2B5EF4-FFF2-40B4-BE49-F238E27FC236}">
                <a16:creationId xmlns:a16="http://schemas.microsoft.com/office/drawing/2014/main" id="{8D0D3BB2-EE29-9D0F-219A-B6F91985CD59}"/>
              </a:ext>
            </a:extLst>
          </p:cNvPr>
          <p:cNvCxnSpPr>
            <a:cxnSpLocks/>
            <a:endCxn id="181" idx="3"/>
          </p:cNvCxnSpPr>
          <p:nvPr/>
        </p:nvCxnSpPr>
        <p:spPr>
          <a:xfrm rot="16200000" flipV="1">
            <a:off x="1055340" y="2005828"/>
            <a:ext cx="456396" cy="339624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5" name="CuadroTexto 184">
            <a:extLst>
              <a:ext uri="{FF2B5EF4-FFF2-40B4-BE49-F238E27FC236}">
                <a16:creationId xmlns:a16="http://schemas.microsoft.com/office/drawing/2014/main" id="{CB410C3F-EE00-4724-B07C-4771FA8C733A}"/>
              </a:ext>
            </a:extLst>
          </p:cNvPr>
          <p:cNvSpPr txBox="1"/>
          <p:nvPr/>
        </p:nvSpPr>
        <p:spPr>
          <a:xfrm>
            <a:off x="124788" y="1055460"/>
            <a:ext cx="10853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Ácido indolacético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6" name="Conector: angular 185">
            <a:extLst>
              <a:ext uri="{FF2B5EF4-FFF2-40B4-BE49-F238E27FC236}">
                <a16:creationId xmlns:a16="http://schemas.microsoft.com/office/drawing/2014/main" id="{09629C44-B86E-D1A2-9CD0-E982B1D14CC3}"/>
              </a:ext>
            </a:extLst>
          </p:cNvPr>
          <p:cNvCxnSpPr>
            <a:cxnSpLocks/>
            <a:endCxn id="185" idx="3"/>
          </p:cNvCxnSpPr>
          <p:nvPr/>
        </p:nvCxnSpPr>
        <p:spPr>
          <a:xfrm rot="16200000" flipV="1">
            <a:off x="765284" y="1715771"/>
            <a:ext cx="1132934" cy="243200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9" name="CuadroTexto 188">
            <a:extLst>
              <a:ext uri="{FF2B5EF4-FFF2-40B4-BE49-F238E27FC236}">
                <a16:creationId xmlns:a16="http://schemas.microsoft.com/office/drawing/2014/main" id="{E3D8A5AD-54E7-4B44-4E61-09099BDEB51C}"/>
              </a:ext>
            </a:extLst>
          </p:cNvPr>
          <p:cNvSpPr txBox="1"/>
          <p:nvPr/>
        </p:nvSpPr>
        <p:spPr>
          <a:xfrm>
            <a:off x="496659" y="2728949"/>
            <a:ext cx="8393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Cinamato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0" name="Conector: angular 189">
            <a:extLst>
              <a:ext uri="{FF2B5EF4-FFF2-40B4-BE49-F238E27FC236}">
                <a16:creationId xmlns:a16="http://schemas.microsoft.com/office/drawing/2014/main" id="{F24B6567-FEAB-A653-5F2C-4E69F99E4773}"/>
              </a:ext>
            </a:extLst>
          </p:cNvPr>
          <p:cNvCxnSpPr>
            <a:cxnSpLocks/>
            <a:stCxn id="54" idx="2"/>
            <a:endCxn id="189" idx="3"/>
          </p:cNvCxnSpPr>
          <p:nvPr/>
        </p:nvCxnSpPr>
        <p:spPr>
          <a:xfrm rot="5400000">
            <a:off x="1605431" y="2389663"/>
            <a:ext cx="200695" cy="739486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6552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5BD57F-20FB-4D2D-8A30-5DA41967796B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09CEAA-EBBC-4961-9963-C447C4D8BF92}">
  <we:reference id="WA200000113" version="1.0.0.0" store="Omex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91</Words>
  <Application>Microsoft Office PowerPoint</Application>
  <PresentationFormat>Personalizado</PresentationFormat>
  <Paragraphs>48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Alfonso Olaya Abril</dc:creator>
  <cp:lastModifiedBy>Alfonso Olaya Abril</cp:lastModifiedBy>
  <cp:revision>36</cp:revision>
  <dcterms:created xsi:type="dcterms:W3CDTF">2025-10-09T08:39:27Z</dcterms:created>
  <dcterms:modified xsi:type="dcterms:W3CDTF">2025-11-03T08:18:18Z</dcterms:modified>
</cp:coreProperties>
</file>