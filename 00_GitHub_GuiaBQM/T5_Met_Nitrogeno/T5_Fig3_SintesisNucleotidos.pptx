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61" r:id="rId2"/>
  </p:sldIdLst>
  <p:sldSz cx="7559675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796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82" d="100"/>
          <a:sy n="82" d="100"/>
        </p:scale>
        <p:origin x="1838" y="-22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69CE80-116F-4159-B286-4C5C2607F6BE}" type="datetimeFigureOut">
              <a:rPr lang="es-ES" smtClean="0"/>
              <a:t>02/11/2025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57179C-2F26-461F-B024-F4C4747A62B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749158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6976" y="1749795"/>
            <a:ext cx="6425724" cy="3722335"/>
          </a:xfrm>
        </p:spPr>
        <p:txBody>
          <a:bodyPr anchor="b"/>
          <a:lstStyle>
            <a:lvl1pPr algn="ctr">
              <a:defRPr sz="496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4960" y="5615678"/>
            <a:ext cx="5669756" cy="2581379"/>
          </a:xfrm>
        </p:spPr>
        <p:txBody>
          <a:bodyPr/>
          <a:lstStyle>
            <a:lvl1pPr marL="0" indent="0" algn="ctr">
              <a:buNone/>
              <a:defRPr sz="1984"/>
            </a:lvl1pPr>
            <a:lvl2pPr marL="377967" indent="0" algn="ctr">
              <a:buNone/>
              <a:defRPr sz="1653"/>
            </a:lvl2pPr>
            <a:lvl3pPr marL="755934" indent="0" algn="ctr">
              <a:buNone/>
              <a:defRPr sz="1488"/>
            </a:lvl3pPr>
            <a:lvl4pPr marL="1133902" indent="0" algn="ctr">
              <a:buNone/>
              <a:defRPr sz="1323"/>
            </a:lvl4pPr>
            <a:lvl5pPr marL="1511869" indent="0" algn="ctr">
              <a:buNone/>
              <a:defRPr sz="1323"/>
            </a:lvl5pPr>
            <a:lvl6pPr marL="1889836" indent="0" algn="ctr">
              <a:buNone/>
              <a:defRPr sz="1323"/>
            </a:lvl6pPr>
            <a:lvl7pPr marL="2267803" indent="0" algn="ctr">
              <a:buNone/>
              <a:defRPr sz="1323"/>
            </a:lvl7pPr>
            <a:lvl8pPr marL="2645771" indent="0" algn="ctr">
              <a:buNone/>
              <a:defRPr sz="1323"/>
            </a:lvl8pPr>
            <a:lvl9pPr marL="3023738" indent="0" algn="ctr">
              <a:buNone/>
              <a:defRPr sz="1323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30/10/2025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65640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30/10/2025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72678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791" y="2665532"/>
            <a:ext cx="6520220" cy="4447496"/>
          </a:xfrm>
        </p:spPr>
        <p:txBody>
          <a:bodyPr anchor="b"/>
          <a:lstStyle>
            <a:lvl1pPr>
              <a:defRPr sz="496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791" y="7155103"/>
            <a:ext cx="6520220" cy="2338833"/>
          </a:xfrm>
        </p:spPr>
        <p:txBody>
          <a:bodyPr/>
          <a:lstStyle>
            <a:lvl1pPr marL="0" indent="0">
              <a:buNone/>
              <a:defRPr sz="1984">
                <a:solidFill>
                  <a:schemeClr val="tx1">
                    <a:tint val="82000"/>
                  </a:schemeClr>
                </a:solidFill>
              </a:defRPr>
            </a:lvl1pPr>
            <a:lvl2pPr marL="377967" indent="0">
              <a:buNone/>
              <a:defRPr sz="1653">
                <a:solidFill>
                  <a:schemeClr val="tx1">
                    <a:tint val="82000"/>
                  </a:schemeClr>
                </a:solidFill>
              </a:defRPr>
            </a:lvl2pPr>
            <a:lvl3pPr marL="755934" indent="0">
              <a:buNone/>
              <a:defRPr sz="1488">
                <a:solidFill>
                  <a:schemeClr val="tx1">
                    <a:tint val="82000"/>
                  </a:schemeClr>
                </a:solidFill>
              </a:defRPr>
            </a:lvl3pPr>
            <a:lvl4pPr marL="1133902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4pPr>
            <a:lvl5pPr marL="1511869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5pPr>
            <a:lvl6pPr marL="1889836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6pPr>
            <a:lvl7pPr marL="2267803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7pPr>
            <a:lvl8pPr marL="2645771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8pPr>
            <a:lvl9pPr marL="3023738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30/10/2025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15000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728" y="2846200"/>
            <a:ext cx="3212862" cy="678385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085" y="2846200"/>
            <a:ext cx="3212862" cy="678385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30/10/2025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0817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569242"/>
            <a:ext cx="6520220" cy="206659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713" y="2620980"/>
            <a:ext cx="3198096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713" y="3905482"/>
            <a:ext cx="3198096" cy="574437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086" y="2620980"/>
            <a:ext cx="3213847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086" y="3905482"/>
            <a:ext cx="3213847" cy="574437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30/10/2025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539634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30/10/2025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06557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30/10/2025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288766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3847" y="1539425"/>
            <a:ext cx="3827085" cy="7598117"/>
          </a:xfrm>
        </p:spPr>
        <p:txBody>
          <a:bodyPr/>
          <a:lstStyle>
            <a:lvl1pPr>
              <a:defRPr sz="2645"/>
            </a:lvl1pPr>
            <a:lvl2pPr>
              <a:defRPr sz="2315"/>
            </a:lvl2pPr>
            <a:lvl3pPr>
              <a:defRPr sz="1984"/>
            </a:lvl3pPr>
            <a:lvl4pPr>
              <a:defRPr sz="1653"/>
            </a:lvl4pPr>
            <a:lvl5pPr>
              <a:defRPr sz="1653"/>
            </a:lvl5pPr>
            <a:lvl6pPr>
              <a:defRPr sz="1653"/>
            </a:lvl6pPr>
            <a:lvl7pPr>
              <a:defRPr sz="1653"/>
            </a:lvl7pPr>
            <a:lvl8pPr>
              <a:defRPr sz="1653"/>
            </a:lvl8pPr>
            <a:lvl9pPr>
              <a:defRPr sz="1653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30/10/2025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19739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3847" y="1539425"/>
            <a:ext cx="3827085" cy="7598117"/>
          </a:xfrm>
        </p:spPr>
        <p:txBody>
          <a:bodyPr anchor="t"/>
          <a:lstStyle>
            <a:lvl1pPr marL="0" indent="0">
              <a:buNone/>
              <a:defRPr sz="2645"/>
            </a:lvl1pPr>
            <a:lvl2pPr marL="377967" indent="0">
              <a:buNone/>
              <a:defRPr sz="2315"/>
            </a:lvl2pPr>
            <a:lvl3pPr marL="755934" indent="0">
              <a:buNone/>
              <a:defRPr sz="1984"/>
            </a:lvl3pPr>
            <a:lvl4pPr marL="1133902" indent="0">
              <a:buNone/>
              <a:defRPr sz="1653"/>
            </a:lvl4pPr>
            <a:lvl5pPr marL="1511869" indent="0">
              <a:buNone/>
              <a:defRPr sz="1653"/>
            </a:lvl5pPr>
            <a:lvl6pPr marL="1889836" indent="0">
              <a:buNone/>
              <a:defRPr sz="1653"/>
            </a:lvl6pPr>
            <a:lvl7pPr marL="2267803" indent="0">
              <a:buNone/>
              <a:defRPr sz="1653"/>
            </a:lvl7pPr>
            <a:lvl8pPr marL="2645771" indent="0">
              <a:buNone/>
              <a:defRPr sz="1653"/>
            </a:lvl8pPr>
            <a:lvl9pPr marL="3023738" indent="0">
              <a:buNone/>
              <a:defRPr sz="1653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30/10/2025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174720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30/10/2025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17025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09893" y="569240"/>
            <a:ext cx="1630055" cy="9060817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728" y="569240"/>
            <a:ext cx="4795669" cy="906081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30/10/2025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98680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728" y="569242"/>
            <a:ext cx="6520220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728" y="2846200"/>
            <a:ext cx="6520220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140DB7-FBAF-4D24-8F29-EB1A91FE30CB}" type="datetimeFigureOut">
              <a:rPr lang="es-ES" smtClean="0"/>
              <a:t>30/10/2025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75561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55934" rtl="0" eaLnBrk="1" latinLnBrk="0" hangingPunct="1">
        <a:lnSpc>
          <a:spcPct val="90000"/>
        </a:lnSpc>
        <a:spcBef>
          <a:spcPct val="0"/>
        </a:spcBef>
        <a:buNone/>
        <a:defRPr sz="363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8984" indent="-188984" algn="l" defTabSz="755934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6951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944918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3" kern="1200">
          <a:solidFill>
            <a:schemeClr val="tx1"/>
          </a:solidFill>
          <a:latin typeface="+mn-lt"/>
          <a:ea typeface="+mn-ea"/>
          <a:cs typeface="+mn-cs"/>
        </a:defRPr>
      </a:lvl3pPr>
      <a:lvl4pPr marL="1322885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0853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8820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6787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4754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2722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7967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5934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3902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1869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89836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7803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5771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3738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6ADF50C5-EDD7-0E06-3FDF-1F354DD2BA61}"/>
              </a:ext>
            </a:extLst>
          </p:cNvPr>
          <p:cNvSpPr txBox="1"/>
          <p:nvPr/>
        </p:nvSpPr>
        <p:spPr>
          <a:xfrm>
            <a:off x="1123962" y="0"/>
            <a:ext cx="9660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b="1" dirty="0">
                <a:latin typeface="Arial" panose="020B0604020202020204" pitchFamily="34" charset="0"/>
                <a:cs typeface="Arial" panose="020B0604020202020204" pitchFamily="34" charset="0"/>
              </a:rPr>
              <a:t>Pirimidinas</a:t>
            </a:r>
            <a:endParaRPr lang="es-ES" sz="1100" b="1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E46CD8B-65BB-AB23-660D-677CD12E4E7A}"/>
              </a:ext>
            </a:extLst>
          </p:cNvPr>
          <p:cNvSpPr txBox="1"/>
          <p:nvPr/>
        </p:nvSpPr>
        <p:spPr>
          <a:xfrm>
            <a:off x="5722089" y="-1"/>
            <a:ext cx="713624" cy="2655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b="1" dirty="0">
                <a:latin typeface="Arial" panose="020B0604020202020204" pitchFamily="34" charset="0"/>
                <a:cs typeface="Arial" panose="020B0604020202020204" pitchFamily="34" charset="0"/>
              </a:rPr>
              <a:t>Purinas</a:t>
            </a:r>
            <a:endParaRPr lang="es-ES" sz="1100" b="1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E800A60-E2DF-214C-C6D3-6F82FCC41FDA}"/>
              </a:ext>
            </a:extLst>
          </p:cNvPr>
          <p:cNvSpPr txBox="1"/>
          <p:nvPr/>
        </p:nvSpPr>
        <p:spPr>
          <a:xfrm>
            <a:off x="1187079" y="418011"/>
            <a:ext cx="8398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Aspartato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7EDB49A-FDC0-DF08-E09B-AC8F61658DA0}"/>
              </a:ext>
            </a:extLst>
          </p:cNvPr>
          <p:cNvSpPr txBox="1"/>
          <p:nvPr/>
        </p:nvSpPr>
        <p:spPr>
          <a:xfrm>
            <a:off x="824316" y="1197428"/>
            <a:ext cx="156538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N-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Carbamoilaspartato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638D181-6A14-C2E5-69CB-04D10CC0E461}"/>
              </a:ext>
            </a:extLst>
          </p:cNvPr>
          <p:cNvSpPr txBox="1"/>
          <p:nvPr/>
        </p:nvSpPr>
        <p:spPr>
          <a:xfrm>
            <a:off x="824315" y="1976845"/>
            <a:ext cx="156538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L-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dihidrooroato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940A60ED-2053-4D45-E92C-5A9CF596937F}"/>
              </a:ext>
            </a:extLst>
          </p:cNvPr>
          <p:cNvSpPr txBox="1"/>
          <p:nvPr/>
        </p:nvSpPr>
        <p:spPr>
          <a:xfrm>
            <a:off x="824315" y="2756262"/>
            <a:ext cx="156538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Orotato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C55F2C84-4791-AF10-5FDF-5F74799AEF96}"/>
              </a:ext>
            </a:extLst>
          </p:cNvPr>
          <p:cNvSpPr txBox="1"/>
          <p:nvPr/>
        </p:nvSpPr>
        <p:spPr>
          <a:xfrm>
            <a:off x="824314" y="3535679"/>
            <a:ext cx="156538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Orotidilato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 (OMP)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450824D9-9B4F-DEC4-3EF1-76F62C9A66A4}"/>
              </a:ext>
            </a:extLst>
          </p:cNvPr>
          <p:cNvSpPr txBox="1"/>
          <p:nvPr/>
        </p:nvSpPr>
        <p:spPr>
          <a:xfrm>
            <a:off x="1030319" y="4306608"/>
            <a:ext cx="1164522" cy="261610"/>
          </a:xfrm>
          <a:prstGeom prst="rect">
            <a:avLst/>
          </a:prstGeom>
          <a:gradFill flip="none" rotWithShape="1">
            <a:gsLst>
              <a:gs pos="0">
                <a:srgbClr val="00B0F0">
                  <a:tint val="66000"/>
                  <a:satMod val="160000"/>
                </a:srgbClr>
              </a:gs>
              <a:gs pos="50000">
                <a:srgbClr val="00B0F0">
                  <a:tint val="44500"/>
                  <a:satMod val="160000"/>
                </a:srgbClr>
              </a:gs>
              <a:gs pos="100000">
                <a:srgbClr val="00B0F0">
                  <a:tint val="23500"/>
                  <a:satMod val="160000"/>
                </a:srgbClr>
              </a:gs>
            </a:gsLst>
            <a:lin ang="2700000" scaled="1"/>
            <a:tileRect/>
          </a:gradFill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Uridilato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 (UMP)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29BDC82F-A871-C0EC-334B-E2672AD4570F}"/>
              </a:ext>
            </a:extLst>
          </p:cNvPr>
          <p:cNvSpPr txBox="1"/>
          <p:nvPr/>
        </p:nvSpPr>
        <p:spPr>
          <a:xfrm>
            <a:off x="704167" y="5094513"/>
            <a:ext cx="18056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Uridina 5’-trifosfato (UTP)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8F176277-B747-E748-6881-10B14B22E857}"/>
              </a:ext>
            </a:extLst>
          </p:cNvPr>
          <p:cNvSpPr txBox="1"/>
          <p:nvPr/>
        </p:nvSpPr>
        <p:spPr>
          <a:xfrm>
            <a:off x="704167" y="6260930"/>
            <a:ext cx="1805676" cy="261610"/>
          </a:xfrm>
          <a:prstGeom prst="rect">
            <a:avLst/>
          </a:prstGeom>
          <a:gradFill flip="none" rotWithShape="1">
            <a:gsLst>
              <a:gs pos="0">
                <a:srgbClr val="00B0F0">
                  <a:tint val="66000"/>
                  <a:satMod val="160000"/>
                </a:srgbClr>
              </a:gs>
              <a:gs pos="50000">
                <a:srgbClr val="00B0F0">
                  <a:tint val="44500"/>
                  <a:satMod val="160000"/>
                </a:srgbClr>
              </a:gs>
              <a:gs pos="100000">
                <a:srgbClr val="00B0F0">
                  <a:tint val="23500"/>
                  <a:satMod val="160000"/>
                </a:srgbClr>
              </a:gs>
            </a:gsLst>
            <a:lin ang="2700000" scaled="1"/>
            <a:tileRect/>
          </a:gradFill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Citidina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 5’-trifosfato (CTP)</a:t>
            </a:r>
          </a:p>
        </p:txBody>
      </p: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56F54539-0F6F-E118-A2D8-E6EF1766234E}"/>
              </a:ext>
            </a:extLst>
          </p:cNvPr>
          <p:cNvCxnSpPr>
            <a:stCxn id="4" idx="2"/>
            <a:endCxn id="7" idx="0"/>
          </p:cNvCxnSpPr>
          <p:nvPr/>
        </p:nvCxnSpPr>
        <p:spPr>
          <a:xfrm flipH="1">
            <a:off x="1607008" y="679621"/>
            <a:ext cx="1" cy="5178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49443798-CF67-DD78-290F-A28095361CAD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 flipH="1">
            <a:off x="1607007" y="1459038"/>
            <a:ext cx="1" cy="5178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8DD81B98-B351-50B4-D482-67145A31975A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>
            <a:off x="1607007" y="2238455"/>
            <a:ext cx="0" cy="5178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5C7B5845-C70C-DAC8-DCEA-717522E24C40}"/>
              </a:ext>
            </a:extLst>
          </p:cNvPr>
          <p:cNvCxnSpPr>
            <a:cxnSpLocks/>
            <a:stCxn id="9" idx="2"/>
            <a:endCxn id="10" idx="0"/>
          </p:cNvCxnSpPr>
          <p:nvPr/>
        </p:nvCxnSpPr>
        <p:spPr>
          <a:xfrm flipH="1">
            <a:off x="1607006" y="3017872"/>
            <a:ext cx="1" cy="5178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CDB15450-14CB-F969-5F80-8932C933C9EF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>
            <a:off x="1607006" y="3797289"/>
            <a:ext cx="5574" cy="5093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67757737-0FD0-4FC2-7295-9D188796FF32}"/>
              </a:ext>
            </a:extLst>
          </p:cNvPr>
          <p:cNvCxnSpPr>
            <a:cxnSpLocks/>
            <a:stCxn id="11" idx="2"/>
            <a:endCxn id="12" idx="0"/>
          </p:cNvCxnSpPr>
          <p:nvPr/>
        </p:nvCxnSpPr>
        <p:spPr>
          <a:xfrm flipH="1">
            <a:off x="1607005" y="4568218"/>
            <a:ext cx="5575" cy="5262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E9F7476C-F3BD-611A-7AD6-E54DF1A3F4F4}"/>
              </a:ext>
            </a:extLst>
          </p:cNvPr>
          <p:cNvCxnSpPr>
            <a:cxnSpLocks/>
            <a:stCxn id="12" idx="2"/>
            <a:endCxn id="13" idx="0"/>
          </p:cNvCxnSpPr>
          <p:nvPr/>
        </p:nvCxnSpPr>
        <p:spPr>
          <a:xfrm>
            <a:off x="1607005" y="5356123"/>
            <a:ext cx="0" cy="9048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5" name="CuadroTexto 34">
            <a:extLst>
              <a:ext uri="{FF2B5EF4-FFF2-40B4-BE49-F238E27FC236}">
                <a16:creationId xmlns:a16="http://schemas.microsoft.com/office/drawing/2014/main" id="{02738142-6B20-0B1C-06E0-E07F5DCFAA60}"/>
              </a:ext>
            </a:extLst>
          </p:cNvPr>
          <p:cNvSpPr txBox="1"/>
          <p:nvPr/>
        </p:nvSpPr>
        <p:spPr>
          <a:xfrm>
            <a:off x="359484" y="723081"/>
            <a:ext cx="124752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Aspartato 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transcarboilasa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BE07FD75-8393-9831-2B1F-B85C0BDF56C9}"/>
              </a:ext>
            </a:extLst>
          </p:cNvPr>
          <p:cNvSpPr txBox="1"/>
          <p:nvPr/>
        </p:nvSpPr>
        <p:spPr>
          <a:xfrm>
            <a:off x="359483" y="1587137"/>
            <a:ext cx="12475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Dihidrooratasa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DAF3507C-0B16-B614-A275-4DC5D949F997}"/>
              </a:ext>
            </a:extLst>
          </p:cNvPr>
          <p:cNvSpPr txBox="1"/>
          <p:nvPr/>
        </p:nvSpPr>
        <p:spPr>
          <a:xfrm>
            <a:off x="359482" y="2279208"/>
            <a:ext cx="124752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Dihidroorotato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 deshidrogenasa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EE333CE7-314E-B438-6A69-2D8A3DA2A21B}"/>
              </a:ext>
            </a:extLst>
          </p:cNvPr>
          <p:cNvSpPr txBox="1"/>
          <p:nvPr/>
        </p:nvSpPr>
        <p:spPr>
          <a:xfrm>
            <a:off x="0" y="3058625"/>
            <a:ext cx="160700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Orotato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fosforribosiltransferasa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BB142FC3-BDC9-EA92-2E20-3FAD3EA3ECB3}"/>
              </a:ext>
            </a:extLst>
          </p:cNvPr>
          <p:cNvSpPr txBox="1"/>
          <p:nvPr/>
        </p:nvSpPr>
        <p:spPr>
          <a:xfrm>
            <a:off x="20812" y="3838042"/>
            <a:ext cx="160700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Orodilato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 descarboxilasa</a:t>
            </a: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5A2EA325-5BD3-CC1D-06C4-26751950E940}"/>
              </a:ext>
            </a:extLst>
          </p:cNvPr>
          <p:cNvSpPr txBox="1"/>
          <p:nvPr/>
        </p:nvSpPr>
        <p:spPr>
          <a:xfrm>
            <a:off x="20812" y="4702098"/>
            <a:ext cx="160700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Quinasas</a:t>
            </a: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FFB60FB5-EBA8-DB2D-FE98-02A1244B0248}"/>
              </a:ext>
            </a:extLst>
          </p:cNvPr>
          <p:cNvSpPr txBox="1"/>
          <p:nvPr/>
        </p:nvSpPr>
        <p:spPr>
          <a:xfrm>
            <a:off x="20812" y="5481515"/>
            <a:ext cx="160700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Citidilato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 sintetasa</a:t>
            </a: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13299DB9-FA1E-26D4-9F27-527E9CA55396}"/>
              </a:ext>
            </a:extLst>
          </p:cNvPr>
          <p:cNvSpPr txBox="1"/>
          <p:nvPr/>
        </p:nvSpPr>
        <p:spPr>
          <a:xfrm>
            <a:off x="1741430" y="653600"/>
            <a:ext cx="8398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Carbamoil fosfato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4" name="Conector: curvado 43">
            <a:extLst>
              <a:ext uri="{FF2B5EF4-FFF2-40B4-BE49-F238E27FC236}">
                <a16:creationId xmlns:a16="http://schemas.microsoft.com/office/drawing/2014/main" id="{A0A50407-C9F2-C4C5-5418-31E9DDD2A51D}"/>
              </a:ext>
            </a:extLst>
          </p:cNvPr>
          <p:cNvCxnSpPr>
            <a:cxnSpLocks/>
            <a:stCxn id="42" idx="1"/>
          </p:cNvCxnSpPr>
          <p:nvPr/>
        </p:nvCxnSpPr>
        <p:spPr>
          <a:xfrm rot="10800000" flipV="1">
            <a:off x="1607004" y="869043"/>
            <a:ext cx="134427" cy="258903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CuadroTexto 45">
            <a:extLst>
              <a:ext uri="{FF2B5EF4-FFF2-40B4-BE49-F238E27FC236}">
                <a16:creationId xmlns:a16="http://schemas.microsoft.com/office/drawing/2014/main" id="{D1DAF1F2-AA54-1400-3345-02B1978AE3E8}"/>
              </a:ext>
            </a:extLst>
          </p:cNvPr>
          <p:cNvSpPr txBox="1"/>
          <p:nvPr/>
        </p:nvSpPr>
        <p:spPr>
          <a:xfrm>
            <a:off x="1758153" y="1693556"/>
            <a:ext cx="4829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s-ES" sz="11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</a:p>
        </p:txBody>
      </p:sp>
      <p:cxnSp>
        <p:nvCxnSpPr>
          <p:cNvPr id="47" name="Conector: curvado 46">
            <a:extLst>
              <a:ext uri="{FF2B5EF4-FFF2-40B4-BE49-F238E27FC236}">
                <a16:creationId xmlns:a16="http://schemas.microsoft.com/office/drawing/2014/main" id="{18AAEFC3-DBD6-79EE-C9D7-B8072FAEC673}"/>
              </a:ext>
            </a:extLst>
          </p:cNvPr>
          <p:cNvCxnSpPr>
            <a:cxnSpLocks/>
            <a:endCxn id="46" idx="1"/>
          </p:cNvCxnSpPr>
          <p:nvPr/>
        </p:nvCxnSpPr>
        <p:spPr>
          <a:xfrm rot="16200000" flipH="1">
            <a:off x="1596799" y="1663007"/>
            <a:ext cx="171558" cy="151150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0" name="CuadroTexto 49">
            <a:extLst>
              <a:ext uri="{FF2B5EF4-FFF2-40B4-BE49-F238E27FC236}">
                <a16:creationId xmlns:a16="http://schemas.microsoft.com/office/drawing/2014/main" id="{25A266DF-81E4-D5D4-85F3-A1A59C710AF2}"/>
              </a:ext>
            </a:extLst>
          </p:cNvPr>
          <p:cNvSpPr txBox="1"/>
          <p:nvPr/>
        </p:nvSpPr>
        <p:spPr>
          <a:xfrm>
            <a:off x="1719425" y="2263916"/>
            <a:ext cx="54961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NAD</a:t>
            </a:r>
            <a:r>
              <a:rPr lang="es-ES" sz="1100" baseline="30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61B9BDDE-6FAC-ACFC-A682-6C15E5E71DEA}"/>
              </a:ext>
            </a:extLst>
          </p:cNvPr>
          <p:cNvSpPr txBox="1"/>
          <p:nvPr/>
        </p:nvSpPr>
        <p:spPr>
          <a:xfrm>
            <a:off x="1719420" y="2494651"/>
            <a:ext cx="603173" cy="26161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3">
                  <a:lumMod val="60000"/>
                  <a:lumOff val="40000"/>
                  <a:alpha val="33000"/>
                </a:schemeClr>
              </a:gs>
              <a:gs pos="83000">
                <a:schemeClr val="accent3">
                  <a:lumMod val="60000"/>
                  <a:lumOff val="40000"/>
                  <a:alpha val="48000"/>
                </a:schemeClr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5400000" scaled="1"/>
          </a:gradFill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NADH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3" name="Conector: curvado 52">
            <a:extLst>
              <a:ext uri="{FF2B5EF4-FFF2-40B4-BE49-F238E27FC236}">
                <a16:creationId xmlns:a16="http://schemas.microsoft.com/office/drawing/2014/main" id="{89ADBD3B-8C3B-62A1-C357-5ED93147FEE0}"/>
              </a:ext>
            </a:extLst>
          </p:cNvPr>
          <p:cNvCxnSpPr>
            <a:cxnSpLocks/>
            <a:stCxn id="50" idx="1"/>
            <a:endCxn id="52" idx="1"/>
          </p:cNvCxnSpPr>
          <p:nvPr/>
        </p:nvCxnSpPr>
        <p:spPr>
          <a:xfrm rot="10800000" flipV="1">
            <a:off x="1719421" y="2394720"/>
            <a:ext cx="5" cy="230735"/>
          </a:xfrm>
          <a:prstGeom prst="curvedConnector3">
            <a:avLst>
              <a:gd name="adj1" fmla="val 2147483646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5" name="CuadroTexto 64">
            <a:extLst>
              <a:ext uri="{FF2B5EF4-FFF2-40B4-BE49-F238E27FC236}">
                <a16:creationId xmlns:a16="http://schemas.microsoft.com/office/drawing/2014/main" id="{8277E948-B774-3652-8F9C-601D6CAF117A}"/>
              </a:ext>
            </a:extLst>
          </p:cNvPr>
          <p:cNvSpPr txBox="1"/>
          <p:nvPr/>
        </p:nvSpPr>
        <p:spPr>
          <a:xfrm>
            <a:off x="1723329" y="3060488"/>
            <a:ext cx="59926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PRPP</a:t>
            </a:r>
          </a:p>
        </p:txBody>
      </p:sp>
      <p:sp>
        <p:nvSpPr>
          <p:cNvPr id="66" name="CuadroTexto 65">
            <a:extLst>
              <a:ext uri="{FF2B5EF4-FFF2-40B4-BE49-F238E27FC236}">
                <a16:creationId xmlns:a16="http://schemas.microsoft.com/office/drawing/2014/main" id="{6CC66E27-4ACA-3DE0-0528-FB487CD52E40}"/>
              </a:ext>
            </a:extLst>
          </p:cNvPr>
          <p:cNvSpPr txBox="1"/>
          <p:nvPr/>
        </p:nvSpPr>
        <p:spPr>
          <a:xfrm>
            <a:off x="1713303" y="3248608"/>
            <a:ext cx="4480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PPi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7" name="Conector: curvado 66">
            <a:extLst>
              <a:ext uri="{FF2B5EF4-FFF2-40B4-BE49-F238E27FC236}">
                <a16:creationId xmlns:a16="http://schemas.microsoft.com/office/drawing/2014/main" id="{0F538788-47CD-35A5-1EDA-7319B3F06A60}"/>
              </a:ext>
            </a:extLst>
          </p:cNvPr>
          <p:cNvCxnSpPr>
            <a:cxnSpLocks/>
            <a:stCxn id="65" idx="1"/>
            <a:endCxn id="66" idx="1"/>
          </p:cNvCxnSpPr>
          <p:nvPr/>
        </p:nvCxnSpPr>
        <p:spPr>
          <a:xfrm rot="10800000" flipV="1">
            <a:off x="1713303" y="3191293"/>
            <a:ext cx="10026" cy="188120"/>
          </a:xfrm>
          <a:prstGeom prst="curvedConnector3">
            <a:avLst>
              <a:gd name="adj1" fmla="val 1136395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1" name="CuadroTexto 70">
            <a:extLst>
              <a:ext uri="{FF2B5EF4-FFF2-40B4-BE49-F238E27FC236}">
                <a16:creationId xmlns:a16="http://schemas.microsoft.com/office/drawing/2014/main" id="{D5725D5B-F6BD-9246-ABF5-9069997F850E}"/>
              </a:ext>
            </a:extLst>
          </p:cNvPr>
          <p:cNvSpPr txBox="1"/>
          <p:nvPr/>
        </p:nvSpPr>
        <p:spPr>
          <a:xfrm>
            <a:off x="1721980" y="3949429"/>
            <a:ext cx="4480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CO</a:t>
            </a:r>
            <a:r>
              <a:rPr lang="es-ES" sz="11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cxnSp>
        <p:nvCxnSpPr>
          <p:cNvPr id="72" name="Conector: curvado 71">
            <a:extLst>
              <a:ext uri="{FF2B5EF4-FFF2-40B4-BE49-F238E27FC236}">
                <a16:creationId xmlns:a16="http://schemas.microsoft.com/office/drawing/2014/main" id="{FB3B0414-61D0-FC45-0D15-3F3BC3F42796}"/>
              </a:ext>
            </a:extLst>
          </p:cNvPr>
          <p:cNvCxnSpPr>
            <a:cxnSpLocks/>
            <a:endCxn id="71" idx="1"/>
          </p:cNvCxnSpPr>
          <p:nvPr/>
        </p:nvCxnSpPr>
        <p:spPr>
          <a:xfrm rot="16200000" flipH="1">
            <a:off x="1572919" y="3931172"/>
            <a:ext cx="183147" cy="114975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6" name="CuadroTexto 75">
            <a:extLst>
              <a:ext uri="{FF2B5EF4-FFF2-40B4-BE49-F238E27FC236}">
                <a16:creationId xmlns:a16="http://schemas.microsoft.com/office/drawing/2014/main" id="{D0EA9DAC-AD04-6B97-1338-FC1CF0FA3A2C}"/>
              </a:ext>
            </a:extLst>
          </p:cNvPr>
          <p:cNvSpPr txBox="1"/>
          <p:nvPr/>
        </p:nvSpPr>
        <p:spPr>
          <a:xfrm>
            <a:off x="1712992" y="4576706"/>
            <a:ext cx="556044" cy="26161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ES" sz="11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ATP</a:t>
            </a:r>
          </a:p>
        </p:txBody>
      </p:sp>
      <p:sp>
        <p:nvSpPr>
          <p:cNvPr id="77" name="CuadroTexto 76">
            <a:extLst>
              <a:ext uri="{FF2B5EF4-FFF2-40B4-BE49-F238E27FC236}">
                <a16:creationId xmlns:a16="http://schemas.microsoft.com/office/drawing/2014/main" id="{5D163C82-87DD-0F9A-1BDB-B8E79877E358}"/>
              </a:ext>
            </a:extLst>
          </p:cNvPr>
          <p:cNvSpPr txBox="1"/>
          <p:nvPr/>
        </p:nvSpPr>
        <p:spPr>
          <a:xfrm>
            <a:off x="1712992" y="4832902"/>
            <a:ext cx="59926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2ADP</a:t>
            </a:r>
          </a:p>
        </p:txBody>
      </p:sp>
      <p:cxnSp>
        <p:nvCxnSpPr>
          <p:cNvPr id="78" name="Conector: curvado 77">
            <a:extLst>
              <a:ext uri="{FF2B5EF4-FFF2-40B4-BE49-F238E27FC236}">
                <a16:creationId xmlns:a16="http://schemas.microsoft.com/office/drawing/2014/main" id="{24FCF15C-4F6B-FB52-432B-43D33B72E749}"/>
              </a:ext>
            </a:extLst>
          </p:cNvPr>
          <p:cNvCxnSpPr>
            <a:cxnSpLocks/>
            <a:stCxn id="76" idx="1"/>
            <a:endCxn id="77" idx="1"/>
          </p:cNvCxnSpPr>
          <p:nvPr/>
        </p:nvCxnSpPr>
        <p:spPr>
          <a:xfrm rot="10800000" flipV="1">
            <a:off x="1712992" y="4707511"/>
            <a:ext cx="12700" cy="256196"/>
          </a:xfrm>
          <a:prstGeom prst="curvedConnector3">
            <a:avLst>
              <a:gd name="adj1" fmla="val 983504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3" name="CuadroTexto 82">
            <a:extLst>
              <a:ext uri="{FF2B5EF4-FFF2-40B4-BE49-F238E27FC236}">
                <a16:creationId xmlns:a16="http://schemas.microsoft.com/office/drawing/2014/main" id="{E7853CA4-62B3-75B6-4A80-84268A19F1D5}"/>
              </a:ext>
            </a:extLst>
          </p:cNvPr>
          <p:cNvSpPr txBox="1"/>
          <p:nvPr/>
        </p:nvSpPr>
        <p:spPr>
          <a:xfrm>
            <a:off x="1712992" y="5793081"/>
            <a:ext cx="556044" cy="26161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ATP</a:t>
            </a:r>
          </a:p>
        </p:txBody>
      </p:sp>
      <p:sp>
        <p:nvSpPr>
          <p:cNvPr id="84" name="CuadroTexto 83">
            <a:extLst>
              <a:ext uri="{FF2B5EF4-FFF2-40B4-BE49-F238E27FC236}">
                <a16:creationId xmlns:a16="http://schemas.microsoft.com/office/drawing/2014/main" id="{8E748CE9-1873-3A86-83AE-4BFD7B4373D5}"/>
              </a:ext>
            </a:extLst>
          </p:cNvPr>
          <p:cNvSpPr txBox="1"/>
          <p:nvPr/>
        </p:nvSpPr>
        <p:spPr>
          <a:xfrm>
            <a:off x="1712992" y="6049277"/>
            <a:ext cx="59926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ADP</a:t>
            </a:r>
          </a:p>
        </p:txBody>
      </p:sp>
      <p:cxnSp>
        <p:nvCxnSpPr>
          <p:cNvPr id="85" name="Conector: curvado 84">
            <a:extLst>
              <a:ext uri="{FF2B5EF4-FFF2-40B4-BE49-F238E27FC236}">
                <a16:creationId xmlns:a16="http://schemas.microsoft.com/office/drawing/2014/main" id="{709C752A-F2EF-64EB-1A7D-33AA551C5645}"/>
              </a:ext>
            </a:extLst>
          </p:cNvPr>
          <p:cNvCxnSpPr>
            <a:cxnSpLocks/>
            <a:stCxn id="83" idx="1"/>
            <a:endCxn id="84" idx="1"/>
          </p:cNvCxnSpPr>
          <p:nvPr/>
        </p:nvCxnSpPr>
        <p:spPr>
          <a:xfrm rot="10800000" flipV="1">
            <a:off x="1712992" y="5923886"/>
            <a:ext cx="12700" cy="256196"/>
          </a:xfrm>
          <a:prstGeom prst="curvedConnector3">
            <a:avLst>
              <a:gd name="adj1" fmla="val 983504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6" name="CuadroTexto 85">
            <a:extLst>
              <a:ext uri="{FF2B5EF4-FFF2-40B4-BE49-F238E27FC236}">
                <a16:creationId xmlns:a16="http://schemas.microsoft.com/office/drawing/2014/main" id="{9AFDA057-F8FA-694D-600B-91124F4118ED}"/>
              </a:ext>
            </a:extLst>
          </p:cNvPr>
          <p:cNvSpPr txBox="1"/>
          <p:nvPr/>
        </p:nvSpPr>
        <p:spPr>
          <a:xfrm>
            <a:off x="1723332" y="5325249"/>
            <a:ext cx="59926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Gln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8" name="CuadroTexto 87">
            <a:extLst>
              <a:ext uri="{FF2B5EF4-FFF2-40B4-BE49-F238E27FC236}">
                <a16:creationId xmlns:a16="http://schemas.microsoft.com/office/drawing/2014/main" id="{BC59403B-A155-B059-71D9-81B66BC940D7}"/>
              </a:ext>
            </a:extLst>
          </p:cNvPr>
          <p:cNvSpPr txBox="1"/>
          <p:nvPr/>
        </p:nvSpPr>
        <p:spPr>
          <a:xfrm>
            <a:off x="1716662" y="5546916"/>
            <a:ext cx="59926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Glu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9" name="Conector: curvado 88">
            <a:extLst>
              <a:ext uri="{FF2B5EF4-FFF2-40B4-BE49-F238E27FC236}">
                <a16:creationId xmlns:a16="http://schemas.microsoft.com/office/drawing/2014/main" id="{E73FDDF0-12C6-73D5-D197-EEE0E05471DF}"/>
              </a:ext>
            </a:extLst>
          </p:cNvPr>
          <p:cNvCxnSpPr>
            <a:cxnSpLocks/>
            <a:stCxn id="86" idx="1"/>
            <a:endCxn id="88" idx="1"/>
          </p:cNvCxnSpPr>
          <p:nvPr/>
        </p:nvCxnSpPr>
        <p:spPr>
          <a:xfrm rot="10800000" flipV="1">
            <a:off x="1716662" y="5456053"/>
            <a:ext cx="6670" cy="221667"/>
          </a:xfrm>
          <a:prstGeom prst="curvedConnector3">
            <a:avLst>
              <a:gd name="adj1" fmla="val 1831319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4" name="Conector: angular 93">
            <a:extLst>
              <a:ext uri="{FF2B5EF4-FFF2-40B4-BE49-F238E27FC236}">
                <a16:creationId xmlns:a16="http://schemas.microsoft.com/office/drawing/2014/main" id="{214D5DA8-2099-AD38-81ED-E4B493DB6D74}"/>
              </a:ext>
            </a:extLst>
          </p:cNvPr>
          <p:cNvCxnSpPr>
            <a:stCxn id="13" idx="1"/>
            <a:endCxn id="35" idx="1"/>
          </p:cNvCxnSpPr>
          <p:nvPr/>
        </p:nvCxnSpPr>
        <p:spPr>
          <a:xfrm rot="10800000">
            <a:off x="359485" y="938525"/>
            <a:ext cx="344683" cy="5453210"/>
          </a:xfrm>
          <a:prstGeom prst="bentConnector3">
            <a:avLst>
              <a:gd name="adj1" fmla="val 184247"/>
            </a:avLst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6" name="Grupo 95">
            <a:extLst>
              <a:ext uri="{FF2B5EF4-FFF2-40B4-BE49-F238E27FC236}">
                <a16:creationId xmlns:a16="http://schemas.microsoft.com/office/drawing/2014/main" id="{D1CEAE08-BA9F-D51C-6806-7188AA340433}"/>
              </a:ext>
            </a:extLst>
          </p:cNvPr>
          <p:cNvGrpSpPr/>
          <p:nvPr/>
        </p:nvGrpSpPr>
        <p:grpSpPr>
          <a:xfrm>
            <a:off x="101366" y="974180"/>
            <a:ext cx="128136" cy="128136"/>
            <a:chOff x="908127" y="1162591"/>
            <a:chExt cx="128136" cy="128136"/>
          </a:xfrm>
        </p:grpSpPr>
        <p:sp>
          <p:nvSpPr>
            <p:cNvPr id="97" name="Elipse 96">
              <a:extLst>
                <a:ext uri="{FF2B5EF4-FFF2-40B4-BE49-F238E27FC236}">
                  <a16:creationId xmlns:a16="http://schemas.microsoft.com/office/drawing/2014/main" id="{02E92411-11C8-C5A6-589A-C2CB1CC5311E}"/>
                </a:ext>
              </a:extLst>
            </p:cNvPr>
            <p:cNvSpPr/>
            <p:nvPr/>
          </p:nvSpPr>
          <p:spPr>
            <a:xfrm>
              <a:off x="908127" y="1162591"/>
              <a:ext cx="128136" cy="128136"/>
            </a:xfrm>
            <a:prstGeom prst="ellipse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98" name="Cruz 97">
              <a:extLst>
                <a:ext uri="{FF2B5EF4-FFF2-40B4-BE49-F238E27FC236}">
                  <a16:creationId xmlns:a16="http://schemas.microsoft.com/office/drawing/2014/main" id="{AFDC607A-A150-90C5-76E7-D7238BD7979E}"/>
                </a:ext>
              </a:extLst>
            </p:cNvPr>
            <p:cNvSpPr/>
            <p:nvPr/>
          </p:nvSpPr>
          <p:spPr>
            <a:xfrm rot="18725897">
              <a:off x="916573" y="1167869"/>
              <a:ext cx="115542" cy="115987"/>
            </a:xfrm>
            <a:prstGeom prst="plus">
              <a:avLst>
                <a:gd name="adj" fmla="val 42398"/>
              </a:avLst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99" name="CuadroTexto 98">
            <a:extLst>
              <a:ext uri="{FF2B5EF4-FFF2-40B4-BE49-F238E27FC236}">
                <a16:creationId xmlns:a16="http://schemas.microsoft.com/office/drawing/2014/main" id="{AC76FD4D-24B4-351A-B0ED-9573ECA2553A}"/>
              </a:ext>
            </a:extLst>
          </p:cNvPr>
          <p:cNvSpPr txBox="1"/>
          <p:nvPr/>
        </p:nvSpPr>
        <p:spPr>
          <a:xfrm>
            <a:off x="5779269" y="391990"/>
            <a:ext cx="59926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PRPP</a:t>
            </a:r>
          </a:p>
        </p:txBody>
      </p:sp>
      <p:cxnSp>
        <p:nvCxnSpPr>
          <p:cNvPr id="101" name="Conector: angular 100">
            <a:extLst>
              <a:ext uri="{FF2B5EF4-FFF2-40B4-BE49-F238E27FC236}">
                <a16:creationId xmlns:a16="http://schemas.microsoft.com/office/drawing/2014/main" id="{5E5C88A1-59D9-4454-AA50-031160252A3F}"/>
              </a:ext>
            </a:extLst>
          </p:cNvPr>
          <p:cNvCxnSpPr>
            <a:cxnSpLocks/>
            <a:stCxn id="244" idx="0"/>
            <a:endCxn id="99" idx="1"/>
          </p:cNvCxnSpPr>
          <p:nvPr/>
        </p:nvCxnSpPr>
        <p:spPr>
          <a:xfrm rot="5400000" flipH="1" flipV="1">
            <a:off x="4075847" y="145325"/>
            <a:ext cx="1325952" cy="2080892"/>
          </a:xfrm>
          <a:prstGeom prst="bentConnector2">
            <a:avLst/>
          </a:prstGeom>
          <a:ln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7" name="CuadroTexto 106">
            <a:extLst>
              <a:ext uri="{FF2B5EF4-FFF2-40B4-BE49-F238E27FC236}">
                <a16:creationId xmlns:a16="http://schemas.microsoft.com/office/drawing/2014/main" id="{496F5B70-902A-0755-A0B0-661714ACC9D2}"/>
              </a:ext>
            </a:extLst>
          </p:cNvPr>
          <p:cNvSpPr txBox="1"/>
          <p:nvPr/>
        </p:nvSpPr>
        <p:spPr>
          <a:xfrm>
            <a:off x="5292232" y="1197428"/>
            <a:ext cx="156538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5-fosfo-</a:t>
            </a:r>
            <a:r>
              <a:rPr lang="el-GR" sz="1100" dirty="0"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ribosilamina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8" name="CuadroTexto 107">
            <a:extLst>
              <a:ext uri="{FF2B5EF4-FFF2-40B4-BE49-F238E27FC236}">
                <a16:creationId xmlns:a16="http://schemas.microsoft.com/office/drawing/2014/main" id="{43A2F480-A68A-80D9-6083-912370DBF020}"/>
              </a:ext>
            </a:extLst>
          </p:cNvPr>
          <p:cNvSpPr txBox="1"/>
          <p:nvPr/>
        </p:nvSpPr>
        <p:spPr>
          <a:xfrm>
            <a:off x="5683577" y="1976845"/>
            <a:ext cx="7826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GAR</a:t>
            </a:r>
          </a:p>
        </p:txBody>
      </p:sp>
      <p:sp>
        <p:nvSpPr>
          <p:cNvPr id="109" name="CuadroTexto 108">
            <a:extLst>
              <a:ext uri="{FF2B5EF4-FFF2-40B4-BE49-F238E27FC236}">
                <a16:creationId xmlns:a16="http://schemas.microsoft.com/office/drawing/2014/main" id="{DD8D096E-8D6B-09D1-BE01-B7F5C486ED37}"/>
              </a:ext>
            </a:extLst>
          </p:cNvPr>
          <p:cNvSpPr txBox="1"/>
          <p:nvPr/>
        </p:nvSpPr>
        <p:spPr>
          <a:xfrm>
            <a:off x="5683577" y="2756262"/>
            <a:ext cx="7826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FGAR</a:t>
            </a:r>
          </a:p>
        </p:txBody>
      </p:sp>
      <p:sp>
        <p:nvSpPr>
          <p:cNvPr id="110" name="CuadroTexto 109">
            <a:extLst>
              <a:ext uri="{FF2B5EF4-FFF2-40B4-BE49-F238E27FC236}">
                <a16:creationId xmlns:a16="http://schemas.microsoft.com/office/drawing/2014/main" id="{324BCD68-3408-F1FD-5356-42F44D39072C}"/>
              </a:ext>
            </a:extLst>
          </p:cNvPr>
          <p:cNvSpPr txBox="1"/>
          <p:nvPr/>
        </p:nvSpPr>
        <p:spPr>
          <a:xfrm>
            <a:off x="5683577" y="3832244"/>
            <a:ext cx="7826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FGAM</a:t>
            </a:r>
          </a:p>
        </p:txBody>
      </p:sp>
      <p:sp>
        <p:nvSpPr>
          <p:cNvPr id="111" name="CuadroTexto 110">
            <a:extLst>
              <a:ext uri="{FF2B5EF4-FFF2-40B4-BE49-F238E27FC236}">
                <a16:creationId xmlns:a16="http://schemas.microsoft.com/office/drawing/2014/main" id="{6252DA01-446A-4049-4AA3-135747AAB494}"/>
              </a:ext>
            </a:extLst>
          </p:cNvPr>
          <p:cNvSpPr txBox="1"/>
          <p:nvPr/>
        </p:nvSpPr>
        <p:spPr>
          <a:xfrm>
            <a:off x="5818121" y="4611661"/>
            <a:ext cx="513597" cy="2598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AIR</a:t>
            </a:r>
          </a:p>
        </p:txBody>
      </p:sp>
      <p:sp>
        <p:nvSpPr>
          <p:cNvPr id="112" name="CuadroTexto 111">
            <a:extLst>
              <a:ext uri="{FF2B5EF4-FFF2-40B4-BE49-F238E27FC236}">
                <a16:creationId xmlns:a16="http://schemas.microsoft.com/office/drawing/2014/main" id="{2A11870D-88CB-01C5-30CC-71D7A7D11DEF}"/>
              </a:ext>
            </a:extLst>
          </p:cNvPr>
          <p:cNvSpPr txBox="1"/>
          <p:nvPr/>
        </p:nvSpPr>
        <p:spPr>
          <a:xfrm>
            <a:off x="5683576" y="5360204"/>
            <a:ext cx="7826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N5-CAIR</a:t>
            </a:r>
          </a:p>
        </p:txBody>
      </p:sp>
      <p:sp>
        <p:nvSpPr>
          <p:cNvPr id="113" name="CuadroTexto 112">
            <a:extLst>
              <a:ext uri="{FF2B5EF4-FFF2-40B4-BE49-F238E27FC236}">
                <a16:creationId xmlns:a16="http://schemas.microsoft.com/office/drawing/2014/main" id="{0BE9EA30-BE55-4D8A-651E-764EF2AA487E}"/>
              </a:ext>
            </a:extLst>
          </p:cNvPr>
          <p:cNvSpPr txBox="1"/>
          <p:nvPr/>
        </p:nvSpPr>
        <p:spPr>
          <a:xfrm>
            <a:off x="5758950" y="6144506"/>
            <a:ext cx="61958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CAIR</a:t>
            </a:r>
          </a:p>
        </p:txBody>
      </p:sp>
      <p:sp>
        <p:nvSpPr>
          <p:cNvPr id="114" name="CuadroTexto 113">
            <a:extLst>
              <a:ext uri="{FF2B5EF4-FFF2-40B4-BE49-F238E27FC236}">
                <a16:creationId xmlns:a16="http://schemas.microsoft.com/office/drawing/2014/main" id="{4823FB8D-2B45-700B-1C38-F50A77F28183}"/>
              </a:ext>
            </a:extLst>
          </p:cNvPr>
          <p:cNvSpPr txBox="1"/>
          <p:nvPr/>
        </p:nvSpPr>
        <p:spPr>
          <a:xfrm>
            <a:off x="5683575" y="6924594"/>
            <a:ext cx="7826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SAICAR</a:t>
            </a:r>
          </a:p>
        </p:txBody>
      </p:sp>
      <p:sp>
        <p:nvSpPr>
          <p:cNvPr id="115" name="CuadroTexto 114">
            <a:extLst>
              <a:ext uri="{FF2B5EF4-FFF2-40B4-BE49-F238E27FC236}">
                <a16:creationId xmlns:a16="http://schemas.microsoft.com/office/drawing/2014/main" id="{DDDBF79E-8D6E-3D2E-04BD-61ABCE251169}"/>
              </a:ext>
            </a:extLst>
          </p:cNvPr>
          <p:cNvSpPr txBox="1"/>
          <p:nvPr/>
        </p:nvSpPr>
        <p:spPr>
          <a:xfrm>
            <a:off x="5686828" y="7708896"/>
            <a:ext cx="7826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AICAR</a:t>
            </a:r>
          </a:p>
        </p:txBody>
      </p:sp>
      <p:sp>
        <p:nvSpPr>
          <p:cNvPr id="116" name="CuadroTexto 115">
            <a:extLst>
              <a:ext uri="{FF2B5EF4-FFF2-40B4-BE49-F238E27FC236}">
                <a16:creationId xmlns:a16="http://schemas.microsoft.com/office/drawing/2014/main" id="{B458B762-0E86-5150-EA07-305939DD296E}"/>
              </a:ext>
            </a:extLst>
          </p:cNvPr>
          <p:cNvSpPr txBox="1"/>
          <p:nvPr/>
        </p:nvSpPr>
        <p:spPr>
          <a:xfrm>
            <a:off x="5683574" y="8488313"/>
            <a:ext cx="7826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FAICAR</a:t>
            </a:r>
          </a:p>
        </p:txBody>
      </p:sp>
      <p:sp>
        <p:nvSpPr>
          <p:cNvPr id="117" name="CuadroTexto 116">
            <a:extLst>
              <a:ext uri="{FF2B5EF4-FFF2-40B4-BE49-F238E27FC236}">
                <a16:creationId xmlns:a16="http://schemas.microsoft.com/office/drawing/2014/main" id="{EA598DF6-6FA5-1D04-C4F4-FAF0DF8EF436}"/>
              </a:ext>
            </a:extLst>
          </p:cNvPr>
          <p:cNvSpPr txBox="1"/>
          <p:nvPr/>
        </p:nvSpPr>
        <p:spPr>
          <a:xfrm>
            <a:off x="5487900" y="9236856"/>
            <a:ext cx="11740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Inosinato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 (IMP)</a:t>
            </a:r>
          </a:p>
        </p:txBody>
      </p:sp>
      <p:cxnSp>
        <p:nvCxnSpPr>
          <p:cNvPr id="118" name="Conector recto de flecha 117">
            <a:extLst>
              <a:ext uri="{FF2B5EF4-FFF2-40B4-BE49-F238E27FC236}">
                <a16:creationId xmlns:a16="http://schemas.microsoft.com/office/drawing/2014/main" id="{9F3AEF58-66D3-1462-F9F4-EC89333EFFCB}"/>
              </a:ext>
            </a:extLst>
          </p:cNvPr>
          <p:cNvCxnSpPr>
            <a:cxnSpLocks/>
            <a:stCxn id="99" idx="2"/>
            <a:endCxn id="107" idx="0"/>
          </p:cNvCxnSpPr>
          <p:nvPr/>
        </p:nvCxnSpPr>
        <p:spPr>
          <a:xfrm flipH="1">
            <a:off x="6074924" y="653600"/>
            <a:ext cx="3977" cy="5438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1" name="Conector recto de flecha 120">
            <a:extLst>
              <a:ext uri="{FF2B5EF4-FFF2-40B4-BE49-F238E27FC236}">
                <a16:creationId xmlns:a16="http://schemas.microsoft.com/office/drawing/2014/main" id="{669883FD-6DE1-10D4-69E2-28FE1CFCAED5}"/>
              </a:ext>
            </a:extLst>
          </p:cNvPr>
          <p:cNvCxnSpPr>
            <a:cxnSpLocks/>
            <a:stCxn id="107" idx="2"/>
            <a:endCxn id="108" idx="0"/>
          </p:cNvCxnSpPr>
          <p:nvPr/>
        </p:nvCxnSpPr>
        <p:spPr>
          <a:xfrm flipH="1">
            <a:off x="6074923" y="1459038"/>
            <a:ext cx="1" cy="5178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4" name="Conector recto de flecha 123">
            <a:extLst>
              <a:ext uri="{FF2B5EF4-FFF2-40B4-BE49-F238E27FC236}">
                <a16:creationId xmlns:a16="http://schemas.microsoft.com/office/drawing/2014/main" id="{52B6FF4E-369A-4A95-D581-AD7F1A6ACEC1}"/>
              </a:ext>
            </a:extLst>
          </p:cNvPr>
          <p:cNvCxnSpPr>
            <a:cxnSpLocks/>
            <a:stCxn id="108" idx="2"/>
            <a:endCxn id="109" idx="0"/>
          </p:cNvCxnSpPr>
          <p:nvPr/>
        </p:nvCxnSpPr>
        <p:spPr>
          <a:xfrm>
            <a:off x="6074923" y="2238455"/>
            <a:ext cx="0" cy="5178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7" name="Conector recto de flecha 126">
            <a:extLst>
              <a:ext uri="{FF2B5EF4-FFF2-40B4-BE49-F238E27FC236}">
                <a16:creationId xmlns:a16="http://schemas.microsoft.com/office/drawing/2014/main" id="{A72A483A-8068-5D7C-8CF7-B4E3C85C4BE8}"/>
              </a:ext>
            </a:extLst>
          </p:cNvPr>
          <p:cNvCxnSpPr>
            <a:cxnSpLocks/>
            <a:stCxn id="109" idx="2"/>
            <a:endCxn id="110" idx="0"/>
          </p:cNvCxnSpPr>
          <p:nvPr/>
        </p:nvCxnSpPr>
        <p:spPr>
          <a:xfrm>
            <a:off x="6074923" y="3017872"/>
            <a:ext cx="0" cy="8143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0" name="Conector recto de flecha 129">
            <a:extLst>
              <a:ext uri="{FF2B5EF4-FFF2-40B4-BE49-F238E27FC236}">
                <a16:creationId xmlns:a16="http://schemas.microsoft.com/office/drawing/2014/main" id="{B3764375-C753-F440-9DF9-7B0372239A4F}"/>
              </a:ext>
            </a:extLst>
          </p:cNvPr>
          <p:cNvCxnSpPr>
            <a:cxnSpLocks/>
            <a:stCxn id="110" idx="2"/>
            <a:endCxn id="111" idx="0"/>
          </p:cNvCxnSpPr>
          <p:nvPr/>
        </p:nvCxnSpPr>
        <p:spPr>
          <a:xfrm flipH="1">
            <a:off x="6074920" y="4093854"/>
            <a:ext cx="3" cy="5178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3" name="Conector recto de flecha 132">
            <a:extLst>
              <a:ext uri="{FF2B5EF4-FFF2-40B4-BE49-F238E27FC236}">
                <a16:creationId xmlns:a16="http://schemas.microsoft.com/office/drawing/2014/main" id="{AE595785-E881-113C-10C0-1E64973473FC}"/>
              </a:ext>
            </a:extLst>
          </p:cNvPr>
          <p:cNvCxnSpPr>
            <a:cxnSpLocks/>
            <a:stCxn id="111" idx="2"/>
            <a:endCxn id="112" idx="0"/>
          </p:cNvCxnSpPr>
          <p:nvPr/>
        </p:nvCxnSpPr>
        <p:spPr>
          <a:xfrm>
            <a:off x="6074920" y="4871500"/>
            <a:ext cx="2" cy="4887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6" name="Conector recto de flecha 135">
            <a:extLst>
              <a:ext uri="{FF2B5EF4-FFF2-40B4-BE49-F238E27FC236}">
                <a16:creationId xmlns:a16="http://schemas.microsoft.com/office/drawing/2014/main" id="{0F66AD0A-BA7C-158B-9350-8B9AD46903B3}"/>
              </a:ext>
            </a:extLst>
          </p:cNvPr>
          <p:cNvCxnSpPr>
            <a:cxnSpLocks/>
            <a:stCxn id="112" idx="2"/>
            <a:endCxn id="113" idx="0"/>
          </p:cNvCxnSpPr>
          <p:nvPr/>
        </p:nvCxnSpPr>
        <p:spPr>
          <a:xfrm flipH="1">
            <a:off x="6068742" y="5621814"/>
            <a:ext cx="6180" cy="5226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9" name="Conector recto de flecha 138">
            <a:extLst>
              <a:ext uri="{FF2B5EF4-FFF2-40B4-BE49-F238E27FC236}">
                <a16:creationId xmlns:a16="http://schemas.microsoft.com/office/drawing/2014/main" id="{1FED27EA-ACE3-C161-54F5-42BC7BB1A082}"/>
              </a:ext>
            </a:extLst>
          </p:cNvPr>
          <p:cNvCxnSpPr>
            <a:cxnSpLocks/>
            <a:stCxn id="113" idx="2"/>
            <a:endCxn id="114" idx="0"/>
          </p:cNvCxnSpPr>
          <p:nvPr/>
        </p:nvCxnSpPr>
        <p:spPr>
          <a:xfrm>
            <a:off x="6068742" y="6406116"/>
            <a:ext cx="6179" cy="5184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3" name="Conector recto de flecha 142">
            <a:extLst>
              <a:ext uri="{FF2B5EF4-FFF2-40B4-BE49-F238E27FC236}">
                <a16:creationId xmlns:a16="http://schemas.microsoft.com/office/drawing/2014/main" id="{33C48258-42C9-3E5D-F754-6C9AEEC4E1BF}"/>
              </a:ext>
            </a:extLst>
          </p:cNvPr>
          <p:cNvCxnSpPr>
            <a:cxnSpLocks/>
            <a:stCxn id="114" idx="2"/>
            <a:endCxn id="115" idx="0"/>
          </p:cNvCxnSpPr>
          <p:nvPr/>
        </p:nvCxnSpPr>
        <p:spPr>
          <a:xfrm>
            <a:off x="6074921" y="7186204"/>
            <a:ext cx="3253" cy="5226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6" name="Conector recto de flecha 145">
            <a:extLst>
              <a:ext uri="{FF2B5EF4-FFF2-40B4-BE49-F238E27FC236}">
                <a16:creationId xmlns:a16="http://schemas.microsoft.com/office/drawing/2014/main" id="{6C533A7E-D39E-63C4-D525-A2AE2A624537}"/>
              </a:ext>
            </a:extLst>
          </p:cNvPr>
          <p:cNvCxnSpPr>
            <a:cxnSpLocks/>
            <a:stCxn id="115" idx="2"/>
            <a:endCxn id="116" idx="0"/>
          </p:cNvCxnSpPr>
          <p:nvPr/>
        </p:nvCxnSpPr>
        <p:spPr>
          <a:xfrm flipH="1">
            <a:off x="6074920" y="7970506"/>
            <a:ext cx="3254" cy="5178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0" name="Conector recto de flecha 149">
            <a:extLst>
              <a:ext uri="{FF2B5EF4-FFF2-40B4-BE49-F238E27FC236}">
                <a16:creationId xmlns:a16="http://schemas.microsoft.com/office/drawing/2014/main" id="{7B7F27BD-B520-D697-F31F-703CFA3AD72B}"/>
              </a:ext>
            </a:extLst>
          </p:cNvPr>
          <p:cNvCxnSpPr>
            <a:cxnSpLocks/>
            <a:stCxn id="116" idx="2"/>
            <a:endCxn id="117" idx="0"/>
          </p:cNvCxnSpPr>
          <p:nvPr/>
        </p:nvCxnSpPr>
        <p:spPr>
          <a:xfrm>
            <a:off x="6074920" y="8749923"/>
            <a:ext cx="0" cy="4869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3" name="CuadroTexto 152">
            <a:extLst>
              <a:ext uri="{FF2B5EF4-FFF2-40B4-BE49-F238E27FC236}">
                <a16:creationId xmlns:a16="http://schemas.microsoft.com/office/drawing/2014/main" id="{62C6ADB6-5855-7893-BF2C-7D1FB1995AEE}"/>
              </a:ext>
            </a:extLst>
          </p:cNvPr>
          <p:cNvSpPr txBox="1"/>
          <p:nvPr/>
        </p:nvSpPr>
        <p:spPr>
          <a:xfrm>
            <a:off x="6214453" y="670691"/>
            <a:ext cx="59926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Gln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4" name="CuadroTexto 153">
            <a:extLst>
              <a:ext uri="{FF2B5EF4-FFF2-40B4-BE49-F238E27FC236}">
                <a16:creationId xmlns:a16="http://schemas.microsoft.com/office/drawing/2014/main" id="{88F49266-0B0F-07F9-CE16-08082CA13BFF}"/>
              </a:ext>
            </a:extLst>
          </p:cNvPr>
          <p:cNvSpPr txBox="1"/>
          <p:nvPr/>
        </p:nvSpPr>
        <p:spPr>
          <a:xfrm>
            <a:off x="6207783" y="892358"/>
            <a:ext cx="59926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Glu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55" name="Conector: curvado 154">
            <a:extLst>
              <a:ext uri="{FF2B5EF4-FFF2-40B4-BE49-F238E27FC236}">
                <a16:creationId xmlns:a16="http://schemas.microsoft.com/office/drawing/2014/main" id="{6DBC1DE5-4C30-39D8-47D0-C0895F285DE0}"/>
              </a:ext>
            </a:extLst>
          </p:cNvPr>
          <p:cNvCxnSpPr>
            <a:cxnSpLocks/>
            <a:stCxn id="153" idx="1"/>
            <a:endCxn id="154" idx="1"/>
          </p:cNvCxnSpPr>
          <p:nvPr/>
        </p:nvCxnSpPr>
        <p:spPr>
          <a:xfrm rot="10800000" flipV="1">
            <a:off x="6207783" y="801495"/>
            <a:ext cx="6670" cy="221667"/>
          </a:xfrm>
          <a:prstGeom prst="curvedConnector3">
            <a:avLst>
              <a:gd name="adj1" fmla="val 1831319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8" name="CuadroTexto 157">
            <a:extLst>
              <a:ext uri="{FF2B5EF4-FFF2-40B4-BE49-F238E27FC236}">
                <a16:creationId xmlns:a16="http://schemas.microsoft.com/office/drawing/2014/main" id="{9493C1D2-2930-CDFC-D288-728565C9159F}"/>
              </a:ext>
            </a:extLst>
          </p:cNvPr>
          <p:cNvSpPr txBox="1"/>
          <p:nvPr/>
        </p:nvSpPr>
        <p:spPr>
          <a:xfrm>
            <a:off x="6195426" y="1497707"/>
            <a:ext cx="556044" cy="26161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ATP</a:t>
            </a:r>
          </a:p>
        </p:txBody>
      </p:sp>
      <p:sp>
        <p:nvSpPr>
          <p:cNvPr id="159" name="CuadroTexto 158">
            <a:extLst>
              <a:ext uri="{FF2B5EF4-FFF2-40B4-BE49-F238E27FC236}">
                <a16:creationId xmlns:a16="http://schemas.microsoft.com/office/drawing/2014/main" id="{00A16B81-357C-1B4C-1807-B266939483A3}"/>
              </a:ext>
            </a:extLst>
          </p:cNvPr>
          <p:cNvSpPr txBox="1"/>
          <p:nvPr/>
        </p:nvSpPr>
        <p:spPr>
          <a:xfrm>
            <a:off x="6195426" y="1753903"/>
            <a:ext cx="59926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ADP</a:t>
            </a:r>
          </a:p>
        </p:txBody>
      </p:sp>
      <p:cxnSp>
        <p:nvCxnSpPr>
          <p:cNvPr id="160" name="Conector: curvado 159">
            <a:extLst>
              <a:ext uri="{FF2B5EF4-FFF2-40B4-BE49-F238E27FC236}">
                <a16:creationId xmlns:a16="http://schemas.microsoft.com/office/drawing/2014/main" id="{991A99B2-F916-2792-555B-B5B551895200}"/>
              </a:ext>
            </a:extLst>
          </p:cNvPr>
          <p:cNvCxnSpPr>
            <a:cxnSpLocks/>
            <a:stCxn id="158" idx="1"/>
            <a:endCxn id="159" idx="1"/>
          </p:cNvCxnSpPr>
          <p:nvPr/>
        </p:nvCxnSpPr>
        <p:spPr>
          <a:xfrm rot="10800000" flipV="1">
            <a:off x="6195426" y="1628512"/>
            <a:ext cx="12700" cy="256196"/>
          </a:xfrm>
          <a:prstGeom prst="curvedConnector3">
            <a:avLst>
              <a:gd name="adj1" fmla="val 983504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1" name="CuadroTexto 160">
            <a:extLst>
              <a:ext uri="{FF2B5EF4-FFF2-40B4-BE49-F238E27FC236}">
                <a16:creationId xmlns:a16="http://schemas.microsoft.com/office/drawing/2014/main" id="{1C131844-A00E-1AE6-08B1-7DFE49C666C9}"/>
              </a:ext>
            </a:extLst>
          </p:cNvPr>
          <p:cNvSpPr txBox="1"/>
          <p:nvPr/>
        </p:nvSpPr>
        <p:spPr>
          <a:xfrm>
            <a:off x="6696270" y="1492293"/>
            <a:ext cx="59926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Gly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2" name="CuadroTexto 161">
            <a:extLst>
              <a:ext uri="{FF2B5EF4-FFF2-40B4-BE49-F238E27FC236}">
                <a16:creationId xmlns:a16="http://schemas.microsoft.com/office/drawing/2014/main" id="{5B26E1D6-E71C-F7AB-E9F2-230C6BCA74E6}"/>
              </a:ext>
            </a:extLst>
          </p:cNvPr>
          <p:cNvSpPr txBox="1"/>
          <p:nvPr/>
        </p:nvSpPr>
        <p:spPr>
          <a:xfrm>
            <a:off x="6195222" y="2204207"/>
            <a:ext cx="156538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s-ES" sz="1100" baseline="30000" dirty="0"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-formil-H</a:t>
            </a:r>
            <a:r>
              <a:rPr lang="es-ES" sz="1100" baseline="-250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 folato</a:t>
            </a:r>
          </a:p>
        </p:txBody>
      </p:sp>
      <p:sp>
        <p:nvSpPr>
          <p:cNvPr id="163" name="CuadroTexto 162">
            <a:extLst>
              <a:ext uri="{FF2B5EF4-FFF2-40B4-BE49-F238E27FC236}">
                <a16:creationId xmlns:a16="http://schemas.microsoft.com/office/drawing/2014/main" id="{0E23152E-E10C-5B23-9D74-5EF1B5A93720}"/>
              </a:ext>
            </a:extLst>
          </p:cNvPr>
          <p:cNvSpPr txBox="1"/>
          <p:nvPr/>
        </p:nvSpPr>
        <p:spPr>
          <a:xfrm>
            <a:off x="6195426" y="2440979"/>
            <a:ext cx="156538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s-ES" sz="1100" baseline="-250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 folato</a:t>
            </a:r>
          </a:p>
        </p:txBody>
      </p:sp>
      <p:sp>
        <p:nvSpPr>
          <p:cNvPr id="169" name="CuadroTexto 168">
            <a:extLst>
              <a:ext uri="{FF2B5EF4-FFF2-40B4-BE49-F238E27FC236}">
                <a16:creationId xmlns:a16="http://schemas.microsoft.com/office/drawing/2014/main" id="{3DCBD953-104F-30B3-5ADD-C46F537EFCD7}"/>
              </a:ext>
            </a:extLst>
          </p:cNvPr>
          <p:cNvSpPr txBox="1"/>
          <p:nvPr/>
        </p:nvSpPr>
        <p:spPr>
          <a:xfrm>
            <a:off x="6277568" y="3363683"/>
            <a:ext cx="556044" cy="26161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ATP</a:t>
            </a:r>
          </a:p>
        </p:txBody>
      </p:sp>
      <p:cxnSp>
        <p:nvCxnSpPr>
          <p:cNvPr id="170" name="Conector: curvado 169">
            <a:extLst>
              <a:ext uri="{FF2B5EF4-FFF2-40B4-BE49-F238E27FC236}">
                <a16:creationId xmlns:a16="http://schemas.microsoft.com/office/drawing/2014/main" id="{2B24008F-17CF-04E1-C8BA-03BF59301270}"/>
              </a:ext>
            </a:extLst>
          </p:cNvPr>
          <p:cNvCxnSpPr>
            <a:cxnSpLocks/>
            <a:stCxn id="169" idx="1"/>
            <a:endCxn id="176" idx="1"/>
          </p:cNvCxnSpPr>
          <p:nvPr/>
        </p:nvCxnSpPr>
        <p:spPr>
          <a:xfrm rot="10800000" flipV="1">
            <a:off x="6274186" y="3494487"/>
            <a:ext cx="3383" cy="264707"/>
          </a:xfrm>
          <a:prstGeom prst="curvedConnector3">
            <a:avLst>
              <a:gd name="adj1" fmla="val 5871889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1" name="CuadroTexto 170">
            <a:extLst>
              <a:ext uri="{FF2B5EF4-FFF2-40B4-BE49-F238E27FC236}">
                <a16:creationId xmlns:a16="http://schemas.microsoft.com/office/drawing/2014/main" id="{DCE6321E-5C37-74C3-BBA2-C0686B8C8ECB}"/>
              </a:ext>
            </a:extLst>
          </p:cNvPr>
          <p:cNvSpPr txBox="1"/>
          <p:nvPr/>
        </p:nvSpPr>
        <p:spPr>
          <a:xfrm>
            <a:off x="6287908" y="2895851"/>
            <a:ext cx="59926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Gln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2" name="CuadroTexto 171">
            <a:extLst>
              <a:ext uri="{FF2B5EF4-FFF2-40B4-BE49-F238E27FC236}">
                <a16:creationId xmlns:a16="http://schemas.microsoft.com/office/drawing/2014/main" id="{2B63FDA6-99B5-AB3D-09DD-72634BFC67A8}"/>
              </a:ext>
            </a:extLst>
          </p:cNvPr>
          <p:cNvSpPr txBox="1"/>
          <p:nvPr/>
        </p:nvSpPr>
        <p:spPr>
          <a:xfrm>
            <a:off x="6281238" y="3117518"/>
            <a:ext cx="59926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Glu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73" name="Conector: curvado 172">
            <a:extLst>
              <a:ext uri="{FF2B5EF4-FFF2-40B4-BE49-F238E27FC236}">
                <a16:creationId xmlns:a16="http://schemas.microsoft.com/office/drawing/2014/main" id="{B71060B1-6DA3-2570-4CE7-923CFB742830}"/>
              </a:ext>
            </a:extLst>
          </p:cNvPr>
          <p:cNvCxnSpPr>
            <a:cxnSpLocks/>
            <a:stCxn id="171" idx="1"/>
            <a:endCxn id="172" idx="1"/>
          </p:cNvCxnSpPr>
          <p:nvPr/>
        </p:nvCxnSpPr>
        <p:spPr>
          <a:xfrm rot="10800000" flipV="1">
            <a:off x="6281238" y="3026655"/>
            <a:ext cx="6670" cy="221667"/>
          </a:xfrm>
          <a:prstGeom prst="curvedConnector3">
            <a:avLst>
              <a:gd name="adj1" fmla="val 3187961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6" name="CuadroTexto 175">
            <a:extLst>
              <a:ext uri="{FF2B5EF4-FFF2-40B4-BE49-F238E27FC236}">
                <a16:creationId xmlns:a16="http://schemas.microsoft.com/office/drawing/2014/main" id="{617208FF-249D-E836-DB83-84AF3B4C17BE}"/>
              </a:ext>
            </a:extLst>
          </p:cNvPr>
          <p:cNvSpPr txBox="1"/>
          <p:nvPr/>
        </p:nvSpPr>
        <p:spPr>
          <a:xfrm>
            <a:off x="6274185" y="3628390"/>
            <a:ext cx="59926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ADP</a:t>
            </a:r>
          </a:p>
        </p:txBody>
      </p:sp>
      <p:cxnSp>
        <p:nvCxnSpPr>
          <p:cNvPr id="181" name="Conector: curvado 180">
            <a:extLst>
              <a:ext uri="{FF2B5EF4-FFF2-40B4-BE49-F238E27FC236}">
                <a16:creationId xmlns:a16="http://schemas.microsoft.com/office/drawing/2014/main" id="{6DD71B6A-10CF-1ADB-929E-4279A938C088}"/>
              </a:ext>
            </a:extLst>
          </p:cNvPr>
          <p:cNvCxnSpPr>
            <a:cxnSpLocks/>
            <a:stCxn id="162" idx="1"/>
            <a:endCxn id="163" idx="1"/>
          </p:cNvCxnSpPr>
          <p:nvPr/>
        </p:nvCxnSpPr>
        <p:spPr>
          <a:xfrm rot="10800000" flipH="1" flipV="1">
            <a:off x="6195222" y="2335012"/>
            <a:ext cx="204" cy="236772"/>
          </a:xfrm>
          <a:prstGeom prst="curvedConnector3">
            <a:avLst>
              <a:gd name="adj1" fmla="val -58364216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5" name="CuadroTexto 184">
            <a:extLst>
              <a:ext uri="{FF2B5EF4-FFF2-40B4-BE49-F238E27FC236}">
                <a16:creationId xmlns:a16="http://schemas.microsoft.com/office/drawing/2014/main" id="{02EB5D08-0A74-F251-DF8D-E3140DE378F5}"/>
              </a:ext>
            </a:extLst>
          </p:cNvPr>
          <p:cNvSpPr txBox="1"/>
          <p:nvPr/>
        </p:nvSpPr>
        <p:spPr>
          <a:xfrm>
            <a:off x="6195505" y="4096474"/>
            <a:ext cx="556044" cy="26161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ATP</a:t>
            </a:r>
          </a:p>
        </p:txBody>
      </p:sp>
      <p:sp>
        <p:nvSpPr>
          <p:cNvPr id="186" name="CuadroTexto 185">
            <a:extLst>
              <a:ext uri="{FF2B5EF4-FFF2-40B4-BE49-F238E27FC236}">
                <a16:creationId xmlns:a16="http://schemas.microsoft.com/office/drawing/2014/main" id="{772699FE-068C-819F-8217-90D8185C9634}"/>
              </a:ext>
            </a:extLst>
          </p:cNvPr>
          <p:cNvSpPr txBox="1"/>
          <p:nvPr/>
        </p:nvSpPr>
        <p:spPr>
          <a:xfrm>
            <a:off x="6195505" y="4352670"/>
            <a:ext cx="9106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ADP + H</a:t>
            </a:r>
            <a:r>
              <a:rPr lang="es-ES" sz="11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</a:p>
        </p:txBody>
      </p:sp>
      <p:cxnSp>
        <p:nvCxnSpPr>
          <p:cNvPr id="187" name="Conector: curvado 186">
            <a:extLst>
              <a:ext uri="{FF2B5EF4-FFF2-40B4-BE49-F238E27FC236}">
                <a16:creationId xmlns:a16="http://schemas.microsoft.com/office/drawing/2014/main" id="{BDA9E2C1-B737-C069-3D2D-4E15BB66F666}"/>
              </a:ext>
            </a:extLst>
          </p:cNvPr>
          <p:cNvCxnSpPr>
            <a:cxnSpLocks/>
            <a:stCxn id="185" idx="1"/>
            <a:endCxn id="186" idx="1"/>
          </p:cNvCxnSpPr>
          <p:nvPr/>
        </p:nvCxnSpPr>
        <p:spPr>
          <a:xfrm rot="10800000" flipV="1">
            <a:off x="6195505" y="4227279"/>
            <a:ext cx="12700" cy="256196"/>
          </a:xfrm>
          <a:prstGeom prst="curvedConnector3">
            <a:avLst>
              <a:gd name="adj1" fmla="val 977142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0" name="CuadroTexto 189">
            <a:extLst>
              <a:ext uri="{FF2B5EF4-FFF2-40B4-BE49-F238E27FC236}">
                <a16:creationId xmlns:a16="http://schemas.microsoft.com/office/drawing/2014/main" id="{399598E8-71D4-0DDC-8704-75AE28A81B6E}"/>
              </a:ext>
            </a:extLst>
          </p:cNvPr>
          <p:cNvSpPr txBox="1"/>
          <p:nvPr/>
        </p:nvSpPr>
        <p:spPr>
          <a:xfrm>
            <a:off x="6195426" y="4868941"/>
            <a:ext cx="556044" cy="26161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ATP</a:t>
            </a:r>
          </a:p>
        </p:txBody>
      </p:sp>
      <p:sp>
        <p:nvSpPr>
          <p:cNvPr id="191" name="CuadroTexto 190">
            <a:extLst>
              <a:ext uri="{FF2B5EF4-FFF2-40B4-BE49-F238E27FC236}">
                <a16:creationId xmlns:a16="http://schemas.microsoft.com/office/drawing/2014/main" id="{48EAA178-7CC1-8E4A-EAF1-63BF3D322E06}"/>
              </a:ext>
            </a:extLst>
          </p:cNvPr>
          <p:cNvSpPr txBox="1"/>
          <p:nvPr/>
        </p:nvSpPr>
        <p:spPr>
          <a:xfrm>
            <a:off x="6195426" y="5125137"/>
            <a:ext cx="9106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ADP</a:t>
            </a:r>
          </a:p>
        </p:txBody>
      </p:sp>
      <p:cxnSp>
        <p:nvCxnSpPr>
          <p:cNvPr id="192" name="Conector: curvado 191">
            <a:extLst>
              <a:ext uri="{FF2B5EF4-FFF2-40B4-BE49-F238E27FC236}">
                <a16:creationId xmlns:a16="http://schemas.microsoft.com/office/drawing/2014/main" id="{0E25E4EF-2892-2840-7F8F-878A51DF92D3}"/>
              </a:ext>
            </a:extLst>
          </p:cNvPr>
          <p:cNvCxnSpPr>
            <a:cxnSpLocks/>
            <a:stCxn id="190" idx="1"/>
            <a:endCxn id="191" idx="1"/>
          </p:cNvCxnSpPr>
          <p:nvPr/>
        </p:nvCxnSpPr>
        <p:spPr>
          <a:xfrm rot="10800000" flipV="1">
            <a:off x="6195426" y="4999746"/>
            <a:ext cx="12700" cy="256196"/>
          </a:xfrm>
          <a:prstGeom prst="curvedConnector3">
            <a:avLst>
              <a:gd name="adj1" fmla="val 977142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3" name="CuadroTexto 192">
            <a:extLst>
              <a:ext uri="{FF2B5EF4-FFF2-40B4-BE49-F238E27FC236}">
                <a16:creationId xmlns:a16="http://schemas.microsoft.com/office/drawing/2014/main" id="{8FFC8EBE-CF49-6C5B-EDC8-594FCD458C94}"/>
              </a:ext>
            </a:extLst>
          </p:cNvPr>
          <p:cNvSpPr txBox="1"/>
          <p:nvPr/>
        </p:nvSpPr>
        <p:spPr>
          <a:xfrm>
            <a:off x="6648986" y="4873271"/>
            <a:ext cx="9106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+HCO</a:t>
            </a:r>
            <a:r>
              <a:rPr lang="es-ES" sz="1100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s-ES" sz="1100" baseline="30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</p:txBody>
      </p:sp>
      <p:cxnSp>
        <p:nvCxnSpPr>
          <p:cNvPr id="194" name="Conector: curvado 193">
            <a:extLst>
              <a:ext uri="{FF2B5EF4-FFF2-40B4-BE49-F238E27FC236}">
                <a16:creationId xmlns:a16="http://schemas.microsoft.com/office/drawing/2014/main" id="{A2C4BBE0-3E49-91E6-E2B8-BE4897126BE8}"/>
              </a:ext>
            </a:extLst>
          </p:cNvPr>
          <p:cNvCxnSpPr>
            <a:cxnSpLocks/>
            <a:stCxn id="195" idx="1"/>
          </p:cNvCxnSpPr>
          <p:nvPr/>
        </p:nvCxnSpPr>
        <p:spPr>
          <a:xfrm rot="10800000" flipV="1">
            <a:off x="6076548" y="5743125"/>
            <a:ext cx="171021" cy="296626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5" name="CuadroTexto 194">
            <a:extLst>
              <a:ext uri="{FF2B5EF4-FFF2-40B4-BE49-F238E27FC236}">
                <a16:creationId xmlns:a16="http://schemas.microsoft.com/office/drawing/2014/main" id="{4482715F-77FA-9829-BD18-AA4063027CD3}"/>
              </a:ext>
            </a:extLst>
          </p:cNvPr>
          <p:cNvSpPr txBox="1"/>
          <p:nvPr/>
        </p:nvSpPr>
        <p:spPr>
          <a:xfrm>
            <a:off x="6247568" y="5612320"/>
            <a:ext cx="9106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CO</a:t>
            </a:r>
            <a:r>
              <a:rPr lang="es-ES" sz="11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cxnSp>
        <p:nvCxnSpPr>
          <p:cNvPr id="197" name="Conector: curvado 196">
            <a:extLst>
              <a:ext uri="{FF2B5EF4-FFF2-40B4-BE49-F238E27FC236}">
                <a16:creationId xmlns:a16="http://schemas.microsoft.com/office/drawing/2014/main" id="{D2F24FB3-57DC-4A55-1B98-BBD0FFA1633A}"/>
              </a:ext>
            </a:extLst>
          </p:cNvPr>
          <p:cNvCxnSpPr>
            <a:cxnSpLocks/>
            <a:stCxn id="111" idx="1"/>
            <a:endCxn id="113" idx="1"/>
          </p:cNvCxnSpPr>
          <p:nvPr/>
        </p:nvCxnSpPr>
        <p:spPr>
          <a:xfrm rot="10800000" flipV="1">
            <a:off x="5758951" y="4741581"/>
            <a:ext cx="59171" cy="1533730"/>
          </a:xfrm>
          <a:prstGeom prst="curvedConnector3">
            <a:avLst>
              <a:gd name="adj1" fmla="val 486338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3" name="CuadroTexto 212">
            <a:extLst>
              <a:ext uri="{FF2B5EF4-FFF2-40B4-BE49-F238E27FC236}">
                <a16:creationId xmlns:a16="http://schemas.microsoft.com/office/drawing/2014/main" id="{7A42FB86-C7C9-1549-7B5C-D07D39DDBA5F}"/>
              </a:ext>
            </a:extLst>
          </p:cNvPr>
          <p:cNvSpPr txBox="1"/>
          <p:nvPr/>
        </p:nvSpPr>
        <p:spPr>
          <a:xfrm>
            <a:off x="6195426" y="6393387"/>
            <a:ext cx="556044" cy="26161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ATP</a:t>
            </a:r>
          </a:p>
        </p:txBody>
      </p:sp>
      <p:sp>
        <p:nvSpPr>
          <p:cNvPr id="214" name="CuadroTexto 213">
            <a:extLst>
              <a:ext uri="{FF2B5EF4-FFF2-40B4-BE49-F238E27FC236}">
                <a16:creationId xmlns:a16="http://schemas.microsoft.com/office/drawing/2014/main" id="{EF51FEF5-EDE7-CBDA-5F4C-D6D5BC1CEFBF}"/>
              </a:ext>
            </a:extLst>
          </p:cNvPr>
          <p:cNvSpPr txBox="1"/>
          <p:nvPr/>
        </p:nvSpPr>
        <p:spPr>
          <a:xfrm>
            <a:off x="6195426" y="6649583"/>
            <a:ext cx="9106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ADP</a:t>
            </a:r>
          </a:p>
        </p:txBody>
      </p:sp>
      <p:cxnSp>
        <p:nvCxnSpPr>
          <p:cNvPr id="215" name="Conector: curvado 214">
            <a:extLst>
              <a:ext uri="{FF2B5EF4-FFF2-40B4-BE49-F238E27FC236}">
                <a16:creationId xmlns:a16="http://schemas.microsoft.com/office/drawing/2014/main" id="{84258A3C-599E-DB39-ACE5-35280124A419}"/>
              </a:ext>
            </a:extLst>
          </p:cNvPr>
          <p:cNvCxnSpPr>
            <a:cxnSpLocks/>
            <a:stCxn id="213" idx="1"/>
            <a:endCxn id="214" idx="1"/>
          </p:cNvCxnSpPr>
          <p:nvPr/>
        </p:nvCxnSpPr>
        <p:spPr>
          <a:xfrm rot="10800000" flipV="1">
            <a:off x="6195426" y="6524192"/>
            <a:ext cx="12700" cy="256196"/>
          </a:xfrm>
          <a:prstGeom prst="curvedConnector3">
            <a:avLst>
              <a:gd name="adj1" fmla="val 977142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6" name="CuadroTexto 215">
            <a:extLst>
              <a:ext uri="{FF2B5EF4-FFF2-40B4-BE49-F238E27FC236}">
                <a16:creationId xmlns:a16="http://schemas.microsoft.com/office/drawing/2014/main" id="{BD9A87FB-8756-DB38-676D-9F9FD0C70DE7}"/>
              </a:ext>
            </a:extLst>
          </p:cNvPr>
          <p:cNvSpPr txBox="1"/>
          <p:nvPr/>
        </p:nvSpPr>
        <p:spPr>
          <a:xfrm>
            <a:off x="6648986" y="6397717"/>
            <a:ext cx="9106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Asp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2" name="CuadroTexto 221">
            <a:extLst>
              <a:ext uri="{FF2B5EF4-FFF2-40B4-BE49-F238E27FC236}">
                <a16:creationId xmlns:a16="http://schemas.microsoft.com/office/drawing/2014/main" id="{FAFC788E-B998-5E93-5DC1-AB9E0781C0EF}"/>
              </a:ext>
            </a:extLst>
          </p:cNvPr>
          <p:cNvSpPr txBox="1"/>
          <p:nvPr/>
        </p:nvSpPr>
        <p:spPr>
          <a:xfrm>
            <a:off x="6208126" y="7395512"/>
            <a:ext cx="9106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Fumarato</a:t>
            </a:r>
            <a:endParaRPr lang="es-ES" sz="11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23" name="Conector: curvado 222">
            <a:extLst>
              <a:ext uri="{FF2B5EF4-FFF2-40B4-BE49-F238E27FC236}">
                <a16:creationId xmlns:a16="http://schemas.microsoft.com/office/drawing/2014/main" id="{D79EC0DD-9FEE-1ED9-34FB-59057386CDC3}"/>
              </a:ext>
            </a:extLst>
          </p:cNvPr>
          <p:cNvCxnSpPr>
            <a:cxnSpLocks/>
            <a:endCxn id="222" idx="1"/>
          </p:cNvCxnSpPr>
          <p:nvPr/>
        </p:nvCxnSpPr>
        <p:spPr>
          <a:xfrm rot="16200000" flipH="1">
            <a:off x="6035444" y="7353635"/>
            <a:ext cx="213784" cy="131579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6" name="CuadroTexto 225">
            <a:extLst>
              <a:ext uri="{FF2B5EF4-FFF2-40B4-BE49-F238E27FC236}">
                <a16:creationId xmlns:a16="http://schemas.microsoft.com/office/drawing/2014/main" id="{91BA5055-4758-8D93-D867-BD6E9B31D195}"/>
              </a:ext>
            </a:extLst>
          </p:cNvPr>
          <p:cNvSpPr txBox="1"/>
          <p:nvPr/>
        </p:nvSpPr>
        <p:spPr>
          <a:xfrm>
            <a:off x="6193017" y="7947315"/>
            <a:ext cx="156538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s-ES" sz="1100" baseline="30000" dirty="0"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-formil-H</a:t>
            </a:r>
            <a:r>
              <a:rPr lang="es-ES" sz="1100" baseline="-250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 folato</a:t>
            </a:r>
          </a:p>
        </p:txBody>
      </p:sp>
      <p:sp>
        <p:nvSpPr>
          <p:cNvPr id="227" name="CuadroTexto 226">
            <a:extLst>
              <a:ext uri="{FF2B5EF4-FFF2-40B4-BE49-F238E27FC236}">
                <a16:creationId xmlns:a16="http://schemas.microsoft.com/office/drawing/2014/main" id="{AA4F3286-C319-ABBC-A38B-714D0F7EC7C5}"/>
              </a:ext>
            </a:extLst>
          </p:cNvPr>
          <p:cNvSpPr txBox="1"/>
          <p:nvPr/>
        </p:nvSpPr>
        <p:spPr>
          <a:xfrm>
            <a:off x="6193221" y="8184087"/>
            <a:ext cx="156538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s-ES" sz="1100" baseline="-250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 folato</a:t>
            </a:r>
          </a:p>
        </p:txBody>
      </p:sp>
      <p:cxnSp>
        <p:nvCxnSpPr>
          <p:cNvPr id="228" name="Conector: curvado 227">
            <a:extLst>
              <a:ext uri="{FF2B5EF4-FFF2-40B4-BE49-F238E27FC236}">
                <a16:creationId xmlns:a16="http://schemas.microsoft.com/office/drawing/2014/main" id="{A9FE64CF-8C8E-57D4-D8DB-C30A8778556C}"/>
              </a:ext>
            </a:extLst>
          </p:cNvPr>
          <p:cNvCxnSpPr>
            <a:cxnSpLocks/>
            <a:stCxn id="226" idx="1"/>
            <a:endCxn id="227" idx="1"/>
          </p:cNvCxnSpPr>
          <p:nvPr/>
        </p:nvCxnSpPr>
        <p:spPr>
          <a:xfrm rot="10800000" flipH="1" flipV="1">
            <a:off x="6193017" y="8078120"/>
            <a:ext cx="204" cy="236772"/>
          </a:xfrm>
          <a:prstGeom prst="curvedConnector3">
            <a:avLst>
              <a:gd name="adj1" fmla="val -58364216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9" name="CuadroTexto 228">
            <a:extLst>
              <a:ext uri="{FF2B5EF4-FFF2-40B4-BE49-F238E27FC236}">
                <a16:creationId xmlns:a16="http://schemas.microsoft.com/office/drawing/2014/main" id="{D39A9E9D-C4C4-4D66-122F-55A91B211666}"/>
              </a:ext>
            </a:extLst>
          </p:cNvPr>
          <p:cNvSpPr txBox="1"/>
          <p:nvPr/>
        </p:nvSpPr>
        <p:spPr>
          <a:xfrm>
            <a:off x="6204757" y="8962700"/>
            <a:ext cx="9106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s-ES" sz="11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endParaRPr lang="es-ES" sz="11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30" name="Conector: curvado 229">
            <a:extLst>
              <a:ext uri="{FF2B5EF4-FFF2-40B4-BE49-F238E27FC236}">
                <a16:creationId xmlns:a16="http://schemas.microsoft.com/office/drawing/2014/main" id="{27DE2180-28EE-7CDF-1AA6-8331BF7C0CBA}"/>
              </a:ext>
            </a:extLst>
          </p:cNvPr>
          <p:cNvCxnSpPr>
            <a:cxnSpLocks/>
            <a:endCxn id="229" idx="1"/>
          </p:cNvCxnSpPr>
          <p:nvPr/>
        </p:nvCxnSpPr>
        <p:spPr>
          <a:xfrm rot="16200000" flipH="1">
            <a:off x="6032075" y="8920823"/>
            <a:ext cx="213784" cy="131579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1" name="CuadroTexto 230">
            <a:extLst>
              <a:ext uri="{FF2B5EF4-FFF2-40B4-BE49-F238E27FC236}">
                <a16:creationId xmlns:a16="http://schemas.microsoft.com/office/drawing/2014/main" id="{331B51E1-C5B5-F3CD-A091-0CD6D5C75239}"/>
              </a:ext>
            </a:extLst>
          </p:cNvPr>
          <p:cNvSpPr txBox="1"/>
          <p:nvPr/>
        </p:nvSpPr>
        <p:spPr>
          <a:xfrm>
            <a:off x="4499629" y="703283"/>
            <a:ext cx="156538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Glutamina 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amidotransferasa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2" name="CuadroTexto 231">
            <a:extLst>
              <a:ext uri="{FF2B5EF4-FFF2-40B4-BE49-F238E27FC236}">
                <a16:creationId xmlns:a16="http://schemas.microsoft.com/office/drawing/2014/main" id="{BE8FF768-5DCC-1FD1-AE90-C429750C5A25}"/>
              </a:ext>
            </a:extLst>
          </p:cNvPr>
          <p:cNvSpPr txBox="1"/>
          <p:nvPr/>
        </p:nvSpPr>
        <p:spPr>
          <a:xfrm>
            <a:off x="4503358" y="1603764"/>
            <a:ext cx="156538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GAR sintetasa</a:t>
            </a:r>
          </a:p>
        </p:txBody>
      </p:sp>
      <p:sp>
        <p:nvSpPr>
          <p:cNvPr id="233" name="CuadroTexto 232">
            <a:extLst>
              <a:ext uri="{FF2B5EF4-FFF2-40B4-BE49-F238E27FC236}">
                <a16:creationId xmlns:a16="http://schemas.microsoft.com/office/drawing/2014/main" id="{D679A7A5-AA5D-8E65-80A7-7AB7CFF67739}"/>
              </a:ext>
            </a:extLst>
          </p:cNvPr>
          <p:cNvSpPr txBox="1"/>
          <p:nvPr/>
        </p:nvSpPr>
        <p:spPr>
          <a:xfrm>
            <a:off x="4500209" y="2371774"/>
            <a:ext cx="156538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GAR 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transformilasa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4" name="CuadroTexto 233">
            <a:extLst>
              <a:ext uri="{FF2B5EF4-FFF2-40B4-BE49-F238E27FC236}">
                <a16:creationId xmlns:a16="http://schemas.microsoft.com/office/drawing/2014/main" id="{30D58165-D552-BB11-9F14-6754AC0F9603}"/>
              </a:ext>
            </a:extLst>
          </p:cNvPr>
          <p:cNvSpPr txBox="1"/>
          <p:nvPr/>
        </p:nvSpPr>
        <p:spPr>
          <a:xfrm>
            <a:off x="4496258" y="3163969"/>
            <a:ext cx="156538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FGAR 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amidotransferasa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5" name="CuadroTexto 234">
            <a:extLst>
              <a:ext uri="{FF2B5EF4-FFF2-40B4-BE49-F238E27FC236}">
                <a16:creationId xmlns:a16="http://schemas.microsoft.com/office/drawing/2014/main" id="{1C30ADAA-4B27-2D1A-258B-7DB03DAF8A3D}"/>
              </a:ext>
            </a:extLst>
          </p:cNvPr>
          <p:cNvSpPr txBox="1"/>
          <p:nvPr/>
        </p:nvSpPr>
        <p:spPr>
          <a:xfrm>
            <a:off x="4495259" y="4221952"/>
            <a:ext cx="156538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AIR sintetasa</a:t>
            </a:r>
          </a:p>
        </p:txBody>
      </p:sp>
      <p:sp>
        <p:nvSpPr>
          <p:cNvPr id="236" name="CuadroTexto 235">
            <a:extLst>
              <a:ext uri="{FF2B5EF4-FFF2-40B4-BE49-F238E27FC236}">
                <a16:creationId xmlns:a16="http://schemas.microsoft.com/office/drawing/2014/main" id="{24882543-01B7-D855-D008-15AB662B0445}"/>
              </a:ext>
            </a:extLst>
          </p:cNvPr>
          <p:cNvSpPr txBox="1"/>
          <p:nvPr/>
        </p:nvSpPr>
        <p:spPr>
          <a:xfrm>
            <a:off x="4476018" y="4949177"/>
            <a:ext cx="1565383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s-ES" sz="1100" baseline="30000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-CAIR sintetasa</a:t>
            </a:r>
          </a:p>
        </p:txBody>
      </p:sp>
      <p:sp>
        <p:nvSpPr>
          <p:cNvPr id="237" name="CuadroTexto 236">
            <a:extLst>
              <a:ext uri="{FF2B5EF4-FFF2-40B4-BE49-F238E27FC236}">
                <a16:creationId xmlns:a16="http://schemas.microsoft.com/office/drawing/2014/main" id="{E049EBD0-BDBA-E62E-14C4-6335DB090B35}"/>
              </a:ext>
            </a:extLst>
          </p:cNvPr>
          <p:cNvSpPr txBox="1"/>
          <p:nvPr/>
        </p:nvSpPr>
        <p:spPr>
          <a:xfrm>
            <a:off x="3922517" y="5399682"/>
            <a:ext cx="1565383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AIR carboxilasa</a:t>
            </a:r>
          </a:p>
        </p:txBody>
      </p:sp>
      <p:sp>
        <p:nvSpPr>
          <p:cNvPr id="238" name="CuadroTexto 237">
            <a:extLst>
              <a:ext uri="{FF2B5EF4-FFF2-40B4-BE49-F238E27FC236}">
                <a16:creationId xmlns:a16="http://schemas.microsoft.com/office/drawing/2014/main" id="{CF6B0325-CEC8-00EB-770A-2F1DA3AE3F03}"/>
              </a:ext>
            </a:extLst>
          </p:cNvPr>
          <p:cNvSpPr txBox="1"/>
          <p:nvPr/>
        </p:nvSpPr>
        <p:spPr>
          <a:xfrm>
            <a:off x="4476676" y="5752355"/>
            <a:ext cx="1565383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s-ES" sz="1100" baseline="30000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-CAIR 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mutasa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9" name="CuadroTexto 238">
            <a:extLst>
              <a:ext uri="{FF2B5EF4-FFF2-40B4-BE49-F238E27FC236}">
                <a16:creationId xmlns:a16="http://schemas.microsoft.com/office/drawing/2014/main" id="{C3C02880-6318-8CBE-8226-662CA674F464}"/>
              </a:ext>
            </a:extLst>
          </p:cNvPr>
          <p:cNvSpPr txBox="1"/>
          <p:nvPr/>
        </p:nvSpPr>
        <p:spPr>
          <a:xfrm>
            <a:off x="4503358" y="6531508"/>
            <a:ext cx="156538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SACAIR sintetasa</a:t>
            </a:r>
          </a:p>
        </p:txBody>
      </p:sp>
      <p:sp>
        <p:nvSpPr>
          <p:cNvPr id="240" name="CuadroTexto 239">
            <a:extLst>
              <a:ext uri="{FF2B5EF4-FFF2-40B4-BE49-F238E27FC236}">
                <a16:creationId xmlns:a16="http://schemas.microsoft.com/office/drawing/2014/main" id="{E3CBA8B9-166E-9C33-C798-6EAB8691BC43}"/>
              </a:ext>
            </a:extLst>
          </p:cNvPr>
          <p:cNvSpPr txBox="1"/>
          <p:nvPr/>
        </p:nvSpPr>
        <p:spPr>
          <a:xfrm>
            <a:off x="4503358" y="7311596"/>
            <a:ext cx="156538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SACAIR liasa</a:t>
            </a:r>
          </a:p>
        </p:txBody>
      </p:sp>
      <p:sp>
        <p:nvSpPr>
          <p:cNvPr id="241" name="CuadroTexto 240">
            <a:extLst>
              <a:ext uri="{FF2B5EF4-FFF2-40B4-BE49-F238E27FC236}">
                <a16:creationId xmlns:a16="http://schemas.microsoft.com/office/drawing/2014/main" id="{A7F2D834-AD14-1830-0F5F-A977ABDFBB6A}"/>
              </a:ext>
            </a:extLst>
          </p:cNvPr>
          <p:cNvSpPr txBox="1"/>
          <p:nvPr/>
        </p:nvSpPr>
        <p:spPr>
          <a:xfrm>
            <a:off x="4503358" y="8098604"/>
            <a:ext cx="156538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ACAIR 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transformilasa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2" name="CuadroTexto 241">
            <a:extLst>
              <a:ext uri="{FF2B5EF4-FFF2-40B4-BE49-F238E27FC236}">
                <a16:creationId xmlns:a16="http://schemas.microsoft.com/office/drawing/2014/main" id="{FEB74D9D-F53F-21D0-6FA0-E77B1C43A7C6}"/>
              </a:ext>
            </a:extLst>
          </p:cNvPr>
          <p:cNvSpPr txBox="1"/>
          <p:nvPr/>
        </p:nvSpPr>
        <p:spPr>
          <a:xfrm>
            <a:off x="4511164" y="8777286"/>
            <a:ext cx="156538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IMP sintasa</a:t>
            </a:r>
          </a:p>
        </p:txBody>
      </p:sp>
      <p:sp>
        <p:nvSpPr>
          <p:cNvPr id="243" name="CuadroTexto 242">
            <a:extLst>
              <a:ext uri="{FF2B5EF4-FFF2-40B4-BE49-F238E27FC236}">
                <a16:creationId xmlns:a16="http://schemas.microsoft.com/office/drawing/2014/main" id="{83A89471-CD84-80EA-91AC-4F24E01C36F5}"/>
              </a:ext>
            </a:extLst>
          </p:cNvPr>
          <p:cNvSpPr txBox="1"/>
          <p:nvPr/>
        </p:nvSpPr>
        <p:spPr>
          <a:xfrm>
            <a:off x="3253169" y="3040673"/>
            <a:ext cx="89041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Ribosa-5P</a:t>
            </a:r>
          </a:p>
        </p:txBody>
      </p:sp>
      <p:sp>
        <p:nvSpPr>
          <p:cNvPr id="244" name="CuadroTexto 243">
            <a:extLst>
              <a:ext uri="{FF2B5EF4-FFF2-40B4-BE49-F238E27FC236}">
                <a16:creationId xmlns:a16="http://schemas.microsoft.com/office/drawing/2014/main" id="{9B8B4EEF-305D-04C7-49CA-25EC17A57614}"/>
              </a:ext>
            </a:extLst>
          </p:cNvPr>
          <p:cNvSpPr txBox="1"/>
          <p:nvPr/>
        </p:nvSpPr>
        <p:spPr>
          <a:xfrm>
            <a:off x="3104375" y="1848747"/>
            <a:ext cx="118800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5-fosforribosil-1-pirofosfato</a:t>
            </a:r>
            <a:b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(PRPP)</a:t>
            </a:r>
          </a:p>
        </p:txBody>
      </p:sp>
      <p:cxnSp>
        <p:nvCxnSpPr>
          <p:cNvPr id="245" name="Conector recto de flecha 244">
            <a:extLst>
              <a:ext uri="{FF2B5EF4-FFF2-40B4-BE49-F238E27FC236}">
                <a16:creationId xmlns:a16="http://schemas.microsoft.com/office/drawing/2014/main" id="{6DE56DE0-8FE1-BF02-F56D-4DC6CDC8AAEB}"/>
              </a:ext>
            </a:extLst>
          </p:cNvPr>
          <p:cNvCxnSpPr>
            <a:cxnSpLocks/>
            <a:stCxn id="243" idx="0"/>
            <a:endCxn id="244" idx="2"/>
          </p:cNvCxnSpPr>
          <p:nvPr/>
        </p:nvCxnSpPr>
        <p:spPr>
          <a:xfrm flipV="1">
            <a:off x="3698377" y="2448911"/>
            <a:ext cx="0" cy="5917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0" name="CuadroTexto 249">
            <a:extLst>
              <a:ext uri="{FF2B5EF4-FFF2-40B4-BE49-F238E27FC236}">
                <a16:creationId xmlns:a16="http://schemas.microsoft.com/office/drawing/2014/main" id="{531A9018-1A36-765F-34AF-5EA0FB79D275}"/>
              </a:ext>
            </a:extLst>
          </p:cNvPr>
          <p:cNvSpPr txBox="1"/>
          <p:nvPr/>
        </p:nvSpPr>
        <p:spPr>
          <a:xfrm>
            <a:off x="3808780" y="2500066"/>
            <a:ext cx="556044" cy="26161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ATP</a:t>
            </a:r>
          </a:p>
        </p:txBody>
      </p:sp>
      <p:sp>
        <p:nvSpPr>
          <p:cNvPr id="251" name="CuadroTexto 250">
            <a:extLst>
              <a:ext uri="{FF2B5EF4-FFF2-40B4-BE49-F238E27FC236}">
                <a16:creationId xmlns:a16="http://schemas.microsoft.com/office/drawing/2014/main" id="{0C3DE982-84F9-D5CE-0072-BD47C61C9450}"/>
              </a:ext>
            </a:extLst>
          </p:cNvPr>
          <p:cNvSpPr txBox="1"/>
          <p:nvPr/>
        </p:nvSpPr>
        <p:spPr>
          <a:xfrm>
            <a:off x="3808780" y="2756262"/>
            <a:ext cx="59926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ADP</a:t>
            </a:r>
          </a:p>
        </p:txBody>
      </p:sp>
      <p:cxnSp>
        <p:nvCxnSpPr>
          <p:cNvPr id="252" name="Conector: curvado 251">
            <a:extLst>
              <a:ext uri="{FF2B5EF4-FFF2-40B4-BE49-F238E27FC236}">
                <a16:creationId xmlns:a16="http://schemas.microsoft.com/office/drawing/2014/main" id="{B33E4F56-F369-96D4-05AB-0495FC16AB4E}"/>
              </a:ext>
            </a:extLst>
          </p:cNvPr>
          <p:cNvCxnSpPr>
            <a:cxnSpLocks/>
            <a:stCxn id="250" idx="1"/>
            <a:endCxn id="251" idx="1"/>
          </p:cNvCxnSpPr>
          <p:nvPr/>
        </p:nvCxnSpPr>
        <p:spPr>
          <a:xfrm rot="10800000" flipV="1">
            <a:off x="3808780" y="2630871"/>
            <a:ext cx="12700" cy="256196"/>
          </a:xfrm>
          <a:prstGeom prst="curvedConnector3">
            <a:avLst>
              <a:gd name="adj1" fmla="val 983504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3" name="CuadroTexto 252">
            <a:extLst>
              <a:ext uri="{FF2B5EF4-FFF2-40B4-BE49-F238E27FC236}">
                <a16:creationId xmlns:a16="http://schemas.microsoft.com/office/drawing/2014/main" id="{CBBAD025-C92D-887D-203A-17941A095C60}"/>
              </a:ext>
            </a:extLst>
          </p:cNvPr>
          <p:cNvSpPr txBox="1"/>
          <p:nvPr/>
        </p:nvSpPr>
        <p:spPr>
          <a:xfrm>
            <a:off x="2842287" y="2540817"/>
            <a:ext cx="89041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PRPP sintetasa</a:t>
            </a:r>
          </a:p>
        </p:txBody>
      </p:sp>
      <p:cxnSp>
        <p:nvCxnSpPr>
          <p:cNvPr id="255" name="Conector: angular 254">
            <a:extLst>
              <a:ext uri="{FF2B5EF4-FFF2-40B4-BE49-F238E27FC236}">
                <a16:creationId xmlns:a16="http://schemas.microsoft.com/office/drawing/2014/main" id="{4FA3ED96-0E71-240F-F95F-EAD42761EB30}"/>
              </a:ext>
            </a:extLst>
          </p:cNvPr>
          <p:cNvCxnSpPr>
            <a:cxnSpLocks/>
            <a:stCxn id="244" idx="0"/>
            <a:endCxn id="65" idx="3"/>
          </p:cNvCxnSpPr>
          <p:nvPr/>
        </p:nvCxnSpPr>
        <p:spPr>
          <a:xfrm rot="16200000" flipH="1" flipV="1">
            <a:off x="2339212" y="1832128"/>
            <a:ext cx="1342546" cy="1375784"/>
          </a:xfrm>
          <a:prstGeom prst="bentConnector4">
            <a:avLst>
              <a:gd name="adj1" fmla="val -17027"/>
              <a:gd name="adj2" fmla="val 71588"/>
            </a:avLst>
          </a:prstGeom>
          <a:ln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8" name="CuadroTexto 257">
            <a:extLst>
              <a:ext uri="{FF2B5EF4-FFF2-40B4-BE49-F238E27FC236}">
                <a16:creationId xmlns:a16="http://schemas.microsoft.com/office/drawing/2014/main" id="{8D71F7AC-746A-1645-7419-99EE539C7799}"/>
              </a:ext>
            </a:extLst>
          </p:cNvPr>
          <p:cNvSpPr txBox="1"/>
          <p:nvPr/>
        </p:nvSpPr>
        <p:spPr>
          <a:xfrm>
            <a:off x="3429015" y="4306608"/>
            <a:ext cx="53421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UDP</a:t>
            </a:r>
          </a:p>
        </p:txBody>
      </p:sp>
      <p:sp>
        <p:nvSpPr>
          <p:cNvPr id="259" name="CuadroTexto 258">
            <a:extLst>
              <a:ext uri="{FF2B5EF4-FFF2-40B4-BE49-F238E27FC236}">
                <a16:creationId xmlns:a16="http://schemas.microsoft.com/office/drawing/2014/main" id="{58ABB18B-5B11-20E1-441B-B1103FD72200}"/>
              </a:ext>
            </a:extLst>
          </p:cNvPr>
          <p:cNvSpPr txBox="1"/>
          <p:nvPr/>
        </p:nvSpPr>
        <p:spPr>
          <a:xfrm>
            <a:off x="3393483" y="5084296"/>
            <a:ext cx="59926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dUDP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0" name="CuadroTexto 259">
            <a:extLst>
              <a:ext uri="{FF2B5EF4-FFF2-40B4-BE49-F238E27FC236}">
                <a16:creationId xmlns:a16="http://schemas.microsoft.com/office/drawing/2014/main" id="{547668E6-4918-2934-7ED1-8622574DED6C}"/>
              </a:ext>
            </a:extLst>
          </p:cNvPr>
          <p:cNvSpPr txBox="1"/>
          <p:nvPr/>
        </p:nvSpPr>
        <p:spPr>
          <a:xfrm>
            <a:off x="3393123" y="5882896"/>
            <a:ext cx="59926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dUMP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61" name="Conector recto de flecha 260">
            <a:extLst>
              <a:ext uri="{FF2B5EF4-FFF2-40B4-BE49-F238E27FC236}">
                <a16:creationId xmlns:a16="http://schemas.microsoft.com/office/drawing/2014/main" id="{79D1A1D0-916D-2E79-50AB-4B17F4B50113}"/>
              </a:ext>
            </a:extLst>
          </p:cNvPr>
          <p:cNvCxnSpPr>
            <a:cxnSpLocks/>
            <a:stCxn id="11" idx="3"/>
            <a:endCxn id="258" idx="1"/>
          </p:cNvCxnSpPr>
          <p:nvPr/>
        </p:nvCxnSpPr>
        <p:spPr>
          <a:xfrm>
            <a:off x="2194841" y="4437413"/>
            <a:ext cx="123417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1" name="Conector recto de flecha 270">
            <a:extLst>
              <a:ext uri="{FF2B5EF4-FFF2-40B4-BE49-F238E27FC236}">
                <a16:creationId xmlns:a16="http://schemas.microsoft.com/office/drawing/2014/main" id="{D1747E00-0387-C5FF-5689-574E492E2497}"/>
              </a:ext>
            </a:extLst>
          </p:cNvPr>
          <p:cNvCxnSpPr>
            <a:cxnSpLocks/>
            <a:stCxn id="258" idx="2"/>
            <a:endCxn id="259" idx="0"/>
          </p:cNvCxnSpPr>
          <p:nvPr/>
        </p:nvCxnSpPr>
        <p:spPr>
          <a:xfrm flipH="1">
            <a:off x="3693114" y="4568218"/>
            <a:ext cx="3009" cy="5160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5" name="Conector recto de flecha 274">
            <a:extLst>
              <a:ext uri="{FF2B5EF4-FFF2-40B4-BE49-F238E27FC236}">
                <a16:creationId xmlns:a16="http://schemas.microsoft.com/office/drawing/2014/main" id="{660EF55C-70F1-F600-356B-309F5CF9C1C1}"/>
              </a:ext>
            </a:extLst>
          </p:cNvPr>
          <p:cNvCxnSpPr>
            <a:cxnSpLocks/>
            <a:stCxn id="259" idx="2"/>
            <a:endCxn id="260" idx="0"/>
          </p:cNvCxnSpPr>
          <p:nvPr/>
        </p:nvCxnSpPr>
        <p:spPr>
          <a:xfrm flipH="1">
            <a:off x="3692754" y="5345906"/>
            <a:ext cx="360" cy="5369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9" name="CuadroTexto 278">
            <a:extLst>
              <a:ext uri="{FF2B5EF4-FFF2-40B4-BE49-F238E27FC236}">
                <a16:creationId xmlns:a16="http://schemas.microsoft.com/office/drawing/2014/main" id="{7CED9B51-ED91-264A-55A9-FDFF854EFDDF}"/>
              </a:ext>
            </a:extLst>
          </p:cNvPr>
          <p:cNvSpPr txBox="1"/>
          <p:nvPr/>
        </p:nvSpPr>
        <p:spPr>
          <a:xfrm>
            <a:off x="3398746" y="6662984"/>
            <a:ext cx="599261" cy="261610"/>
          </a:xfrm>
          <a:prstGeom prst="rect">
            <a:avLst/>
          </a:prstGeom>
          <a:gradFill flip="none" rotWithShape="1">
            <a:gsLst>
              <a:gs pos="0">
                <a:srgbClr val="00B0F0">
                  <a:tint val="66000"/>
                  <a:satMod val="160000"/>
                </a:srgbClr>
              </a:gs>
              <a:gs pos="50000">
                <a:srgbClr val="00B0F0">
                  <a:tint val="44500"/>
                  <a:satMod val="160000"/>
                </a:srgbClr>
              </a:gs>
              <a:gs pos="100000">
                <a:srgbClr val="00B0F0">
                  <a:tint val="23500"/>
                  <a:satMod val="160000"/>
                </a:srgbClr>
              </a:gs>
            </a:gsLst>
            <a:lin ang="2700000" scaled="1"/>
            <a:tileRect/>
          </a:gradFill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dTMP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0" name="CuadroTexto 279">
            <a:extLst>
              <a:ext uri="{FF2B5EF4-FFF2-40B4-BE49-F238E27FC236}">
                <a16:creationId xmlns:a16="http://schemas.microsoft.com/office/drawing/2014/main" id="{443B4EBF-87AA-77BA-257C-8181A1BA949D}"/>
              </a:ext>
            </a:extLst>
          </p:cNvPr>
          <p:cNvSpPr txBox="1"/>
          <p:nvPr/>
        </p:nvSpPr>
        <p:spPr>
          <a:xfrm>
            <a:off x="2322593" y="4192779"/>
            <a:ext cx="81924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Quinasas</a:t>
            </a:r>
          </a:p>
        </p:txBody>
      </p:sp>
      <p:sp>
        <p:nvSpPr>
          <p:cNvPr id="281" name="CuadroTexto 280">
            <a:extLst>
              <a:ext uri="{FF2B5EF4-FFF2-40B4-BE49-F238E27FC236}">
                <a16:creationId xmlns:a16="http://schemas.microsoft.com/office/drawing/2014/main" id="{1CB0E646-52E6-50EB-4E2D-74ACB9043C82}"/>
              </a:ext>
            </a:extLst>
          </p:cNvPr>
          <p:cNvSpPr txBox="1"/>
          <p:nvPr/>
        </p:nvSpPr>
        <p:spPr>
          <a:xfrm>
            <a:off x="2509843" y="4598015"/>
            <a:ext cx="11829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Ribonucleótido reductasa</a:t>
            </a:r>
          </a:p>
        </p:txBody>
      </p:sp>
      <p:cxnSp>
        <p:nvCxnSpPr>
          <p:cNvPr id="282" name="Conector recto de flecha 281">
            <a:extLst>
              <a:ext uri="{FF2B5EF4-FFF2-40B4-BE49-F238E27FC236}">
                <a16:creationId xmlns:a16="http://schemas.microsoft.com/office/drawing/2014/main" id="{61EBDC42-008E-F880-E7D2-B0E92B151824}"/>
              </a:ext>
            </a:extLst>
          </p:cNvPr>
          <p:cNvCxnSpPr>
            <a:cxnSpLocks/>
            <a:stCxn id="260" idx="2"/>
            <a:endCxn id="279" idx="0"/>
          </p:cNvCxnSpPr>
          <p:nvPr/>
        </p:nvCxnSpPr>
        <p:spPr>
          <a:xfrm>
            <a:off x="3692754" y="6144506"/>
            <a:ext cx="5623" cy="5184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5" name="CuadroTexto 284">
            <a:extLst>
              <a:ext uri="{FF2B5EF4-FFF2-40B4-BE49-F238E27FC236}">
                <a16:creationId xmlns:a16="http://schemas.microsoft.com/office/drawing/2014/main" id="{8F22DCC4-9BA2-372B-F3BA-B23EE7014042}"/>
              </a:ext>
            </a:extLst>
          </p:cNvPr>
          <p:cNvSpPr txBox="1"/>
          <p:nvPr/>
        </p:nvSpPr>
        <p:spPr>
          <a:xfrm>
            <a:off x="2514854" y="6164097"/>
            <a:ext cx="11829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Timidiato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 sintasa</a:t>
            </a:r>
          </a:p>
        </p:txBody>
      </p:sp>
      <p:sp>
        <p:nvSpPr>
          <p:cNvPr id="286" name="CuadroTexto 285">
            <a:extLst>
              <a:ext uri="{FF2B5EF4-FFF2-40B4-BE49-F238E27FC236}">
                <a16:creationId xmlns:a16="http://schemas.microsoft.com/office/drawing/2014/main" id="{1B343313-A6CD-BC49-9A37-FA68CB5ECFEB}"/>
              </a:ext>
            </a:extLst>
          </p:cNvPr>
          <p:cNvSpPr txBox="1"/>
          <p:nvPr/>
        </p:nvSpPr>
        <p:spPr>
          <a:xfrm>
            <a:off x="3107094" y="9236856"/>
            <a:ext cx="125976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Adenilosuccinato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87" name="Conector recto de flecha 286">
            <a:extLst>
              <a:ext uri="{FF2B5EF4-FFF2-40B4-BE49-F238E27FC236}">
                <a16:creationId xmlns:a16="http://schemas.microsoft.com/office/drawing/2014/main" id="{68E27386-BFBA-2830-76CB-7B03A5747BA7}"/>
              </a:ext>
            </a:extLst>
          </p:cNvPr>
          <p:cNvCxnSpPr>
            <a:cxnSpLocks/>
            <a:stCxn id="117" idx="1"/>
            <a:endCxn id="286" idx="3"/>
          </p:cNvCxnSpPr>
          <p:nvPr/>
        </p:nvCxnSpPr>
        <p:spPr>
          <a:xfrm flipH="1">
            <a:off x="4366857" y="9367661"/>
            <a:ext cx="112104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0" name="CuadroTexto 289">
            <a:extLst>
              <a:ext uri="{FF2B5EF4-FFF2-40B4-BE49-F238E27FC236}">
                <a16:creationId xmlns:a16="http://schemas.microsoft.com/office/drawing/2014/main" id="{ADCBA759-77A8-B9D7-6CEC-278C182010C2}"/>
              </a:ext>
            </a:extLst>
          </p:cNvPr>
          <p:cNvSpPr txBox="1"/>
          <p:nvPr/>
        </p:nvSpPr>
        <p:spPr>
          <a:xfrm>
            <a:off x="4638346" y="9021382"/>
            <a:ext cx="540142" cy="26161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GTP</a:t>
            </a:r>
          </a:p>
        </p:txBody>
      </p:sp>
      <p:sp>
        <p:nvSpPr>
          <p:cNvPr id="291" name="CuadroTexto 290">
            <a:extLst>
              <a:ext uri="{FF2B5EF4-FFF2-40B4-BE49-F238E27FC236}">
                <a16:creationId xmlns:a16="http://schemas.microsoft.com/office/drawing/2014/main" id="{8BE8303D-8CB3-1CB5-C223-3CC15BCCFAD6}"/>
              </a:ext>
            </a:extLst>
          </p:cNvPr>
          <p:cNvSpPr txBox="1"/>
          <p:nvPr/>
        </p:nvSpPr>
        <p:spPr>
          <a:xfrm>
            <a:off x="5103843" y="9003239"/>
            <a:ext cx="9106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Asp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92" name="Conector: curvado 291">
            <a:extLst>
              <a:ext uri="{FF2B5EF4-FFF2-40B4-BE49-F238E27FC236}">
                <a16:creationId xmlns:a16="http://schemas.microsoft.com/office/drawing/2014/main" id="{265D53F2-2C51-D6FD-E77A-A6E575614579}"/>
              </a:ext>
            </a:extLst>
          </p:cNvPr>
          <p:cNvCxnSpPr>
            <a:cxnSpLocks/>
            <a:stCxn id="290" idx="2"/>
          </p:cNvCxnSpPr>
          <p:nvPr/>
        </p:nvCxnSpPr>
        <p:spPr>
          <a:xfrm rot="5400000">
            <a:off x="4727220" y="9183757"/>
            <a:ext cx="81962" cy="280433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6" name="CuadroTexto 295">
            <a:extLst>
              <a:ext uri="{FF2B5EF4-FFF2-40B4-BE49-F238E27FC236}">
                <a16:creationId xmlns:a16="http://schemas.microsoft.com/office/drawing/2014/main" id="{00566BB1-C9BD-299E-FAA7-72D211B58A39}"/>
              </a:ext>
            </a:extLst>
          </p:cNvPr>
          <p:cNvSpPr txBox="1"/>
          <p:nvPr/>
        </p:nvSpPr>
        <p:spPr>
          <a:xfrm>
            <a:off x="4156706" y="9356350"/>
            <a:ext cx="156538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Adenilosuccinato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 sintetasa</a:t>
            </a:r>
          </a:p>
        </p:txBody>
      </p:sp>
      <p:sp>
        <p:nvSpPr>
          <p:cNvPr id="297" name="CuadroTexto 296">
            <a:extLst>
              <a:ext uri="{FF2B5EF4-FFF2-40B4-BE49-F238E27FC236}">
                <a16:creationId xmlns:a16="http://schemas.microsoft.com/office/drawing/2014/main" id="{53FBC292-00BD-537B-9AF2-A8E4C492DDFD}"/>
              </a:ext>
            </a:extLst>
          </p:cNvPr>
          <p:cNvSpPr txBox="1"/>
          <p:nvPr/>
        </p:nvSpPr>
        <p:spPr>
          <a:xfrm>
            <a:off x="3471609" y="8483930"/>
            <a:ext cx="528183" cy="26161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6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6">
                  <a:lumMod val="60000"/>
                  <a:lumOff val="40000"/>
                  <a:tint val="23500"/>
                  <a:satMod val="160000"/>
                </a:schemeClr>
              </a:gs>
            </a:gsLst>
            <a:lin ang="2700000" scaled="1"/>
            <a:tileRect/>
          </a:gradFill>
          <a:ln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AMP</a:t>
            </a:r>
          </a:p>
        </p:txBody>
      </p:sp>
      <p:cxnSp>
        <p:nvCxnSpPr>
          <p:cNvPr id="298" name="Conector recto de flecha 297">
            <a:extLst>
              <a:ext uri="{FF2B5EF4-FFF2-40B4-BE49-F238E27FC236}">
                <a16:creationId xmlns:a16="http://schemas.microsoft.com/office/drawing/2014/main" id="{E5FA60DF-B1CB-87ED-747C-7CD1FA239997}"/>
              </a:ext>
            </a:extLst>
          </p:cNvPr>
          <p:cNvCxnSpPr>
            <a:cxnSpLocks/>
            <a:stCxn id="286" idx="0"/>
            <a:endCxn id="297" idx="2"/>
          </p:cNvCxnSpPr>
          <p:nvPr/>
        </p:nvCxnSpPr>
        <p:spPr>
          <a:xfrm flipH="1" flipV="1">
            <a:off x="3735701" y="8745540"/>
            <a:ext cx="1275" cy="4913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2" name="CuadroTexto 301">
            <a:extLst>
              <a:ext uri="{FF2B5EF4-FFF2-40B4-BE49-F238E27FC236}">
                <a16:creationId xmlns:a16="http://schemas.microsoft.com/office/drawing/2014/main" id="{B06ABF32-DD71-D3BC-F789-2B8BF2ED9AA2}"/>
              </a:ext>
            </a:extLst>
          </p:cNvPr>
          <p:cNvSpPr txBox="1"/>
          <p:nvPr/>
        </p:nvSpPr>
        <p:spPr>
          <a:xfrm>
            <a:off x="3884120" y="8768311"/>
            <a:ext cx="9106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Fumarato</a:t>
            </a:r>
            <a:endParaRPr lang="es-ES" sz="11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03" name="Conector: curvado 302">
            <a:extLst>
              <a:ext uri="{FF2B5EF4-FFF2-40B4-BE49-F238E27FC236}">
                <a16:creationId xmlns:a16="http://schemas.microsoft.com/office/drawing/2014/main" id="{A3FF60EE-B1BF-99B4-834E-496CD58DA8EA}"/>
              </a:ext>
            </a:extLst>
          </p:cNvPr>
          <p:cNvCxnSpPr>
            <a:cxnSpLocks/>
            <a:stCxn id="286" idx="0"/>
            <a:endCxn id="302" idx="1"/>
          </p:cNvCxnSpPr>
          <p:nvPr/>
        </p:nvCxnSpPr>
        <p:spPr>
          <a:xfrm rot="5400000" flipH="1" flipV="1">
            <a:off x="3641678" y="8994414"/>
            <a:ext cx="337740" cy="147144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7" name="CuadroTexto 306">
            <a:extLst>
              <a:ext uri="{FF2B5EF4-FFF2-40B4-BE49-F238E27FC236}">
                <a16:creationId xmlns:a16="http://schemas.microsoft.com/office/drawing/2014/main" id="{7A3B5FC6-4452-96B8-D4DC-8720658CE9E6}"/>
              </a:ext>
            </a:extLst>
          </p:cNvPr>
          <p:cNvSpPr txBox="1"/>
          <p:nvPr/>
        </p:nvSpPr>
        <p:spPr>
          <a:xfrm>
            <a:off x="2194841" y="8782813"/>
            <a:ext cx="156538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Adenilosuccinato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 liasa</a:t>
            </a:r>
          </a:p>
        </p:txBody>
      </p:sp>
      <p:sp>
        <p:nvSpPr>
          <p:cNvPr id="308" name="CuadroTexto 307">
            <a:extLst>
              <a:ext uri="{FF2B5EF4-FFF2-40B4-BE49-F238E27FC236}">
                <a16:creationId xmlns:a16="http://schemas.microsoft.com/office/drawing/2014/main" id="{2C981E52-3D9E-FC7B-615B-D4C57A90E728}"/>
              </a:ext>
            </a:extLst>
          </p:cNvPr>
          <p:cNvSpPr txBox="1"/>
          <p:nvPr/>
        </p:nvSpPr>
        <p:spPr>
          <a:xfrm>
            <a:off x="96185" y="9235344"/>
            <a:ext cx="16881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Xantosina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 monofosfato</a:t>
            </a:r>
          </a:p>
        </p:txBody>
      </p:sp>
      <p:cxnSp>
        <p:nvCxnSpPr>
          <p:cNvPr id="310" name="Conector: angular 309">
            <a:extLst>
              <a:ext uri="{FF2B5EF4-FFF2-40B4-BE49-F238E27FC236}">
                <a16:creationId xmlns:a16="http://schemas.microsoft.com/office/drawing/2014/main" id="{E57B2705-9D72-92F6-4AF4-990D433FEB2D}"/>
              </a:ext>
            </a:extLst>
          </p:cNvPr>
          <p:cNvCxnSpPr>
            <a:stCxn id="117" idx="2"/>
            <a:endCxn id="308" idx="2"/>
          </p:cNvCxnSpPr>
          <p:nvPr/>
        </p:nvCxnSpPr>
        <p:spPr>
          <a:xfrm rot="5400000" flipH="1">
            <a:off x="3506824" y="6930370"/>
            <a:ext cx="1512" cy="5134681"/>
          </a:xfrm>
          <a:prstGeom prst="bentConnector3">
            <a:avLst>
              <a:gd name="adj1" fmla="val -21907341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2" name="CuadroTexto 311">
            <a:extLst>
              <a:ext uri="{FF2B5EF4-FFF2-40B4-BE49-F238E27FC236}">
                <a16:creationId xmlns:a16="http://schemas.microsoft.com/office/drawing/2014/main" id="{14EB0F0E-4364-C874-6282-6D9B800E90CB}"/>
              </a:ext>
            </a:extLst>
          </p:cNvPr>
          <p:cNvSpPr txBox="1"/>
          <p:nvPr/>
        </p:nvSpPr>
        <p:spPr>
          <a:xfrm>
            <a:off x="3282214" y="9926869"/>
            <a:ext cx="5620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NAD</a:t>
            </a:r>
            <a:r>
              <a:rPr lang="es-ES" sz="1100" baseline="30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</p:txBody>
      </p:sp>
      <p:cxnSp>
        <p:nvCxnSpPr>
          <p:cNvPr id="313" name="Conector: curvado 312">
            <a:extLst>
              <a:ext uri="{FF2B5EF4-FFF2-40B4-BE49-F238E27FC236}">
                <a16:creationId xmlns:a16="http://schemas.microsoft.com/office/drawing/2014/main" id="{E2B4EBBE-AD8A-A3FB-1A47-414D3C738558}"/>
              </a:ext>
            </a:extLst>
          </p:cNvPr>
          <p:cNvCxnSpPr>
            <a:cxnSpLocks/>
            <a:stCxn id="312" idx="0"/>
          </p:cNvCxnSpPr>
          <p:nvPr/>
        </p:nvCxnSpPr>
        <p:spPr>
          <a:xfrm rot="16200000" flipV="1">
            <a:off x="3344938" y="9708591"/>
            <a:ext cx="101734" cy="334821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9" name="CuadroTexto 318">
            <a:extLst>
              <a:ext uri="{FF2B5EF4-FFF2-40B4-BE49-F238E27FC236}">
                <a16:creationId xmlns:a16="http://schemas.microsoft.com/office/drawing/2014/main" id="{55FB168E-0DEF-DCD7-7D94-3D3E6F385734}"/>
              </a:ext>
            </a:extLst>
          </p:cNvPr>
          <p:cNvSpPr txBox="1"/>
          <p:nvPr/>
        </p:nvSpPr>
        <p:spPr>
          <a:xfrm>
            <a:off x="1431519" y="9822770"/>
            <a:ext cx="156538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IMP deshidrogenasa</a:t>
            </a:r>
          </a:p>
        </p:txBody>
      </p:sp>
      <p:sp>
        <p:nvSpPr>
          <p:cNvPr id="320" name="CuadroTexto 319">
            <a:extLst>
              <a:ext uri="{FF2B5EF4-FFF2-40B4-BE49-F238E27FC236}">
                <a16:creationId xmlns:a16="http://schemas.microsoft.com/office/drawing/2014/main" id="{F60A7D35-7FE0-104E-2D70-177B5DB130F7}"/>
              </a:ext>
            </a:extLst>
          </p:cNvPr>
          <p:cNvSpPr txBox="1"/>
          <p:nvPr/>
        </p:nvSpPr>
        <p:spPr>
          <a:xfrm>
            <a:off x="642096" y="8488313"/>
            <a:ext cx="607644" cy="26161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6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6">
                  <a:lumMod val="60000"/>
                  <a:lumOff val="40000"/>
                  <a:tint val="23500"/>
                  <a:satMod val="160000"/>
                </a:schemeClr>
              </a:gs>
            </a:gsLst>
            <a:lin ang="2700000" scaled="1"/>
            <a:tileRect/>
          </a:gradFill>
          <a:ln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GMP</a:t>
            </a:r>
          </a:p>
        </p:txBody>
      </p:sp>
      <p:cxnSp>
        <p:nvCxnSpPr>
          <p:cNvPr id="321" name="Conector recto de flecha 320">
            <a:extLst>
              <a:ext uri="{FF2B5EF4-FFF2-40B4-BE49-F238E27FC236}">
                <a16:creationId xmlns:a16="http://schemas.microsoft.com/office/drawing/2014/main" id="{9BC5ACEA-72C0-CF4D-3506-931D87117AD6}"/>
              </a:ext>
            </a:extLst>
          </p:cNvPr>
          <p:cNvCxnSpPr>
            <a:cxnSpLocks/>
            <a:stCxn id="308" idx="0"/>
            <a:endCxn id="320" idx="2"/>
          </p:cNvCxnSpPr>
          <p:nvPr/>
        </p:nvCxnSpPr>
        <p:spPr>
          <a:xfrm flipV="1">
            <a:off x="940239" y="8749923"/>
            <a:ext cx="5679" cy="4854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5" name="CuadroTexto 324">
            <a:extLst>
              <a:ext uri="{FF2B5EF4-FFF2-40B4-BE49-F238E27FC236}">
                <a16:creationId xmlns:a16="http://schemas.microsoft.com/office/drawing/2014/main" id="{41EFE58E-23EC-3DF3-A545-6C5454B8E8FD}"/>
              </a:ext>
            </a:extLst>
          </p:cNvPr>
          <p:cNvSpPr txBox="1"/>
          <p:nvPr/>
        </p:nvSpPr>
        <p:spPr>
          <a:xfrm>
            <a:off x="1084416" y="8777401"/>
            <a:ext cx="9106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Glutamato+AMP+PPi</a:t>
            </a:r>
            <a:endParaRPr lang="es-ES" sz="11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27" name="Conector: curvado 326">
            <a:extLst>
              <a:ext uri="{FF2B5EF4-FFF2-40B4-BE49-F238E27FC236}">
                <a16:creationId xmlns:a16="http://schemas.microsoft.com/office/drawing/2014/main" id="{AA12137E-2897-A0A1-24CE-0CAADC7A5F9C}"/>
              </a:ext>
            </a:extLst>
          </p:cNvPr>
          <p:cNvCxnSpPr>
            <a:cxnSpLocks/>
            <a:stCxn id="308" idx="0"/>
            <a:endCxn id="325" idx="1"/>
          </p:cNvCxnSpPr>
          <p:nvPr/>
        </p:nvCxnSpPr>
        <p:spPr>
          <a:xfrm rot="5400000" flipH="1" flipV="1">
            <a:off x="891078" y="9042007"/>
            <a:ext cx="242499" cy="144177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0" name="CuadroTexto 329">
            <a:extLst>
              <a:ext uri="{FF2B5EF4-FFF2-40B4-BE49-F238E27FC236}">
                <a16:creationId xmlns:a16="http://schemas.microsoft.com/office/drawing/2014/main" id="{50A4541D-985A-73CB-83BA-E8EF25A5FD4F}"/>
              </a:ext>
            </a:extLst>
          </p:cNvPr>
          <p:cNvSpPr txBox="1"/>
          <p:nvPr/>
        </p:nvSpPr>
        <p:spPr>
          <a:xfrm>
            <a:off x="159142" y="8776952"/>
            <a:ext cx="78269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GMP sintetasa</a:t>
            </a:r>
          </a:p>
        </p:txBody>
      </p:sp>
      <p:sp>
        <p:nvSpPr>
          <p:cNvPr id="335" name="CuadroTexto 334">
            <a:extLst>
              <a:ext uri="{FF2B5EF4-FFF2-40B4-BE49-F238E27FC236}">
                <a16:creationId xmlns:a16="http://schemas.microsoft.com/office/drawing/2014/main" id="{3BBFEA67-D75A-BD5C-65F0-D1942C48F175}"/>
              </a:ext>
            </a:extLst>
          </p:cNvPr>
          <p:cNvSpPr txBox="1"/>
          <p:nvPr/>
        </p:nvSpPr>
        <p:spPr>
          <a:xfrm>
            <a:off x="1158431" y="7904404"/>
            <a:ext cx="24625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↑ catabolismo = ↑ ácido úrico (Gota)</a:t>
            </a:r>
          </a:p>
        </p:txBody>
      </p:sp>
      <p:sp>
        <p:nvSpPr>
          <p:cNvPr id="336" name="Abrir llave 335">
            <a:extLst>
              <a:ext uri="{FF2B5EF4-FFF2-40B4-BE49-F238E27FC236}">
                <a16:creationId xmlns:a16="http://schemas.microsoft.com/office/drawing/2014/main" id="{D61931A2-094B-251F-8E57-51080142D544}"/>
              </a:ext>
            </a:extLst>
          </p:cNvPr>
          <p:cNvSpPr/>
          <p:nvPr/>
        </p:nvSpPr>
        <p:spPr>
          <a:xfrm rot="5400000">
            <a:off x="2249108" y="6882470"/>
            <a:ext cx="261610" cy="2793342"/>
          </a:xfrm>
          <a:prstGeom prst="leftBrac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37" name="CuadroTexto 336">
            <a:extLst>
              <a:ext uri="{FF2B5EF4-FFF2-40B4-BE49-F238E27FC236}">
                <a16:creationId xmlns:a16="http://schemas.microsoft.com/office/drawing/2014/main" id="{74601408-37A8-827D-BAD8-FF8B398ECF77}"/>
              </a:ext>
            </a:extLst>
          </p:cNvPr>
          <p:cNvSpPr txBox="1"/>
          <p:nvPr/>
        </p:nvSpPr>
        <p:spPr>
          <a:xfrm>
            <a:off x="1425515" y="7258634"/>
            <a:ext cx="24625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↑ catabolismo = ↑ urea</a:t>
            </a:r>
          </a:p>
        </p:txBody>
      </p:sp>
      <p:sp>
        <p:nvSpPr>
          <p:cNvPr id="338" name="Abrir llave 337">
            <a:extLst>
              <a:ext uri="{FF2B5EF4-FFF2-40B4-BE49-F238E27FC236}">
                <a16:creationId xmlns:a16="http://schemas.microsoft.com/office/drawing/2014/main" id="{BB67E48D-69E1-4B12-DC2D-D08B871FC791}"/>
              </a:ext>
            </a:extLst>
          </p:cNvPr>
          <p:cNvSpPr/>
          <p:nvPr/>
        </p:nvSpPr>
        <p:spPr>
          <a:xfrm rot="16200000">
            <a:off x="2532328" y="6068856"/>
            <a:ext cx="261610" cy="2112261"/>
          </a:xfrm>
          <a:prstGeom prst="leftBrac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8380481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  <wetp:taskpane dockstate="right" visibility="0" width="438" row="1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735BD57F-20FB-4D2D-8A30-5DA41967796B}">
  <we:reference id="WA104178141" version="4.3.3.0" store="Omex" storeType="OMEX"/>
  <we:alternateReferences>
    <we:reference id="WA104178141" version="4.3.3.0" store="WA104178141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CD09CEAA-EBBC-4961-9963-C447C4D8BF92}">
  <we:reference id="WA200000113" version="1.0.0.0" store="Omex" storeType="OMEX"/>
  <we:alternateReferences>
    <we:reference id="WA200000113" version="1.0.0.0" store="WA20000011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187</Words>
  <Application>Microsoft Office PowerPoint</Application>
  <PresentationFormat>Personalizado</PresentationFormat>
  <Paragraphs>105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Alfonso Olaya Abril</dc:creator>
  <cp:lastModifiedBy>Alfonso Olaya Abril</cp:lastModifiedBy>
  <cp:revision>37</cp:revision>
  <dcterms:created xsi:type="dcterms:W3CDTF">2025-10-09T08:39:27Z</dcterms:created>
  <dcterms:modified xsi:type="dcterms:W3CDTF">2025-11-02T19:19:28Z</dcterms:modified>
</cp:coreProperties>
</file>